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Glass is a portfolio tracker built for how a delivery office actually works: one place for the projects, the people and the money, with a planning tool that feeds straight into resourcing. Everything you will see is live software, not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here is that these are not reporting problems, they are data problems. When the portfolio, the people and the plans live in different files, no amount of reporting effort makes them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areas, one underlying set of data. Change a booking and the portfolio, the alerts and the financials all move together, because they are all reading the same numbers rather than their own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of the portfolio screen is built to be read at a glance in a governance meeting. Every one of these figures is clickable — the number is a way into the projects behind it, not just a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to one delivery type and the axis names that type's phases, so a position on the chart reads directly as "this one is in validation" rather than as a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that changes conversations. Instead of "can you take this on", it is "you are at 124% in December, so something has to give" — with the projects causing it listed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metric was built for the conversation with the executive team: it turns "we are busy" into "these four roles are short for six months and no one of the same job title can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column here sorts, so the same screen answers "who owes us the most" and "which budgets are nearly gone" without exporting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never guesses. A project shows the dates that were typed on it until someone explicitly says the plan is the truth, which keeps a half-built plan from moving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a project manager takes into a review. The PDF export keeps every tab, so what gets circulated is the whole picture rather than whichever panel was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scheduler is the real thing: a forward and backward pass, float, and the four dependency types with lag. Nest tasks under the phases the delivery type already defines, and the plan feeds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that closes the loop between planning and resourcing. The plan is the single source of the hours, but nothing is destroyed: the hand-typed bookings are set aside, not overwritten, and come back the moment the switch goes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are derived, never typed. Nobody has to remember to raise them, and they cannot go stale, because they are recalculated from the same figures every time the screen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to the exec: today the data lives in the browser on one machine. Sharing it across devices is a known next step, costed and specified — see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is not decoration: every colour has one job, which is why the screens stay readable when twenty-eight projects are on one chart. Teal appears once per screen at most — it is the highlight, not a second brand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the dark theme was not eyeballed. Every rendered piece of text on every screen and tab was measured against the colour it actually sits on, and the two that failed were fixed. The data screen and the tables turn over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slide — the headings and body text are here to be replaced. The one item already specified and costed is shared storage, so the portfolio follows you between machines rather than living in one browser: roughly a day of work, with the options written up in the repository under docs/shared-data-options.md.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tool is in use today on a single machine; the one thing standing between that and team-wide use is shared storage, which is specified and about a day of work — it belongs on the roadmap slide before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049"/>
        </a:solidFill>
      </p:bgPr>
    </p:bg>
    <p:spTree>
      <p:nvGrpSpPr>
        <p:cNvPr id="1" name=""/>
        <p:cNvGrpSpPr/>
        <p:nvPr/>
      </p:nvGrpSpPr>
      <p:grpSpPr>
        <a:xfrm>
          <a:off x="0" y="0"/>
          <a:ext cx="0" cy="0"/>
          <a:chOff x="0" y="0"/>
          <a:chExt cx="0" cy="0"/>
        </a:xfrm>
      </p:grpSpPr>
      <p:pic>
        <p:nvPicPr>
          <p:cNvPr id="2" name="Image 0" descr="../deck/mark-dark.png">    </p:cNvPr>
          <p:cNvPicPr>
            <a:picLocks noChangeAspect="1"/>
          </p:cNvPicPr>
          <p:nvPr/>
        </p:nvPicPr>
        <p:blipFill>
          <a:blip r:embed="rId1">
            <a:alphaModFix amt="55000"/>
          </a:blip>
          <a:stretch>
            <a:fillRect/>
          </a:stretch>
        </p:blipFill>
        <p:spPr>
          <a:xfrm>
            <a:off x="7772400" y="960120"/>
            <a:ext cx="4937760" cy="4937760"/>
          </a:xfrm>
          <a:prstGeom prst="rect">
            <a:avLst/>
          </a:prstGeom>
        </p:spPr>
      </p:pic>
      <p:pic>
        <p:nvPicPr>
          <p:cNvPr id="3" name="Image 1" descr="../deck/mark-dark.png">    </p:cNvPr>
          <p:cNvPicPr>
            <a:picLocks noChangeAspect="1"/>
          </p:cNvPicPr>
          <p:nvPr/>
        </p:nvPicPr>
        <p:blipFill>
          <a:blip r:embed="rId2"/>
          <a:stretch>
            <a:fillRect/>
          </a:stretch>
        </p:blipFill>
        <p:spPr>
          <a:xfrm>
            <a:off x="566928" y="1371600"/>
            <a:ext cx="1371600" cy="1371600"/>
          </a:xfrm>
          <a:prstGeom prst="rect">
            <a:avLst/>
          </a:prstGeom>
        </p:spPr>
      </p:pic>
      <p:sp>
        <p:nvSpPr>
          <p:cNvPr id="4" name="Text 0"/>
          <p:cNvSpPr/>
          <p:nvPr/>
        </p:nvSpPr>
        <p:spPr>
          <a:xfrm>
            <a:off x="566928" y="2880360"/>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Project Glass</a:t>
            </a:r>
            <a:endParaRPr lang="en-US" sz="5400" dirty="0"/>
          </a:p>
        </p:txBody>
      </p:sp>
      <p:sp>
        <p:nvSpPr>
          <p:cNvPr id="5" name="Text 1"/>
          <p:cNvSpPr/>
          <p:nvPr/>
        </p:nvSpPr>
        <p:spPr>
          <a:xfrm>
            <a:off x="566928" y="3767328"/>
            <a:ext cx="7863840" cy="457200"/>
          </a:xfrm>
          <a:prstGeom prst="rect">
            <a:avLst/>
          </a:prstGeom>
          <a:noFill/>
          <a:ln/>
        </p:spPr>
        <p:txBody>
          <a:bodyPr wrap="square" lIns="0" tIns="0" rIns="0" bIns="0" rtlCol="0" anchor="ctr"/>
          <a:lstStyle/>
          <a:p>
            <a:pPr indent="0" marL="0">
              <a:buNone/>
            </a:pPr>
            <a:r>
              <a:rPr lang="en-US" sz="2400" dirty="0">
                <a:solidFill>
                  <a:srgbClr val="12AEBE"/>
                </a:solidFill>
                <a:latin typeface="Calibri" pitchFamily="34" charset="0"/>
                <a:ea typeface="Calibri" pitchFamily="34" charset="-122"/>
                <a:cs typeface="Calibri" pitchFamily="34" charset="-120"/>
              </a:rPr>
              <a:t>The PMO portfolio tracker</a:t>
            </a:r>
            <a:endParaRPr lang="en-US" sz="2400" dirty="0"/>
          </a:p>
        </p:txBody>
      </p:sp>
      <p:sp>
        <p:nvSpPr>
          <p:cNvPr id="6" name="Text 2"/>
          <p:cNvSpPr/>
          <p:nvPr/>
        </p:nvSpPr>
        <p:spPr>
          <a:xfrm>
            <a:off x="566928" y="4370832"/>
            <a:ext cx="7498080" cy="822960"/>
          </a:xfrm>
          <a:prstGeom prst="rect">
            <a:avLst/>
          </a:prstGeom>
          <a:noFill/>
          <a:ln/>
        </p:spPr>
        <p:txBody>
          <a:bodyPr wrap="square" lIns="0" tIns="0" rIns="0" bIns="0" rtlCol="0" anchor="ctr"/>
          <a:lstStyle/>
          <a:p>
            <a:pPr indent="0" marL="0">
              <a:lnSpc>
                <a:spcPts val="2200"/>
              </a:lnSpc>
              <a:buNone/>
            </a:pPr>
            <a:r>
              <a:rPr lang="en-US" sz="1500" dirty="0">
                <a:solidFill>
                  <a:srgbClr val="ACD7FA"/>
                </a:solidFill>
                <a:latin typeface="Calibri" pitchFamily="34" charset="0"/>
                <a:ea typeface="Calibri" pitchFamily="34" charset="-122"/>
                <a:cs typeface="Calibri" pitchFamily="34" charset="-120"/>
              </a:rPr>
              <a:t>Every project, every person and every pound in one place — and a plan that books the people it needs.</a:t>
            </a:r>
            <a:endParaRPr lang="en-US" sz="1500" dirty="0"/>
          </a:p>
        </p:txBody>
      </p:sp>
      <p:sp>
        <p:nvSpPr>
          <p:cNvPr id="7" name="Text 3"/>
          <p:cNvSpPr/>
          <p:nvPr/>
        </p:nvSpPr>
        <p:spPr>
          <a:xfrm>
            <a:off x="566928" y="5943600"/>
            <a:ext cx="8229600" cy="274320"/>
          </a:xfrm>
          <a:prstGeom prst="rect">
            <a:avLst/>
          </a:prstGeom>
          <a:noFill/>
          <a:ln/>
        </p:spPr>
        <p:txBody>
          <a:bodyPr wrap="square" lIns="0" tIns="0" rIns="0" bIns="0" rtlCol="0" anchor="ctr"/>
          <a:lstStyle/>
          <a:p>
            <a:pPr indent="0" marL="0">
              <a:buNone/>
            </a:pPr>
            <a:r>
              <a:rPr lang="en-US" sz="1200" b="1" spc="100" kern="0" dirty="0">
                <a:solidFill>
                  <a:srgbClr val="6E93AF"/>
                </a:solidFill>
                <a:latin typeface="Calibri" pitchFamily="34" charset="0"/>
                <a:ea typeface="Calibri" pitchFamily="34" charset="-122"/>
                <a:cs typeface="Calibri" pitchFamily="34" charset="-120"/>
              </a:rPr>
              <a:t>For project managers, delivery leadership and the executive team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WHY THIS EXISTS</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Three questions nobody can answer quickly</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Text 2"/>
          <p:cNvSpPr/>
          <p:nvPr/>
        </p:nvSpPr>
        <p:spPr>
          <a:xfrm>
            <a:off x="566928" y="1481328"/>
            <a:ext cx="10515600" cy="548640"/>
          </a:xfrm>
          <a:prstGeom prst="rect">
            <a:avLst/>
          </a:prstGeom>
          <a:noFill/>
          <a:ln/>
        </p:spPr>
        <p:txBody>
          <a:bodyPr wrap="square" lIns="0" tIns="0" rIns="0" bIns="0" rtlCol="0" anchor="ctr"/>
          <a:lstStyle/>
          <a:p>
            <a:pPr indent="0" marL="0">
              <a:lnSpc>
                <a:spcPts val="2200"/>
              </a:lnSpc>
              <a:buNone/>
            </a:pPr>
            <a:r>
              <a:rPr lang="en-US" sz="1500" dirty="0">
                <a:solidFill>
                  <a:srgbClr val="53606A"/>
                </a:solidFill>
                <a:latin typeface="Calibri" pitchFamily="34" charset="0"/>
                <a:ea typeface="Calibri" pitchFamily="34" charset="-122"/>
                <a:cs typeface="Calibri" pitchFamily="34" charset="-120"/>
              </a:rPr>
              <a:t>Most delivery offices keep the portfolio in one spreadsheet, the resourcing in another and the plans in a tool nobody else opens. The numbers stop agreeing the moment anything changes.</a:t>
            </a:r>
            <a:endParaRPr lang="en-US" sz="1500" dirty="0"/>
          </a:p>
        </p:txBody>
      </p:sp>
      <p:sp>
        <p:nvSpPr>
          <p:cNvPr id="6" name="Shape 3"/>
          <p:cNvSpPr/>
          <p:nvPr/>
        </p:nvSpPr>
        <p:spPr>
          <a:xfrm>
            <a:off x="566928" y="2395728"/>
            <a:ext cx="3383280" cy="2880360"/>
          </a:xfrm>
          <a:prstGeom prst="roundRect">
            <a:avLst>
              <a:gd name="adj" fmla="val 2540"/>
            </a:avLst>
          </a:prstGeom>
          <a:solidFill>
            <a:srgbClr val="F2F6F9"/>
          </a:solidFill>
          <a:ln w="12700">
            <a:solidFill>
              <a:srgbClr val="DCE7EF"/>
            </a:solidFill>
            <a:prstDash val="solid"/>
          </a:ln>
        </p:spPr>
      </p:sp>
      <p:sp>
        <p:nvSpPr>
          <p:cNvPr id="7" name="Text 4"/>
          <p:cNvSpPr/>
          <p:nvPr/>
        </p:nvSpPr>
        <p:spPr>
          <a:xfrm>
            <a:off x="877824" y="2670048"/>
            <a:ext cx="457200" cy="457200"/>
          </a:xfrm>
          <a:prstGeom prst="rect">
            <a:avLst/>
          </a:prstGeom>
          <a:noFill/>
          <a:ln/>
        </p:spPr>
        <p:txBody>
          <a:bodyPr wrap="square" lIns="0" tIns="0" rIns="0" bIns="0" rtlCol="0" anchor="ctr"/>
          <a:lstStyle/>
          <a:p>
            <a:pPr indent="0" marL="0">
              <a:buNone/>
            </a:pPr>
            <a:r>
              <a:rPr lang="en-US" sz="2600" b="1" dirty="0">
                <a:solidFill>
                  <a:srgbClr val="12AEBE"/>
                </a:solidFill>
                <a:latin typeface="Calibri" pitchFamily="34" charset="0"/>
                <a:ea typeface="Calibri" pitchFamily="34" charset="-122"/>
                <a:cs typeface="Calibri" pitchFamily="34" charset="-120"/>
              </a:rPr>
              <a:t>?</a:t>
            </a:r>
            <a:endParaRPr lang="en-US" sz="2600" dirty="0"/>
          </a:p>
        </p:txBody>
      </p:sp>
      <p:sp>
        <p:nvSpPr>
          <p:cNvPr id="8" name="Text 5"/>
          <p:cNvSpPr/>
          <p:nvPr/>
        </p:nvSpPr>
        <p:spPr>
          <a:xfrm>
            <a:off x="877824" y="3200400"/>
            <a:ext cx="2761488" cy="914400"/>
          </a:xfrm>
          <a:prstGeom prst="rect">
            <a:avLst/>
          </a:prstGeom>
          <a:noFill/>
          <a:ln/>
        </p:spPr>
        <p:txBody>
          <a:bodyPr wrap="square" lIns="0" tIns="0" rIns="0" bIns="0" rtlCol="0" anchor="ctr"/>
          <a:lstStyle/>
          <a:p>
            <a:pPr indent="0" marL="0">
              <a:lnSpc>
                <a:spcPts val="2400"/>
              </a:lnSpc>
              <a:buNone/>
            </a:pPr>
            <a:r>
              <a:rPr lang="en-US" sz="1900" b="1" dirty="0">
                <a:solidFill>
                  <a:srgbClr val="0A4B75"/>
                </a:solidFill>
                <a:latin typeface="Calibri" pitchFamily="34" charset="0"/>
                <a:ea typeface="Calibri" pitchFamily="34" charset="-122"/>
                <a:cs typeface="Calibri" pitchFamily="34" charset="-120"/>
              </a:rPr>
              <a:t>Which projects are</a:t>
            </a:r>
            <a:endParaRPr lang="en-US" sz="1900" dirty="0"/>
          </a:p>
          <a:p>
            <a:pPr indent="0" marL="0">
              <a:lnSpc>
                <a:spcPts val="2400"/>
              </a:lnSpc>
              <a:buNone/>
            </a:pPr>
            <a:r>
              <a:rPr lang="en-US" sz="1900" b="1" dirty="0">
                <a:solidFill>
                  <a:srgbClr val="0A4B75"/>
                </a:solidFill>
                <a:latin typeface="Calibri" pitchFamily="34" charset="0"/>
                <a:ea typeface="Calibri" pitchFamily="34" charset="-122"/>
                <a:cs typeface="Calibri" pitchFamily="34" charset="-120"/>
              </a:rPr>
              <a:t>actually at risk?</a:t>
            </a:r>
            <a:endParaRPr lang="en-US" sz="1900" dirty="0"/>
          </a:p>
        </p:txBody>
      </p:sp>
      <p:sp>
        <p:nvSpPr>
          <p:cNvPr id="9" name="Text 6"/>
          <p:cNvSpPr/>
          <p:nvPr/>
        </p:nvSpPr>
        <p:spPr>
          <a:xfrm>
            <a:off x="877824" y="4169664"/>
            <a:ext cx="2761488" cy="914400"/>
          </a:xfrm>
          <a:prstGeom prst="rect">
            <a:avLst/>
          </a:prstGeom>
          <a:noFill/>
          <a:ln/>
        </p:spPr>
        <p:txBody>
          <a:bodyPr wrap="square" lIns="0" tIns="0" rIns="0" bIns="0" rtlCol="0" anchor="ctr"/>
          <a:lstStyle/>
          <a:p>
            <a:pPr indent="0" marL="0">
              <a:lnSpc>
                <a:spcPts val="1800"/>
              </a:lnSpc>
              <a:buNone/>
            </a:pPr>
            <a:r>
              <a:rPr lang="en-US" sz="1300" dirty="0">
                <a:solidFill>
                  <a:srgbClr val="53606A"/>
                </a:solidFill>
                <a:latin typeface="Calibri" pitchFamily="34" charset="0"/>
                <a:ea typeface="Calibri" pitchFamily="34" charset="-122"/>
                <a:cs typeface="Calibri" pitchFamily="34" charset="-120"/>
              </a:rPr>
              <a:t>Status is a colour someone typed last month, not something the numbers show.</a:t>
            </a:r>
            <a:endParaRPr lang="en-US" sz="1300" dirty="0"/>
          </a:p>
        </p:txBody>
      </p:sp>
      <p:sp>
        <p:nvSpPr>
          <p:cNvPr id="10" name="Shape 7"/>
          <p:cNvSpPr/>
          <p:nvPr/>
        </p:nvSpPr>
        <p:spPr>
          <a:xfrm>
            <a:off x="4279392" y="2395728"/>
            <a:ext cx="3383280" cy="2880360"/>
          </a:xfrm>
          <a:prstGeom prst="roundRect">
            <a:avLst>
              <a:gd name="adj" fmla="val 2540"/>
            </a:avLst>
          </a:prstGeom>
          <a:solidFill>
            <a:srgbClr val="F2F6F9"/>
          </a:solidFill>
          <a:ln w="12700">
            <a:solidFill>
              <a:srgbClr val="DCE7EF"/>
            </a:solidFill>
            <a:prstDash val="solid"/>
          </a:ln>
        </p:spPr>
      </p:sp>
      <p:sp>
        <p:nvSpPr>
          <p:cNvPr id="11" name="Text 8"/>
          <p:cNvSpPr/>
          <p:nvPr/>
        </p:nvSpPr>
        <p:spPr>
          <a:xfrm>
            <a:off x="4590288" y="2670048"/>
            <a:ext cx="457200" cy="457200"/>
          </a:xfrm>
          <a:prstGeom prst="rect">
            <a:avLst/>
          </a:prstGeom>
          <a:noFill/>
          <a:ln/>
        </p:spPr>
        <p:txBody>
          <a:bodyPr wrap="square" lIns="0" tIns="0" rIns="0" bIns="0" rtlCol="0" anchor="ctr"/>
          <a:lstStyle/>
          <a:p>
            <a:pPr indent="0" marL="0">
              <a:buNone/>
            </a:pPr>
            <a:r>
              <a:rPr lang="en-US" sz="2600" b="1" dirty="0">
                <a:solidFill>
                  <a:srgbClr val="12AEBE"/>
                </a:solidFill>
                <a:latin typeface="Calibri" pitchFamily="34" charset="0"/>
                <a:ea typeface="Calibri" pitchFamily="34" charset="-122"/>
                <a:cs typeface="Calibri" pitchFamily="34" charset="-120"/>
              </a:rPr>
              <a:t>?</a:t>
            </a:r>
            <a:endParaRPr lang="en-US" sz="2600" dirty="0"/>
          </a:p>
        </p:txBody>
      </p:sp>
      <p:sp>
        <p:nvSpPr>
          <p:cNvPr id="12" name="Text 9"/>
          <p:cNvSpPr/>
          <p:nvPr/>
        </p:nvSpPr>
        <p:spPr>
          <a:xfrm>
            <a:off x="4590288" y="3200400"/>
            <a:ext cx="2761488" cy="914400"/>
          </a:xfrm>
          <a:prstGeom prst="rect">
            <a:avLst/>
          </a:prstGeom>
          <a:noFill/>
          <a:ln/>
        </p:spPr>
        <p:txBody>
          <a:bodyPr wrap="square" lIns="0" tIns="0" rIns="0" bIns="0" rtlCol="0" anchor="ctr"/>
          <a:lstStyle/>
          <a:p>
            <a:pPr indent="0" marL="0">
              <a:lnSpc>
                <a:spcPts val="2400"/>
              </a:lnSpc>
              <a:buNone/>
            </a:pPr>
            <a:r>
              <a:rPr lang="en-US" sz="1900" b="1" dirty="0">
                <a:solidFill>
                  <a:srgbClr val="0A4B75"/>
                </a:solidFill>
                <a:latin typeface="Calibri" pitchFamily="34" charset="0"/>
                <a:ea typeface="Calibri" pitchFamily="34" charset="-122"/>
                <a:cs typeface="Calibri" pitchFamily="34" charset="-120"/>
              </a:rPr>
              <a:t>Who is overbooked,</a:t>
            </a:r>
            <a:endParaRPr lang="en-US" sz="1900" dirty="0"/>
          </a:p>
          <a:p>
            <a:pPr indent="0" marL="0">
              <a:lnSpc>
                <a:spcPts val="2400"/>
              </a:lnSpc>
              <a:buNone/>
            </a:pPr>
            <a:r>
              <a:rPr lang="en-US" sz="1900" b="1" dirty="0">
                <a:solidFill>
                  <a:srgbClr val="0A4B75"/>
                </a:solidFill>
                <a:latin typeface="Calibri" pitchFamily="34" charset="0"/>
                <a:ea typeface="Calibri" pitchFamily="34" charset="-122"/>
                <a:cs typeface="Calibri" pitchFamily="34" charset="-120"/>
              </a:rPr>
              <a:t>and when?</a:t>
            </a:r>
            <a:endParaRPr lang="en-US" sz="1900" dirty="0"/>
          </a:p>
        </p:txBody>
      </p:sp>
      <p:sp>
        <p:nvSpPr>
          <p:cNvPr id="13" name="Text 10"/>
          <p:cNvSpPr/>
          <p:nvPr/>
        </p:nvSpPr>
        <p:spPr>
          <a:xfrm>
            <a:off x="4590288" y="4169664"/>
            <a:ext cx="2761488" cy="914400"/>
          </a:xfrm>
          <a:prstGeom prst="rect">
            <a:avLst/>
          </a:prstGeom>
          <a:noFill/>
          <a:ln/>
        </p:spPr>
        <p:txBody>
          <a:bodyPr wrap="square" lIns="0" tIns="0" rIns="0" bIns="0" rtlCol="0" anchor="ctr"/>
          <a:lstStyle/>
          <a:p>
            <a:pPr indent="0" marL="0">
              <a:lnSpc>
                <a:spcPts val="1800"/>
              </a:lnSpc>
              <a:buNone/>
            </a:pPr>
            <a:r>
              <a:rPr lang="en-US" sz="1300" dirty="0">
                <a:solidFill>
                  <a:srgbClr val="53606A"/>
                </a:solidFill>
                <a:latin typeface="Calibri" pitchFamily="34" charset="0"/>
                <a:ea typeface="Calibri" pitchFamily="34" charset="-122"/>
                <a:cs typeface="Calibri" pitchFamily="34" charset="-120"/>
              </a:rPr>
              <a:t>Commitments live per project, so nobody sees the person underneath them all.</a:t>
            </a:r>
            <a:endParaRPr lang="en-US" sz="1300" dirty="0"/>
          </a:p>
        </p:txBody>
      </p:sp>
      <p:sp>
        <p:nvSpPr>
          <p:cNvPr id="14" name="Shape 11"/>
          <p:cNvSpPr/>
          <p:nvPr/>
        </p:nvSpPr>
        <p:spPr>
          <a:xfrm>
            <a:off x="7991856" y="2395728"/>
            <a:ext cx="3383280" cy="2880360"/>
          </a:xfrm>
          <a:prstGeom prst="roundRect">
            <a:avLst>
              <a:gd name="adj" fmla="val 2540"/>
            </a:avLst>
          </a:prstGeom>
          <a:solidFill>
            <a:srgbClr val="F2F6F9"/>
          </a:solidFill>
          <a:ln w="12700">
            <a:solidFill>
              <a:srgbClr val="DCE7EF"/>
            </a:solidFill>
            <a:prstDash val="solid"/>
          </a:ln>
        </p:spPr>
      </p:sp>
      <p:sp>
        <p:nvSpPr>
          <p:cNvPr id="15" name="Text 12"/>
          <p:cNvSpPr/>
          <p:nvPr/>
        </p:nvSpPr>
        <p:spPr>
          <a:xfrm>
            <a:off x="8302752" y="2670048"/>
            <a:ext cx="457200" cy="457200"/>
          </a:xfrm>
          <a:prstGeom prst="rect">
            <a:avLst/>
          </a:prstGeom>
          <a:noFill/>
          <a:ln/>
        </p:spPr>
        <p:txBody>
          <a:bodyPr wrap="square" lIns="0" tIns="0" rIns="0" bIns="0" rtlCol="0" anchor="ctr"/>
          <a:lstStyle/>
          <a:p>
            <a:pPr indent="0" marL="0">
              <a:buNone/>
            </a:pPr>
            <a:r>
              <a:rPr lang="en-US" sz="2600" b="1" dirty="0">
                <a:solidFill>
                  <a:srgbClr val="12AEBE"/>
                </a:solidFill>
                <a:latin typeface="Calibri" pitchFamily="34" charset="0"/>
                <a:ea typeface="Calibri" pitchFamily="34" charset="-122"/>
                <a:cs typeface="Calibri" pitchFamily="34" charset="-120"/>
              </a:rPr>
              <a:t>?</a:t>
            </a:r>
            <a:endParaRPr lang="en-US" sz="2600" dirty="0"/>
          </a:p>
        </p:txBody>
      </p:sp>
      <p:sp>
        <p:nvSpPr>
          <p:cNvPr id="16" name="Text 13"/>
          <p:cNvSpPr/>
          <p:nvPr/>
        </p:nvSpPr>
        <p:spPr>
          <a:xfrm>
            <a:off x="8302752" y="3200400"/>
            <a:ext cx="2761488" cy="914400"/>
          </a:xfrm>
          <a:prstGeom prst="rect">
            <a:avLst/>
          </a:prstGeom>
          <a:noFill/>
          <a:ln/>
        </p:spPr>
        <p:txBody>
          <a:bodyPr wrap="square" lIns="0" tIns="0" rIns="0" bIns="0" rtlCol="0" anchor="ctr"/>
          <a:lstStyle/>
          <a:p>
            <a:pPr indent="0" marL="0">
              <a:lnSpc>
                <a:spcPts val="2400"/>
              </a:lnSpc>
              <a:buNone/>
            </a:pPr>
            <a:r>
              <a:rPr lang="en-US" sz="1900" b="1" dirty="0">
                <a:solidFill>
                  <a:srgbClr val="0A4B75"/>
                </a:solidFill>
                <a:latin typeface="Calibri" pitchFamily="34" charset="0"/>
                <a:ea typeface="Calibri" pitchFamily="34" charset="-122"/>
                <a:cs typeface="Calibri" pitchFamily="34" charset="-120"/>
              </a:rPr>
              <a:t>What happens if</a:t>
            </a:r>
            <a:endParaRPr lang="en-US" sz="1900" dirty="0"/>
          </a:p>
          <a:p>
            <a:pPr indent="0" marL="0">
              <a:lnSpc>
                <a:spcPts val="2400"/>
              </a:lnSpc>
              <a:buNone/>
            </a:pPr>
            <a:r>
              <a:rPr lang="en-US" sz="1900" b="1" dirty="0">
                <a:solidFill>
                  <a:srgbClr val="0A4B75"/>
                </a:solidFill>
                <a:latin typeface="Calibri" pitchFamily="34" charset="0"/>
                <a:ea typeface="Calibri" pitchFamily="34" charset="-122"/>
                <a:cs typeface="Calibri" pitchFamily="34" charset="-120"/>
              </a:rPr>
              <a:t>this slips?</a:t>
            </a:r>
            <a:endParaRPr lang="en-US" sz="1900" dirty="0"/>
          </a:p>
        </p:txBody>
      </p:sp>
      <p:sp>
        <p:nvSpPr>
          <p:cNvPr id="17" name="Text 14"/>
          <p:cNvSpPr/>
          <p:nvPr/>
        </p:nvSpPr>
        <p:spPr>
          <a:xfrm>
            <a:off x="8302752" y="4169664"/>
            <a:ext cx="2761488" cy="914400"/>
          </a:xfrm>
          <a:prstGeom prst="rect">
            <a:avLst/>
          </a:prstGeom>
          <a:noFill/>
          <a:ln/>
        </p:spPr>
        <p:txBody>
          <a:bodyPr wrap="square" lIns="0" tIns="0" rIns="0" bIns="0" rtlCol="0" anchor="ctr"/>
          <a:lstStyle/>
          <a:p>
            <a:pPr indent="0" marL="0">
              <a:lnSpc>
                <a:spcPts val="1800"/>
              </a:lnSpc>
              <a:buNone/>
            </a:pPr>
            <a:r>
              <a:rPr lang="en-US" sz="1300" dirty="0">
                <a:solidFill>
                  <a:srgbClr val="53606A"/>
                </a:solidFill>
                <a:latin typeface="Calibri" pitchFamily="34" charset="0"/>
                <a:ea typeface="Calibri" pitchFamily="34" charset="-122"/>
                <a:cs typeface="Calibri" pitchFamily="34" charset="-120"/>
              </a:rPr>
              <a:t>Plans and resourcing are kept apart, so a slipped task moves nothing else.</a:t>
            </a:r>
            <a:endParaRPr lang="en-US" sz="1300" dirty="0"/>
          </a:p>
        </p:txBody>
      </p:sp>
      <p:sp>
        <p:nvSpPr>
          <p:cNvPr id="18" name="Text 15"/>
          <p:cNvSpPr/>
          <p:nvPr/>
        </p:nvSpPr>
        <p:spPr>
          <a:xfrm>
            <a:off x="566928" y="5596128"/>
            <a:ext cx="10515600" cy="365760"/>
          </a:xfrm>
          <a:prstGeom prst="rect">
            <a:avLst/>
          </a:prstGeom>
          <a:noFill/>
          <a:ln/>
        </p:spPr>
        <p:txBody>
          <a:bodyPr wrap="square" lIns="0" tIns="0" rIns="0" bIns="0" rtlCol="0" anchor="ctr"/>
          <a:lstStyle/>
          <a:p>
            <a:pPr indent="0" marL="0">
              <a:buNone/>
            </a:pPr>
            <a:r>
              <a:rPr lang="en-US" sz="1700" b="1" dirty="0">
                <a:solidFill>
                  <a:srgbClr val="0A4B75"/>
                </a:solidFill>
                <a:latin typeface="Calibri" pitchFamily="34" charset="0"/>
                <a:ea typeface="Calibri" pitchFamily="34" charset="-122"/>
                <a:cs typeface="Calibri" pitchFamily="34" charset="-120"/>
              </a:rPr>
              <a:t>Project Glass answers all three from one set of figures.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WHAT IT IS</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One place, one set of numbers</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983480" y="1481328"/>
            <a:ext cx="6702552" cy="4261104"/>
          </a:xfrm>
          <a:prstGeom prst="roundRect">
            <a:avLst>
              <a:gd name="adj" fmla="val 1288"/>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shell.png">    </p:cNvPr>
          <p:cNvPicPr>
            <a:picLocks noChangeAspect="1"/>
          </p:cNvPicPr>
          <p:nvPr/>
        </p:nvPicPr>
        <p:blipFill>
          <a:blip r:embed="rId2"/>
          <a:srcRect l="0" r="0" t="0" b="0"/>
          <a:stretch/>
        </p:blipFill>
        <p:spPr>
          <a:xfrm>
            <a:off x="5074920" y="1572768"/>
            <a:ext cx="6519672" cy="4078224"/>
          </a:xfrm>
          <a:prstGeom prst="rect">
            <a:avLst/>
          </a:prstGeom>
        </p:spPr>
      </p:pic>
      <p:sp>
        <p:nvSpPr>
          <p:cNvPr id="7" name="Shape 3"/>
          <p:cNvSpPr/>
          <p:nvPr/>
        </p:nvSpPr>
        <p:spPr>
          <a:xfrm>
            <a:off x="566928" y="1700784"/>
            <a:ext cx="384048" cy="384048"/>
          </a:xfrm>
          <a:prstGeom prst="ellipse">
            <a:avLst/>
          </a:prstGeom>
          <a:solidFill>
            <a:srgbClr val="12AEBE"/>
          </a:solidFill>
          <a:ln/>
        </p:spPr>
      </p:sp>
      <p:sp>
        <p:nvSpPr>
          <p:cNvPr id="8" name="Text 4"/>
          <p:cNvSpPr/>
          <p:nvPr/>
        </p:nvSpPr>
        <p:spPr>
          <a:xfrm>
            <a:off x="566928"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1152144" y="1664208"/>
            <a:ext cx="352958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Portfolio</a:t>
            </a:r>
            <a:endParaRPr lang="en-US" sz="1600" dirty="0"/>
          </a:p>
        </p:txBody>
      </p:sp>
      <p:sp>
        <p:nvSpPr>
          <p:cNvPr id="10" name="Text 6"/>
          <p:cNvSpPr/>
          <p:nvPr/>
        </p:nvSpPr>
        <p:spPr>
          <a:xfrm>
            <a:off x="1152144" y="1975104"/>
            <a:ext cx="3529584"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Every project side by side, with the four things that matter on top.</a:t>
            </a:r>
            <a:endParaRPr lang="en-US" sz="1350" dirty="0"/>
          </a:p>
        </p:txBody>
      </p:sp>
      <p:sp>
        <p:nvSpPr>
          <p:cNvPr id="11" name="Shape 7"/>
          <p:cNvSpPr/>
          <p:nvPr/>
        </p:nvSpPr>
        <p:spPr>
          <a:xfrm>
            <a:off x="566928" y="2743200"/>
            <a:ext cx="384048" cy="384048"/>
          </a:xfrm>
          <a:prstGeom prst="ellipse">
            <a:avLst/>
          </a:prstGeom>
          <a:solidFill>
            <a:srgbClr val="12AEBE"/>
          </a:solidFill>
          <a:ln/>
        </p:spPr>
      </p:sp>
      <p:sp>
        <p:nvSpPr>
          <p:cNvPr id="12" name="Text 8"/>
          <p:cNvSpPr/>
          <p:nvPr/>
        </p:nvSpPr>
        <p:spPr>
          <a:xfrm>
            <a:off x="566928"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1152144" y="2706624"/>
            <a:ext cx="352958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Resourcing</a:t>
            </a:r>
            <a:endParaRPr lang="en-US" sz="1600" dirty="0"/>
          </a:p>
        </p:txBody>
      </p:sp>
      <p:sp>
        <p:nvSpPr>
          <p:cNvPr id="14" name="Text 10"/>
          <p:cNvSpPr/>
          <p:nvPr/>
        </p:nvSpPr>
        <p:spPr>
          <a:xfrm>
            <a:off x="1152144" y="3017520"/>
            <a:ext cx="3529584"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What each person has already promised, month by month.</a:t>
            </a:r>
            <a:endParaRPr lang="en-US" sz="1350" dirty="0"/>
          </a:p>
        </p:txBody>
      </p:sp>
      <p:sp>
        <p:nvSpPr>
          <p:cNvPr id="15" name="Shape 11"/>
          <p:cNvSpPr/>
          <p:nvPr/>
        </p:nvSpPr>
        <p:spPr>
          <a:xfrm>
            <a:off x="566928" y="3785616"/>
            <a:ext cx="384048" cy="384048"/>
          </a:xfrm>
          <a:prstGeom prst="ellipse">
            <a:avLst/>
          </a:prstGeom>
          <a:solidFill>
            <a:srgbClr val="12AEBE"/>
          </a:solidFill>
          <a:ln/>
        </p:spPr>
      </p:sp>
      <p:sp>
        <p:nvSpPr>
          <p:cNvPr id="16" name="Text 12"/>
          <p:cNvSpPr/>
          <p:nvPr/>
        </p:nvSpPr>
        <p:spPr>
          <a:xfrm>
            <a:off x="566928" y="37856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1152144" y="3749040"/>
            <a:ext cx="352958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Financials</a:t>
            </a:r>
            <a:endParaRPr lang="en-US" sz="1600" dirty="0"/>
          </a:p>
        </p:txBody>
      </p:sp>
      <p:sp>
        <p:nvSpPr>
          <p:cNvPr id="18" name="Text 14"/>
          <p:cNvSpPr/>
          <p:nvPr/>
        </p:nvSpPr>
        <p:spPr>
          <a:xfrm>
            <a:off x="1152144" y="4059936"/>
            <a:ext cx="3529584"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Budget, spend and invoicing, in the currency each client is billed.</a:t>
            </a:r>
            <a:endParaRPr lang="en-US" sz="1350" dirty="0"/>
          </a:p>
        </p:txBody>
      </p:sp>
      <p:sp>
        <p:nvSpPr>
          <p:cNvPr id="19" name="Shape 15"/>
          <p:cNvSpPr/>
          <p:nvPr/>
        </p:nvSpPr>
        <p:spPr>
          <a:xfrm>
            <a:off x="566928" y="4828032"/>
            <a:ext cx="384048" cy="384048"/>
          </a:xfrm>
          <a:prstGeom prst="ellipse">
            <a:avLst/>
          </a:prstGeom>
          <a:solidFill>
            <a:srgbClr val="12AEBE"/>
          </a:solidFill>
          <a:ln/>
        </p:spPr>
      </p:sp>
      <p:sp>
        <p:nvSpPr>
          <p:cNvPr id="20" name="Text 16"/>
          <p:cNvSpPr/>
          <p:nvPr/>
        </p:nvSpPr>
        <p:spPr>
          <a:xfrm>
            <a:off x="566928" y="4828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p:nvPr/>
        </p:nvSpPr>
        <p:spPr>
          <a:xfrm>
            <a:off x="1152144" y="4791456"/>
            <a:ext cx="352958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Timeline &amp; Planning</a:t>
            </a:r>
            <a:endParaRPr lang="en-US" sz="1600" dirty="0"/>
          </a:p>
        </p:txBody>
      </p:sp>
      <p:sp>
        <p:nvSpPr>
          <p:cNvPr id="22" name="Text 18"/>
          <p:cNvSpPr/>
          <p:nvPr/>
        </p:nvSpPr>
        <p:spPr>
          <a:xfrm>
            <a:off x="1152144" y="5102352"/>
            <a:ext cx="3529584"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Where the work sits in time, and the plan that puts it there.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PORTFOLIO</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The portfolio, in the first five seconds</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1234440" y="1444752"/>
            <a:ext cx="9692640" cy="3182112"/>
          </a:xfrm>
          <a:prstGeom prst="roundRect">
            <a:avLst>
              <a:gd name="adj" fmla="val 1724"/>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portfolio-kpi.png">    </p:cNvPr>
          <p:cNvPicPr>
            <a:picLocks noChangeAspect="1"/>
          </p:cNvPicPr>
          <p:nvPr/>
        </p:nvPicPr>
        <p:blipFill>
          <a:blip r:embed="rId2"/>
          <a:srcRect l="0" r="0" t="0" b="0"/>
          <a:stretch/>
        </p:blipFill>
        <p:spPr>
          <a:xfrm>
            <a:off x="1325880" y="1536192"/>
            <a:ext cx="9509760" cy="2999232"/>
          </a:xfrm>
          <a:prstGeom prst="rect">
            <a:avLst/>
          </a:prstGeom>
        </p:spPr>
      </p:pic>
      <p:sp>
        <p:nvSpPr>
          <p:cNvPr id="7" name="Text 3"/>
          <p:cNvSpPr/>
          <p:nvPr/>
        </p:nvSpPr>
        <p:spPr>
          <a:xfrm>
            <a:off x="566928" y="4956048"/>
            <a:ext cx="2651760" cy="841248"/>
          </a:xfrm>
          <a:prstGeom prst="rect">
            <a:avLst/>
          </a:prstGeom>
          <a:noFill/>
          <a:ln/>
        </p:spPr>
        <p:txBody>
          <a:bodyPr wrap="square" lIns="0" tIns="0" rIns="0" bIns="0" rtlCol="0" anchor="ctr"/>
          <a:lstStyle/>
          <a:p>
            <a:pPr indent="0" marL="0">
              <a:buNone/>
            </a:pPr>
            <a:r>
              <a:rPr lang="en-US" sz="3000" b="1" dirty="0">
                <a:solidFill>
                  <a:srgbClr val="0A4B75"/>
                </a:solidFill>
                <a:latin typeface="Calibri" pitchFamily="34" charset="0"/>
                <a:ea typeface="Calibri" pitchFamily="34" charset="-122"/>
                <a:cs typeface="Calibri" pitchFamily="34" charset="-120"/>
              </a:rPr>
              <a:t>28</a:t>
            </a:r>
            <a:endParaRPr lang="en-US" sz="3000" dirty="0"/>
          </a:p>
        </p:txBody>
      </p:sp>
      <p:sp>
        <p:nvSpPr>
          <p:cNvPr id="8" name="Text 4"/>
          <p:cNvSpPr/>
          <p:nvPr/>
        </p:nvSpPr>
        <p:spPr>
          <a:xfrm>
            <a:off x="566928" y="5742432"/>
            <a:ext cx="265176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ACTIVE PROJECTS</a:t>
            </a:r>
            <a:endParaRPr lang="en-US" sz="1100" dirty="0"/>
          </a:p>
        </p:txBody>
      </p:sp>
      <p:sp>
        <p:nvSpPr>
          <p:cNvPr id="9" name="Text 5"/>
          <p:cNvSpPr/>
          <p:nvPr/>
        </p:nvSpPr>
        <p:spPr>
          <a:xfrm>
            <a:off x="566928" y="5998464"/>
            <a:ext cx="2651760" cy="731520"/>
          </a:xfrm>
          <a:prstGeom prst="rect">
            <a:avLst/>
          </a:prstGeom>
          <a:noFill/>
          <a:ln/>
        </p:spPr>
        <p:txBody>
          <a:bodyPr wrap="square" lIns="0" tIns="0" rIns="0" bIns="0" rtlCol="0" anchor="ctr"/>
          <a:lstStyle/>
          <a:p>
            <a:pPr indent="0" marL="0">
              <a:lnSpc>
                <a:spcPts val="1600"/>
              </a:lnSpc>
              <a:buNone/>
            </a:pPr>
            <a:r>
              <a:rPr lang="en-US" sz="1250" dirty="0">
                <a:solidFill>
                  <a:srgbClr val="53606A"/>
                </a:solidFill>
                <a:latin typeface="Calibri" pitchFamily="34" charset="0"/>
                <a:ea typeface="Calibri" pitchFamily="34" charset="-122"/>
                <a:cs typeface="Calibri" pitchFamily="34" charset="-120"/>
              </a:rPr>
              <a:t>Split by delivery type and by who they are for</a:t>
            </a:r>
            <a:endParaRPr lang="en-US" sz="1250" dirty="0"/>
          </a:p>
        </p:txBody>
      </p:sp>
      <p:sp>
        <p:nvSpPr>
          <p:cNvPr id="10" name="Text 6"/>
          <p:cNvSpPr/>
          <p:nvPr/>
        </p:nvSpPr>
        <p:spPr>
          <a:xfrm>
            <a:off x="3364992" y="4956048"/>
            <a:ext cx="2651760" cy="841248"/>
          </a:xfrm>
          <a:prstGeom prst="rect">
            <a:avLst/>
          </a:prstGeom>
          <a:noFill/>
          <a:ln/>
        </p:spPr>
        <p:txBody>
          <a:bodyPr wrap="square" lIns="0" tIns="0" rIns="0" bIns="0" rtlCol="0" anchor="ctr"/>
          <a:lstStyle/>
          <a:p>
            <a:pPr indent="0" marL="0">
              <a:buNone/>
            </a:pPr>
            <a:r>
              <a:rPr lang="en-US" sz="3000" b="1" dirty="0">
                <a:solidFill>
                  <a:srgbClr val="BB3D48"/>
                </a:solidFill>
                <a:latin typeface="Calibri" pitchFamily="34" charset="0"/>
                <a:ea typeface="Calibri" pitchFamily="34" charset="-122"/>
                <a:cs typeface="Calibri" pitchFamily="34" charset="-120"/>
              </a:rPr>
              <a:t>4</a:t>
            </a:r>
            <a:endParaRPr lang="en-US" sz="3000" dirty="0"/>
          </a:p>
        </p:txBody>
      </p:sp>
      <p:sp>
        <p:nvSpPr>
          <p:cNvPr id="11" name="Text 7"/>
          <p:cNvSpPr/>
          <p:nvPr/>
        </p:nvSpPr>
        <p:spPr>
          <a:xfrm>
            <a:off x="3364992" y="5742432"/>
            <a:ext cx="265176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AT RISK</a:t>
            </a:r>
            <a:endParaRPr lang="en-US" sz="1100" dirty="0"/>
          </a:p>
        </p:txBody>
      </p:sp>
      <p:sp>
        <p:nvSpPr>
          <p:cNvPr id="12" name="Text 8"/>
          <p:cNvSpPr/>
          <p:nvPr/>
        </p:nvSpPr>
        <p:spPr>
          <a:xfrm>
            <a:off x="3364992" y="5998464"/>
            <a:ext cx="2651760" cy="731520"/>
          </a:xfrm>
          <a:prstGeom prst="rect">
            <a:avLst/>
          </a:prstGeom>
          <a:noFill/>
          <a:ln/>
        </p:spPr>
        <p:txBody>
          <a:bodyPr wrap="square" lIns="0" tIns="0" rIns="0" bIns="0" rtlCol="0" anchor="ctr"/>
          <a:lstStyle/>
          <a:p>
            <a:pPr indent="0" marL="0">
              <a:lnSpc>
                <a:spcPts val="1600"/>
              </a:lnSpc>
              <a:buNone/>
            </a:pPr>
            <a:r>
              <a:rPr lang="en-US" sz="1250" dirty="0">
                <a:solidFill>
                  <a:srgbClr val="53606A"/>
                </a:solidFill>
                <a:latin typeface="Calibri" pitchFamily="34" charset="0"/>
                <a:ea typeface="Calibri" pitchFamily="34" charset="-122"/>
                <a:cs typeface="Calibri" pitchFamily="34" charset="-120"/>
              </a:rPr>
              <a:t>Flagged by the project manager, and shown in red everywhere</a:t>
            </a:r>
            <a:endParaRPr lang="en-US" sz="1250" dirty="0"/>
          </a:p>
        </p:txBody>
      </p:sp>
      <p:sp>
        <p:nvSpPr>
          <p:cNvPr id="13" name="Text 9"/>
          <p:cNvSpPr/>
          <p:nvPr/>
        </p:nvSpPr>
        <p:spPr>
          <a:xfrm>
            <a:off x="6163056" y="4956048"/>
            <a:ext cx="2651760" cy="841248"/>
          </a:xfrm>
          <a:prstGeom prst="rect">
            <a:avLst/>
          </a:prstGeom>
          <a:noFill/>
          <a:ln/>
        </p:spPr>
        <p:txBody>
          <a:bodyPr wrap="square" lIns="0" tIns="0" rIns="0" bIns="0" rtlCol="0" anchor="ctr"/>
          <a:lstStyle/>
          <a:p>
            <a:pPr indent="0" marL="0">
              <a:buNone/>
            </a:pPr>
            <a:r>
              <a:rPr lang="en-US" sz="3000" b="1" dirty="0">
                <a:solidFill>
                  <a:srgbClr val="0A4B75"/>
                </a:solidFill>
                <a:latin typeface="Calibri" pitchFamily="34" charset="0"/>
                <a:ea typeface="Calibri" pitchFamily="34" charset="-122"/>
                <a:cs typeface="Calibri" pitchFamily="34" charset="-120"/>
              </a:rPr>
              <a:t>£16.2m</a:t>
            </a:r>
            <a:endParaRPr lang="en-US" sz="3000" dirty="0"/>
          </a:p>
        </p:txBody>
      </p:sp>
      <p:sp>
        <p:nvSpPr>
          <p:cNvPr id="14" name="Text 10"/>
          <p:cNvSpPr/>
          <p:nvPr/>
        </p:nvSpPr>
        <p:spPr>
          <a:xfrm>
            <a:off x="6163056" y="5742432"/>
            <a:ext cx="265176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LEFT TO INVOICE</a:t>
            </a:r>
            <a:endParaRPr lang="en-US" sz="1100" dirty="0"/>
          </a:p>
        </p:txBody>
      </p:sp>
      <p:sp>
        <p:nvSpPr>
          <p:cNvPr id="15" name="Text 11"/>
          <p:cNvSpPr/>
          <p:nvPr/>
        </p:nvSpPr>
        <p:spPr>
          <a:xfrm>
            <a:off x="6163056" y="5998464"/>
            <a:ext cx="2651760" cy="731520"/>
          </a:xfrm>
          <a:prstGeom prst="rect">
            <a:avLst/>
          </a:prstGeom>
          <a:noFill/>
          <a:ln/>
        </p:spPr>
        <p:txBody>
          <a:bodyPr wrap="square" lIns="0" tIns="0" rIns="0" bIns="0" rtlCol="0" anchor="ctr"/>
          <a:lstStyle/>
          <a:p>
            <a:pPr indent="0" marL="0">
              <a:lnSpc>
                <a:spcPts val="1600"/>
              </a:lnSpc>
              <a:buNone/>
            </a:pPr>
            <a:r>
              <a:rPr lang="en-US" sz="1250" dirty="0">
                <a:solidFill>
                  <a:srgbClr val="53606A"/>
                </a:solidFill>
                <a:latin typeface="Calibri" pitchFamily="34" charset="0"/>
                <a:ea typeface="Calibri" pitchFamily="34" charset="-122"/>
                <a:cs typeface="Calibri" pitchFamily="34" charset="-120"/>
              </a:rPr>
              <a:t>What is agreed but not yet billed</a:t>
            </a:r>
            <a:endParaRPr lang="en-US" sz="1250" dirty="0"/>
          </a:p>
        </p:txBody>
      </p:sp>
      <p:sp>
        <p:nvSpPr>
          <p:cNvPr id="16" name="Text 12"/>
          <p:cNvSpPr/>
          <p:nvPr/>
        </p:nvSpPr>
        <p:spPr>
          <a:xfrm>
            <a:off x="8961120" y="4956048"/>
            <a:ext cx="2651760" cy="841248"/>
          </a:xfrm>
          <a:prstGeom prst="rect">
            <a:avLst/>
          </a:prstGeom>
          <a:noFill/>
          <a:ln/>
        </p:spPr>
        <p:txBody>
          <a:bodyPr wrap="square" lIns="0" tIns="0" rIns="0" bIns="0" rtlCol="0" anchor="ctr"/>
          <a:lstStyle/>
          <a:p>
            <a:pPr indent="0" marL="0">
              <a:buNone/>
            </a:pPr>
            <a:r>
              <a:rPr lang="en-US" sz="3000" b="1" dirty="0">
                <a:solidFill>
                  <a:srgbClr val="0A4B75"/>
                </a:solidFill>
                <a:latin typeface="Calibri" pitchFamily="34" charset="0"/>
                <a:ea typeface="Calibri" pitchFamily="34" charset="-122"/>
                <a:cs typeface="Calibri" pitchFamily="34" charset="-120"/>
              </a:rPr>
              <a:t>86%</a:t>
            </a:r>
            <a:endParaRPr lang="en-US" sz="3000" dirty="0"/>
          </a:p>
        </p:txBody>
      </p:sp>
      <p:sp>
        <p:nvSpPr>
          <p:cNvPr id="17" name="Text 13"/>
          <p:cNvSpPr/>
          <p:nvPr/>
        </p:nvSpPr>
        <p:spPr>
          <a:xfrm>
            <a:off x="8961120" y="5742432"/>
            <a:ext cx="265176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NOT AT RISK</a:t>
            </a:r>
            <a:endParaRPr lang="en-US" sz="1100" dirty="0"/>
          </a:p>
        </p:txBody>
      </p:sp>
      <p:sp>
        <p:nvSpPr>
          <p:cNvPr id="18" name="Text 14"/>
          <p:cNvSpPr/>
          <p:nvPr/>
        </p:nvSpPr>
        <p:spPr>
          <a:xfrm>
            <a:off x="8961120" y="5998464"/>
            <a:ext cx="2651760" cy="731520"/>
          </a:xfrm>
          <a:prstGeom prst="rect">
            <a:avLst/>
          </a:prstGeom>
          <a:noFill/>
          <a:ln/>
        </p:spPr>
        <p:txBody>
          <a:bodyPr wrap="square" lIns="0" tIns="0" rIns="0" bIns="0" rtlCol="0" anchor="ctr"/>
          <a:lstStyle/>
          <a:p>
            <a:pPr indent="0" marL="0">
              <a:lnSpc>
                <a:spcPts val="1600"/>
              </a:lnSpc>
              <a:buNone/>
            </a:pPr>
            <a:r>
              <a:rPr lang="en-US" sz="1250" dirty="0">
                <a:solidFill>
                  <a:srgbClr val="53606A"/>
                </a:solidFill>
                <a:latin typeface="Calibri" pitchFamily="34" charset="0"/>
                <a:ea typeface="Calibri" pitchFamily="34" charset="-122"/>
                <a:cs typeface="Calibri" pitchFamily="34" charset="-120"/>
              </a:rPr>
              <a:t>The KPI to hold, rather than the one to explain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PORTFOLIO</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Every project on one chart</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389120" y="2011680"/>
            <a:ext cx="7296912" cy="3264408"/>
          </a:xfrm>
          <a:prstGeom prst="roundRect">
            <a:avLst>
              <a:gd name="adj" fmla="val 1681"/>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portfolio-chart.png">    </p:cNvPr>
          <p:cNvPicPr>
            <a:picLocks noChangeAspect="1"/>
          </p:cNvPicPr>
          <p:nvPr/>
        </p:nvPicPr>
        <p:blipFill>
          <a:blip r:embed="rId2"/>
          <a:srcRect l="0" r="0" t="0" b="0"/>
          <a:stretch/>
        </p:blipFill>
        <p:spPr>
          <a:xfrm>
            <a:off x="4480560" y="2103120"/>
            <a:ext cx="7114032" cy="3081528"/>
          </a:xfrm>
          <a:prstGeom prst="rect">
            <a:avLst/>
          </a:prstGeom>
        </p:spPr>
      </p:pic>
      <p:sp>
        <p:nvSpPr>
          <p:cNvPr id="7" name="Text 3"/>
          <p:cNvSpPr/>
          <p:nvPr/>
        </p:nvSpPr>
        <p:spPr>
          <a:xfrm>
            <a:off x="566928" y="1609344"/>
            <a:ext cx="3566160" cy="1005840"/>
          </a:xfrm>
          <a:prstGeom prst="rect">
            <a:avLst/>
          </a:prstGeom>
          <a:noFill/>
          <a:ln/>
        </p:spPr>
        <p:txBody>
          <a:bodyPr wrap="square" lIns="0" tIns="0" rIns="0" bIns="0" rtlCol="0" anchor="ctr"/>
          <a:lstStyle/>
          <a:p>
            <a:pPr indent="0" marL="0">
              <a:lnSpc>
                <a:spcPts val="2000"/>
              </a:lnSpc>
              <a:buNone/>
            </a:pPr>
            <a:r>
              <a:rPr lang="en-US" sz="1400" dirty="0">
                <a:solidFill>
                  <a:srgbClr val="53606A"/>
                </a:solidFill>
                <a:latin typeface="Calibri" pitchFamily="34" charset="0"/>
                <a:ea typeface="Calibri" pitchFamily="34" charset="-122"/>
                <a:cs typeface="Calibri" pitchFamily="34" charset="-120"/>
              </a:rPr>
              <a:t>One dot per project. Where it sits says how far along it is and how big it is; how it is drawn says whether anyone should be worried.</a:t>
            </a:r>
            <a:endParaRPr lang="en-US" sz="1400" dirty="0"/>
          </a:p>
        </p:txBody>
      </p:sp>
      <p:sp>
        <p:nvSpPr>
          <p:cNvPr id="8" name="Shape 4"/>
          <p:cNvSpPr/>
          <p:nvPr/>
        </p:nvSpPr>
        <p:spPr>
          <a:xfrm>
            <a:off x="566928" y="2871216"/>
            <a:ext cx="146304" cy="146304"/>
          </a:xfrm>
          <a:prstGeom prst="ellipse">
            <a:avLst/>
          </a:prstGeom>
          <a:solidFill>
            <a:srgbClr val="12AEBE"/>
          </a:solidFill>
          <a:ln/>
        </p:spPr>
      </p:sp>
      <p:sp>
        <p:nvSpPr>
          <p:cNvPr id="9" name="Text 5"/>
          <p:cNvSpPr/>
          <p:nvPr/>
        </p:nvSpPr>
        <p:spPr>
          <a:xfrm>
            <a:off x="877824" y="2798064"/>
            <a:ext cx="3291840" cy="274320"/>
          </a:xfrm>
          <a:prstGeom prst="rect">
            <a:avLst/>
          </a:prstGeom>
          <a:noFill/>
          <a:ln/>
        </p:spPr>
        <p:txBody>
          <a:bodyPr wrap="square" lIns="0" tIns="0" rIns="0" bIns="0" rtlCol="0" anchor="ctr"/>
          <a:lstStyle/>
          <a:p>
            <a:pPr indent="0" marL="0">
              <a:buNone/>
            </a:pPr>
            <a:r>
              <a:rPr lang="en-US" sz="1450" b="1" dirty="0">
                <a:solidFill>
                  <a:srgbClr val="0A4B75"/>
                </a:solidFill>
                <a:latin typeface="Calibri" pitchFamily="34" charset="0"/>
                <a:ea typeface="Calibri" pitchFamily="34" charset="-122"/>
                <a:cs typeface="Calibri" pitchFamily="34" charset="-120"/>
              </a:rPr>
              <a:t>Left to right</a:t>
            </a:r>
            <a:endParaRPr lang="en-US" sz="1450" dirty="0"/>
          </a:p>
        </p:txBody>
      </p:sp>
      <p:sp>
        <p:nvSpPr>
          <p:cNvPr id="10" name="Text 6"/>
          <p:cNvSpPr/>
          <p:nvPr/>
        </p:nvSpPr>
        <p:spPr>
          <a:xfrm>
            <a:off x="877824" y="3054096"/>
            <a:ext cx="3291840" cy="310896"/>
          </a:xfrm>
          <a:prstGeom prst="rect">
            <a:avLst/>
          </a:prstGeom>
          <a:noFill/>
          <a:ln/>
        </p:spPr>
        <p:txBody>
          <a:bodyPr wrap="square" lIns="0" tIns="0" rIns="0" bIns="0" rtlCol="0" anchor="ctr"/>
          <a:lstStyle/>
          <a:p>
            <a:pPr indent="0" marL="0">
              <a:buNone/>
            </a:pPr>
            <a:r>
              <a:rPr lang="en-US" sz="1300" dirty="0">
                <a:solidFill>
                  <a:srgbClr val="53606A"/>
                </a:solidFill>
                <a:latin typeface="Calibri" pitchFamily="34" charset="0"/>
                <a:ea typeface="Calibri" pitchFamily="34" charset="-122"/>
                <a:cs typeface="Calibri" pitchFamily="34" charset="-120"/>
              </a:rPr>
              <a:t>How far through the work it is</a:t>
            </a:r>
            <a:endParaRPr lang="en-US" sz="1300" dirty="0"/>
          </a:p>
        </p:txBody>
      </p:sp>
      <p:sp>
        <p:nvSpPr>
          <p:cNvPr id="11" name="Shape 7"/>
          <p:cNvSpPr/>
          <p:nvPr/>
        </p:nvSpPr>
        <p:spPr>
          <a:xfrm>
            <a:off x="566928" y="3621024"/>
            <a:ext cx="146304" cy="146304"/>
          </a:xfrm>
          <a:prstGeom prst="ellipse">
            <a:avLst/>
          </a:prstGeom>
          <a:solidFill>
            <a:srgbClr val="12AEBE"/>
          </a:solidFill>
          <a:ln/>
        </p:spPr>
      </p:sp>
      <p:sp>
        <p:nvSpPr>
          <p:cNvPr id="12" name="Text 8"/>
          <p:cNvSpPr/>
          <p:nvPr/>
        </p:nvSpPr>
        <p:spPr>
          <a:xfrm>
            <a:off x="877824" y="3547872"/>
            <a:ext cx="3291840" cy="274320"/>
          </a:xfrm>
          <a:prstGeom prst="rect">
            <a:avLst/>
          </a:prstGeom>
          <a:noFill/>
          <a:ln/>
        </p:spPr>
        <p:txBody>
          <a:bodyPr wrap="square" lIns="0" tIns="0" rIns="0" bIns="0" rtlCol="0" anchor="ctr"/>
          <a:lstStyle/>
          <a:p>
            <a:pPr indent="0" marL="0">
              <a:buNone/>
            </a:pPr>
            <a:r>
              <a:rPr lang="en-US" sz="1450" b="1" dirty="0">
                <a:solidFill>
                  <a:srgbClr val="0A4B75"/>
                </a:solidFill>
                <a:latin typeface="Calibri" pitchFamily="34" charset="0"/>
                <a:ea typeface="Calibri" pitchFamily="34" charset="-122"/>
                <a:cs typeface="Calibri" pitchFamily="34" charset="-120"/>
              </a:rPr>
              <a:t>Bottom to top</a:t>
            </a:r>
            <a:endParaRPr lang="en-US" sz="1450" dirty="0"/>
          </a:p>
        </p:txBody>
      </p:sp>
      <p:sp>
        <p:nvSpPr>
          <p:cNvPr id="13" name="Text 9"/>
          <p:cNvSpPr/>
          <p:nvPr/>
        </p:nvSpPr>
        <p:spPr>
          <a:xfrm>
            <a:off x="877824" y="3803904"/>
            <a:ext cx="3291840" cy="310896"/>
          </a:xfrm>
          <a:prstGeom prst="rect">
            <a:avLst/>
          </a:prstGeom>
          <a:noFill/>
          <a:ln/>
        </p:spPr>
        <p:txBody>
          <a:bodyPr wrap="square" lIns="0" tIns="0" rIns="0" bIns="0" rtlCol="0" anchor="ctr"/>
          <a:lstStyle/>
          <a:p>
            <a:pPr indent="0" marL="0">
              <a:buNone/>
            </a:pPr>
            <a:r>
              <a:rPr lang="en-US" sz="1300" dirty="0">
                <a:solidFill>
                  <a:srgbClr val="53606A"/>
                </a:solidFill>
                <a:latin typeface="Calibri" pitchFamily="34" charset="0"/>
                <a:ea typeface="Calibri" pitchFamily="34" charset="-122"/>
                <a:cs typeface="Calibri" pitchFamily="34" charset="-120"/>
              </a:rPr>
              <a:t>How big the budget is</a:t>
            </a:r>
            <a:endParaRPr lang="en-US" sz="1300" dirty="0"/>
          </a:p>
        </p:txBody>
      </p:sp>
      <p:sp>
        <p:nvSpPr>
          <p:cNvPr id="14" name="Shape 10"/>
          <p:cNvSpPr/>
          <p:nvPr/>
        </p:nvSpPr>
        <p:spPr>
          <a:xfrm>
            <a:off x="566928" y="4370832"/>
            <a:ext cx="146304" cy="146304"/>
          </a:xfrm>
          <a:prstGeom prst="ellipse">
            <a:avLst/>
          </a:prstGeom>
          <a:solidFill>
            <a:srgbClr val="12AEBE"/>
          </a:solidFill>
          <a:ln/>
        </p:spPr>
      </p:sp>
      <p:sp>
        <p:nvSpPr>
          <p:cNvPr id="15" name="Text 11"/>
          <p:cNvSpPr/>
          <p:nvPr/>
        </p:nvSpPr>
        <p:spPr>
          <a:xfrm>
            <a:off x="877824" y="4297680"/>
            <a:ext cx="3291840" cy="274320"/>
          </a:xfrm>
          <a:prstGeom prst="rect">
            <a:avLst/>
          </a:prstGeom>
          <a:noFill/>
          <a:ln/>
        </p:spPr>
        <p:txBody>
          <a:bodyPr wrap="square" lIns="0" tIns="0" rIns="0" bIns="0" rtlCol="0" anchor="ctr"/>
          <a:lstStyle/>
          <a:p>
            <a:pPr indent="0" marL="0">
              <a:buNone/>
            </a:pPr>
            <a:r>
              <a:rPr lang="en-US" sz="1450" b="1" dirty="0">
                <a:solidFill>
                  <a:srgbClr val="0A4B75"/>
                </a:solidFill>
                <a:latin typeface="Calibri" pitchFamily="34" charset="0"/>
                <a:ea typeface="Calibri" pitchFamily="34" charset="-122"/>
                <a:cs typeface="Calibri" pitchFamily="34" charset="-120"/>
              </a:rPr>
              <a:t>Size of the dot</a:t>
            </a:r>
            <a:endParaRPr lang="en-US" sz="1450" dirty="0"/>
          </a:p>
        </p:txBody>
      </p:sp>
      <p:sp>
        <p:nvSpPr>
          <p:cNvPr id="16" name="Text 12"/>
          <p:cNvSpPr/>
          <p:nvPr/>
        </p:nvSpPr>
        <p:spPr>
          <a:xfrm>
            <a:off x="877824" y="4553712"/>
            <a:ext cx="3291840" cy="310896"/>
          </a:xfrm>
          <a:prstGeom prst="rect">
            <a:avLst/>
          </a:prstGeom>
          <a:noFill/>
          <a:ln/>
        </p:spPr>
        <p:txBody>
          <a:bodyPr wrap="square" lIns="0" tIns="0" rIns="0" bIns="0" rtlCol="0" anchor="ctr"/>
          <a:lstStyle/>
          <a:p>
            <a:pPr indent="0" marL="0">
              <a:buNone/>
            </a:pPr>
            <a:r>
              <a:rPr lang="en-US" sz="1300" dirty="0">
                <a:solidFill>
                  <a:srgbClr val="53606A"/>
                </a:solidFill>
                <a:latin typeface="Calibri" pitchFamily="34" charset="0"/>
                <a:ea typeface="Calibri" pitchFamily="34" charset="-122"/>
                <a:cs typeface="Calibri" pitchFamily="34" charset="-120"/>
              </a:rPr>
              <a:t>How much of the team it draws</a:t>
            </a:r>
            <a:endParaRPr lang="en-US" sz="1300" dirty="0"/>
          </a:p>
        </p:txBody>
      </p:sp>
      <p:sp>
        <p:nvSpPr>
          <p:cNvPr id="17" name="Shape 13"/>
          <p:cNvSpPr/>
          <p:nvPr/>
        </p:nvSpPr>
        <p:spPr>
          <a:xfrm>
            <a:off x="566928" y="5120640"/>
            <a:ext cx="146304" cy="146304"/>
          </a:xfrm>
          <a:prstGeom prst="ellipse">
            <a:avLst/>
          </a:prstGeom>
          <a:solidFill>
            <a:srgbClr val="12AEBE"/>
          </a:solidFill>
          <a:ln/>
        </p:spPr>
      </p:sp>
      <p:sp>
        <p:nvSpPr>
          <p:cNvPr id="18" name="Text 14"/>
          <p:cNvSpPr/>
          <p:nvPr/>
        </p:nvSpPr>
        <p:spPr>
          <a:xfrm>
            <a:off x="877824" y="5047488"/>
            <a:ext cx="3291840" cy="274320"/>
          </a:xfrm>
          <a:prstGeom prst="rect">
            <a:avLst/>
          </a:prstGeom>
          <a:noFill/>
          <a:ln/>
        </p:spPr>
        <p:txBody>
          <a:bodyPr wrap="square" lIns="0" tIns="0" rIns="0" bIns="0" rtlCol="0" anchor="ctr"/>
          <a:lstStyle/>
          <a:p>
            <a:pPr indent="0" marL="0">
              <a:buNone/>
            </a:pPr>
            <a:r>
              <a:rPr lang="en-US" sz="1450" b="1" dirty="0">
                <a:solidFill>
                  <a:srgbClr val="0A4B75"/>
                </a:solidFill>
                <a:latin typeface="Calibri" pitchFamily="34" charset="0"/>
                <a:ea typeface="Calibri" pitchFamily="34" charset="-122"/>
                <a:cs typeface="Calibri" pitchFamily="34" charset="-120"/>
              </a:rPr>
              <a:t>Red</a:t>
            </a:r>
            <a:endParaRPr lang="en-US" sz="1450" dirty="0"/>
          </a:p>
        </p:txBody>
      </p:sp>
      <p:sp>
        <p:nvSpPr>
          <p:cNvPr id="19" name="Text 15"/>
          <p:cNvSpPr/>
          <p:nvPr/>
        </p:nvSpPr>
        <p:spPr>
          <a:xfrm>
            <a:off x="877824" y="5303520"/>
            <a:ext cx="3291840" cy="310896"/>
          </a:xfrm>
          <a:prstGeom prst="rect">
            <a:avLst/>
          </a:prstGeom>
          <a:noFill/>
          <a:ln/>
        </p:spPr>
        <p:txBody>
          <a:bodyPr wrap="square" lIns="0" tIns="0" rIns="0" bIns="0" rtlCol="0" anchor="ctr"/>
          <a:lstStyle/>
          <a:p>
            <a:pPr indent="0" marL="0">
              <a:buNone/>
            </a:pPr>
            <a:r>
              <a:rPr lang="en-US" sz="1300" dirty="0">
                <a:solidFill>
                  <a:srgbClr val="53606A"/>
                </a:solidFill>
                <a:latin typeface="Calibri" pitchFamily="34" charset="0"/>
                <a:ea typeface="Calibri" pitchFamily="34" charset="-122"/>
                <a:cs typeface="Calibri" pitchFamily="34" charset="-120"/>
              </a:rPr>
              <a:t>The project manager has flagged 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RESOURCING</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Who is overcommitted, before it happens</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133088" y="1463040"/>
            <a:ext cx="7552944" cy="4206240"/>
          </a:xfrm>
          <a:prstGeom prst="roundRect">
            <a:avLst>
              <a:gd name="adj" fmla="val 1304"/>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resourcing-crop.png">    </p:cNvPr>
          <p:cNvPicPr>
            <a:picLocks noChangeAspect="1"/>
          </p:cNvPicPr>
          <p:nvPr/>
        </p:nvPicPr>
        <p:blipFill>
          <a:blip r:embed="rId2"/>
          <a:srcRect l="0" r="0" t="0" b="0"/>
          <a:stretch/>
        </p:blipFill>
        <p:spPr>
          <a:xfrm>
            <a:off x="4224528" y="1554480"/>
            <a:ext cx="7370064" cy="4023360"/>
          </a:xfrm>
          <a:prstGeom prst="rect">
            <a:avLst/>
          </a:prstGeom>
        </p:spPr>
      </p:pic>
      <p:sp>
        <p:nvSpPr>
          <p:cNvPr id="7" name="Shape 3"/>
          <p:cNvSpPr/>
          <p:nvPr/>
        </p:nvSpPr>
        <p:spPr>
          <a:xfrm>
            <a:off x="566928" y="1700784"/>
            <a:ext cx="384048" cy="384048"/>
          </a:xfrm>
          <a:prstGeom prst="ellipse">
            <a:avLst/>
          </a:prstGeom>
          <a:solidFill>
            <a:srgbClr val="12AEBE"/>
          </a:solidFill>
          <a:ln/>
        </p:spPr>
      </p:sp>
      <p:sp>
        <p:nvSpPr>
          <p:cNvPr id="8" name="Text 4"/>
          <p:cNvSpPr/>
          <p:nvPr/>
        </p:nvSpPr>
        <p:spPr>
          <a:xfrm>
            <a:off x="566928"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1152144" y="1664208"/>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One bar per person</a:t>
            </a:r>
            <a:endParaRPr lang="en-US" sz="1600" dirty="0"/>
          </a:p>
        </p:txBody>
      </p:sp>
      <p:sp>
        <p:nvSpPr>
          <p:cNvPr id="10" name="Text 6"/>
          <p:cNvSpPr/>
          <p:nvPr/>
        </p:nvSpPr>
        <p:spPr>
          <a:xfrm>
            <a:off x="1152144" y="1975104"/>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Everything they have promised each month, across every project.</a:t>
            </a:r>
            <a:endParaRPr lang="en-US" sz="1350" dirty="0"/>
          </a:p>
        </p:txBody>
      </p:sp>
      <p:sp>
        <p:nvSpPr>
          <p:cNvPr id="11" name="Shape 7"/>
          <p:cNvSpPr/>
          <p:nvPr/>
        </p:nvSpPr>
        <p:spPr>
          <a:xfrm>
            <a:off x="566928" y="2944368"/>
            <a:ext cx="384048" cy="384048"/>
          </a:xfrm>
          <a:prstGeom prst="ellipse">
            <a:avLst/>
          </a:prstGeom>
          <a:solidFill>
            <a:srgbClr val="12AEBE"/>
          </a:solidFill>
          <a:ln/>
        </p:spPr>
      </p:sp>
      <p:sp>
        <p:nvSpPr>
          <p:cNvPr id="12" name="Text 8"/>
          <p:cNvSpPr/>
          <p:nvPr/>
        </p:nvSpPr>
        <p:spPr>
          <a:xfrm>
            <a:off x="566928"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1152144" y="2907792"/>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Days off at the base</a:t>
            </a:r>
            <a:endParaRPr lang="en-US" sz="1600" dirty="0"/>
          </a:p>
        </p:txBody>
      </p:sp>
      <p:sp>
        <p:nvSpPr>
          <p:cNvPr id="14" name="Text 10"/>
          <p:cNvSpPr/>
          <p:nvPr/>
        </p:nvSpPr>
        <p:spPr>
          <a:xfrm>
            <a:off x="1152144" y="3218688"/>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Leave and public holidays come off capacity, not off the estimate.</a:t>
            </a:r>
            <a:endParaRPr lang="en-US" sz="1350" dirty="0"/>
          </a:p>
        </p:txBody>
      </p:sp>
      <p:sp>
        <p:nvSpPr>
          <p:cNvPr id="15" name="Shape 11"/>
          <p:cNvSpPr/>
          <p:nvPr/>
        </p:nvSpPr>
        <p:spPr>
          <a:xfrm>
            <a:off x="566928" y="4187952"/>
            <a:ext cx="384048" cy="384048"/>
          </a:xfrm>
          <a:prstGeom prst="ellipse">
            <a:avLst/>
          </a:prstGeom>
          <a:solidFill>
            <a:srgbClr val="12AEBE"/>
          </a:solidFill>
          <a:ln/>
        </p:spPr>
      </p:sp>
      <p:sp>
        <p:nvSpPr>
          <p:cNvPr id="16" name="Text 12"/>
          <p:cNvSpPr/>
          <p:nvPr/>
        </p:nvSpPr>
        <p:spPr>
          <a:xfrm>
            <a:off x="566928"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1152144" y="4151376"/>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A line you can move</a:t>
            </a:r>
            <a:endParaRPr lang="en-US" sz="1600" dirty="0"/>
          </a:p>
        </p:txBody>
      </p:sp>
      <p:sp>
        <p:nvSpPr>
          <p:cNvPr id="18" name="Text 14"/>
          <p:cNvSpPr/>
          <p:nvPr/>
        </p:nvSpPr>
        <p:spPr>
          <a:xfrm>
            <a:off x="1152144" y="4462272"/>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Set the threshold; anything above it is flagged everywhere.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RESOURCING</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The shortage a spreadsheet hides</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Text 2"/>
          <p:cNvSpPr/>
          <p:nvPr/>
        </p:nvSpPr>
        <p:spPr>
          <a:xfrm>
            <a:off x="566928" y="1517904"/>
            <a:ext cx="6035040" cy="1188720"/>
          </a:xfrm>
          <a:prstGeom prst="rect">
            <a:avLst/>
          </a:prstGeom>
          <a:noFill/>
          <a:ln/>
        </p:spPr>
        <p:txBody>
          <a:bodyPr wrap="square" lIns="0" tIns="0" rIns="0" bIns="0" rtlCol="0" anchor="ctr"/>
          <a:lstStyle/>
          <a:p>
            <a:pPr indent="0" marL="0">
              <a:lnSpc>
                <a:spcPts val="2200"/>
              </a:lnSpc>
              <a:buNone/>
            </a:pPr>
            <a:r>
              <a:rPr lang="en-US" sz="1500" dirty="0">
                <a:solidFill>
                  <a:srgbClr val="53606A"/>
                </a:solidFill>
                <a:latin typeface="Calibri" pitchFamily="34" charset="0"/>
                <a:ea typeface="Calibri" pitchFamily="34" charset="-122"/>
                <a:cs typeface="Calibri" pitchFamily="34" charset="-120"/>
              </a:rPr>
              <a:t>A single busy month is normal. The same job title short three months running is a hiring decision — and it is the one thing a monthly capacity report will never show you, because each month on its own looks survivable.</a:t>
            </a:r>
            <a:endParaRPr lang="en-US" sz="1500" dirty="0"/>
          </a:p>
        </p:txBody>
      </p:sp>
      <p:sp>
        <p:nvSpPr>
          <p:cNvPr id="6" name="Text 3"/>
          <p:cNvSpPr/>
          <p:nvPr/>
        </p:nvSpPr>
        <p:spPr>
          <a:xfrm>
            <a:off x="566928" y="3017520"/>
            <a:ext cx="2834640" cy="841248"/>
          </a:xfrm>
          <a:prstGeom prst="rect">
            <a:avLst/>
          </a:prstGeom>
          <a:noFill/>
          <a:ln/>
        </p:spPr>
        <p:txBody>
          <a:bodyPr wrap="square" lIns="0" tIns="0" rIns="0" bIns="0" rtlCol="0" anchor="ctr"/>
          <a:lstStyle/>
          <a:p>
            <a:pPr indent="0" marL="0">
              <a:buNone/>
            </a:pPr>
            <a:r>
              <a:rPr lang="en-US" sz="5800" b="1" dirty="0">
                <a:solidFill>
                  <a:srgbClr val="BB3D48"/>
                </a:solidFill>
                <a:latin typeface="Calibri" pitchFamily="34" charset="0"/>
                <a:ea typeface="Calibri" pitchFamily="34" charset="-122"/>
                <a:cs typeface="Calibri" pitchFamily="34" charset="-120"/>
              </a:rPr>
              <a:t>4</a:t>
            </a:r>
            <a:endParaRPr lang="en-US" sz="5800" dirty="0"/>
          </a:p>
        </p:txBody>
      </p:sp>
      <p:sp>
        <p:nvSpPr>
          <p:cNvPr id="7" name="Text 4"/>
          <p:cNvSpPr/>
          <p:nvPr/>
        </p:nvSpPr>
        <p:spPr>
          <a:xfrm>
            <a:off x="566928" y="3803904"/>
            <a:ext cx="283464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ROLES SHORT 3 MONTHS</a:t>
            </a:r>
            <a:endParaRPr lang="en-US" sz="1100" dirty="0"/>
          </a:p>
        </p:txBody>
      </p:sp>
      <p:sp>
        <p:nvSpPr>
          <p:cNvPr id="8" name="Text 5"/>
          <p:cNvSpPr/>
          <p:nvPr/>
        </p:nvSpPr>
        <p:spPr>
          <a:xfrm>
            <a:off x="566928" y="4059936"/>
            <a:ext cx="2834640" cy="731520"/>
          </a:xfrm>
          <a:prstGeom prst="rect">
            <a:avLst/>
          </a:prstGeom>
          <a:noFill/>
          <a:ln/>
        </p:spPr>
        <p:txBody>
          <a:bodyPr wrap="square" lIns="0" tIns="0" rIns="0" bIns="0" rtlCol="0" anchor="ctr"/>
          <a:lstStyle/>
          <a:p>
            <a:pPr indent="0" marL="0">
              <a:lnSpc>
                <a:spcPts val="1600"/>
              </a:lnSpc>
              <a:buNone/>
            </a:pPr>
            <a:r>
              <a:rPr lang="en-US" sz="1250" dirty="0">
                <a:solidFill>
                  <a:srgbClr val="53606A"/>
                </a:solidFill>
                <a:latin typeface="Calibri" pitchFamily="34" charset="0"/>
                <a:ea typeface="Calibri" pitchFamily="34" charset="-122"/>
                <a:cs typeface="Calibri" pitchFamily="34" charset="-120"/>
              </a:rPr>
              <a:t>Counted only where nobody else of that job title has room to absorb it</a:t>
            </a:r>
            <a:endParaRPr lang="en-US" sz="1250" dirty="0"/>
          </a:p>
        </p:txBody>
      </p:sp>
      <p:sp>
        <p:nvSpPr>
          <p:cNvPr id="9" name="Text 6"/>
          <p:cNvSpPr/>
          <p:nvPr/>
        </p:nvSpPr>
        <p:spPr>
          <a:xfrm>
            <a:off x="3767328" y="3017520"/>
            <a:ext cx="2834640" cy="841248"/>
          </a:xfrm>
          <a:prstGeom prst="rect">
            <a:avLst/>
          </a:prstGeom>
          <a:noFill/>
          <a:ln/>
        </p:spPr>
        <p:txBody>
          <a:bodyPr wrap="square" lIns="0" tIns="0" rIns="0" bIns="0" rtlCol="0" anchor="ctr"/>
          <a:lstStyle/>
          <a:p>
            <a:pPr indent="0" marL="0">
              <a:buNone/>
            </a:pPr>
            <a:r>
              <a:rPr lang="en-US" sz="5800" b="1" dirty="0">
                <a:solidFill>
                  <a:srgbClr val="0A4B75"/>
                </a:solidFill>
                <a:latin typeface="Calibri" pitchFamily="34" charset="0"/>
                <a:ea typeface="Calibri" pitchFamily="34" charset="-122"/>
                <a:cs typeface="Calibri" pitchFamily="34" charset="-120"/>
              </a:rPr>
              <a:t>8.2</a:t>
            </a:r>
            <a:endParaRPr lang="en-US" sz="5800" dirty="0"/>
          </a:p>
        </p:txBody>
      </p:sp>
      <p:sp>
        <p:nvSpPr>
          <p:cNvPr id="10" name="Text 7"/>
          <p:cNvSpPr/>
          <p:nvPr/>
        </p:nvSpPr>
        <p:spPr>
          <a:xfrm>
            <a:off x="3767328" y="3803904"/>
            <a:ext cx="283464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PEOPLE THE WORK NEEDS</a:t>
            </a:r>
            <a:endParaRPr lang="en-US" sz="1100" dirty="0"/>
          </a:p>
        </p:txBody>
      </p:sp>
      <p:sp>
        <p:nvSpPr>
          <p:cNvPr id="11" name="Text 8"/>
          <p:cNvSpPr/>
          <p:nvPr/>
        </p:nvSpPr>
        <p:spPr>
          <a:xfrm>
            <a:off x="3767328" y="4059936"/>
            <a:ext cx="2834640" cy="731520"/>
          </a:xfrm>
          <a:prstGeom prst="rect">
            <a:avLst/>
          </a:prstGeom>
          <a:noFill/>
          <a:ln/>
        </p:spPr>
        <p:txBody>
          <a:bodyPr wrap="square" lIns="0" tIns="0" rIns="0" bIns="0" rtlCol="0" anchor="ctr"/>
          <a:lstStyle/>
          <a:p>
            <a:pPr indent="0" marL="0">
              <a:lnSpc>
                <a:spcPts val="1600"/>
              </a:lnSpc>
              <a:buNone/>
            </a:pPr>
            <a:r>
              <a:rPr lang="en-US" sz="1250" dirty="0">
                <a:solidFill>
                  <a:srgbClr val="53606A"/>
                </a:solidFill>
                <a:latin typeface="Calibri" pitchFamily="34" charset="0"/>
                <a:ea typeface="Calibri" pitchFamily="34" charset="-122"/>
                <a:cs typeface="Calibri" pitchFamily="34" charset="-120"/>
              </a:rPr>
              <a:t>At its peak, against a team of seven — the gap, stated in people</a:t>
            </a:r>
            <a:endParaRPr lang="en-US" sz="1250" dirty="0"/>
          </a:p>
        </p:txBody>
      </p:sp>
      <p:sp>
        <p:nvSpPr>
          <p:cNvPr id="12" name="Shape 9"/>
          <p:cNvSpPr/>
          <p:nvPr/>
        </p:nvSpPr>
        <p:spPr>
          <a:xfrm>
            <a:off x="6766560" y="1481328"/>
            <a:ext cx="4919472" cy="3666744"/>
          </a:xfrm>
          <a:prstGeom prst="roundRect">
            <a:avLst>
              <a:gd name="adj" fmla="val 1496"/>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13" name="Image 1" descr="../deck/roles.png">    </p:cNvPr>
          <p:cNvPicPr>
            <a:picLocks noChangeAspect="1"/>
          </p:cNvPicPr>
          <p:nvPr/>
        </p:nvPicPr>
        <p:blipFill>
          <a:blip r:embed="rId2"/>
          <a:srcRect l="0" r="0" t="0" b="0"/>
          <a:stretch/>
        </p:blipFill>
        <p:spPr>
          <a:xfrm>
            <a:off x="6858000" y="1572768"/>
            <a:ext cx="4736592" cy="3483864"/>
          </a:xfrm>
          <a:prstGeom prst="rect">
            <a:avLst/>
          </a:prstGeom>
        </p:spPr>
      </p:pic>
      <p:sp>
        <p:nvSpPr>
          <p:cNvPr id="14" name="Text 10"/>
          <p:cNvSpPr/>
          <p:nvPr/>
        </p:nvSpPr>
        <p:spPr>
          <a:xfrm>
            <a:off x="566928" y="5029200"/>
            <a:ext cx="5943600" cy="822960"/>
          </a:xfrm>
          <a:prstGeom prst="rect">
            <a:avLst/>
          </a:prstGeom>
          <a:noFill/>
          <a:ln/>
        </p:spPr>
        <p:txBody>
          <a:bodyPr wrap="square" lIns="0" tIns="0" rIns="0" bIns="0" rtlCol="0" anchor="ctr"/>
          <a:lstStyle/>
          <a:p>
            <a:pPr indent="0" marL="0">
              <a:lnSpc>
                <a:spcPts val="2200"/>
              </a:lnSpc>
              <a:buNone/>
            </a:pPr>
            <a:r>
              <a:rPr lang="en-US" sz="1500" b="1" dirty="0">
                <a:solidFill>
                  <a:srgbClr val="0A4B75"/>
                </a:solidFill>
                <a:latin typeface="Calibri" pitchFamily="34" charset="0"/>
                <a:ea typeface="Calibri" pitchFamily="34" charset="-122"/>
                <a:cs typeface="Calibri" pitchFamily="34" charset="-120"/>
              </a:rPr>
              <a:t>Four roles, six months, nobody of the same job title free to cover them. That is a hiring decision — and it arrived as a number rather than as a feeling.</a:t>
            </a:r>
            <a:endParaRPr lang="en-US" sz="1500" dirty="0"/>
          </a:p>
        </p:txBody>
      </p:sp>
      <p:sp>
        <p:nvSpPr>
          <p:cNvPr id="15" name="Text 11"/>
          <p:cNvSpPr/>
          <p:nvPr/>
        </p:nvSpPr>
        <p:spPr>
          <a:xfrm>
            <a:off x="6858000" y="5285232"/>
            <a:ext cx="4736592" cy="640080"/>
          </a:xfrm>
          <a:prstGeom prst="rect">
            <a:avLst/>
          </a:prstGeom>
          <a:noFill/>
          <a:ln/>
        </p:spPr>
        <p:txBody>
          <a:bodyPr wrap="square" lIns="0" tIns="0" rIns="0" bIns="0" rtlCol="0" anchor="ctr"/>
          <a:lstStyle/>
          <a:p>
            <a:pPr indent="0" marL="0">
              <a:lnSpc>
                <a:spcPts val="1700"/>
              </a:lnSpc>
              <a:buNone/>
            </a:pPr>
            <a:r>
              <a:rPr lang="en-US" sz="1250" i="1" dirty="0">
                <a:solidFill>
                  <a:srgbClr val="0A4B75"/>
                </a:solidFill>
                <a:latin typeface="Calibri" pitchFamily="34" charset="0"/>
                <a:ea typeface="Calibri" pitchFamily="34" charset="-122"/>
                <a:cs typeface="Calibri" pitchFamily="34" charset="-120"/>
              </a:rPr>
              <a:t>Project manager · Process engineer · Design engineer · Regulatory support — each short from August to January.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FINANCIALS</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Budget, spend and invoicing, per project</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133088" y="1463040"/>
            <a:ext cx="7552944" cy="4206240"/>
          </a:xfrm>
          <a:prstGeom prst="roundRect">
            <a:avLst>
              <a:gd name="adj" fmla="val 1304"/>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financials-crop.png">    </p:cNvPr>
          <p:cNvPicPr>
            <a:picLocks noChangeAspect="1"/>
          </p:cNvPicPr>
          <p:nvPr/>
        </p:nvPicPr>
        <p:blipFill>
          <a:blip r:embed="rId2"/>
          <a:srcRect l="0" r="0" t="0" b="0"/>
          <a:stretch/>
        </p:blipFill>
        <p:spPr>
          <a:xfrm>
            <a:off x="4224528" y="1554480"/>
            <a:ext cx="7370064" cy="4023360"/>
          </a:xfrm>
          <a:prstGeom prst="rect">
            <a:avLst/>
          </a:prstGeom>
        </p:spPr>
      </p:pic>
      <p:sp>
        <p:nvSpPr>
          <p:cNvPr id="7" name="Shape 3"/>
          <p:cNvSpPr/>
          <p:nvPr/>
        </p:nvSpPr>
        <p:spPr>
          <a:xfrm>
            <a:off x="566928" y="1700784"/>
            <a:ext cx="384048" cy="384048"/>
          </a:xfrm>
          <a:prstGeom prst="ellipse">
            <a:avLst/>
          </a:prstGeom>
          <a:solidFill>
            <a:srgbClr val="12AEBE"/>
          </a:solidFill>
          <a:ln/>
        </p:spPr>
      </p:sp>
      <p:sp>
        <p:nvSpPr>
          <p:cNvPr id="8" name="Text 4"/>
          <p:cNvSpPr/>
          <p:nvPr/>
        </p:nvSpPr>
        <p:spPr>
          <a:xfrm>
            <a:off x="566928"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1152144" y="1664208"/>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Agreed versus billed</a:t>
            </a:r>
            <a:endParaRPr lang="en-US" sz="1600" dirty="0"/>
          </a:p>
        </p:txBody>
      </p:sp>
      <p:sp>
        <p:nvSpPr>
          <p:cNvPr id="10" name="Text 6"/>
          <p:cNvSpPr/>
          <p:nvPr/>
        </p:nvSpPr>
        <p:spPr>
          <a:xfrm>
            <a:off x="1152144" y="1975104"/>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And the gap between them, which is the number finance asks for.</a:t>
            </a:r>
            <a:endParaRPr lang="en-US" sz="1350" dirty="0"/>
          </a:p>
        </p:txBody>
      </p:sp>
      <p:sp>
        <p:nvSpPr>
          <p:cNvPr id="11" name="Shape 7"/>
          <p:cNvSpPr/>
          <p:nvPr/>
        </p:nvSpPr>
        <p:spPr>
          <a:xfrm>
            <a:off x="566928" y="2944368"/>
            <a:ext cx="384048" cy="384048"/>
          </a:xfrm>
          <a:prstGeom prst="ellipse">
            <a:avLst/>
          </a:prstGeom>
          <a:solidFill>
            <a:srgbClr val="12AEBE"/>
          </a:solidFill>
          <a:ln/>
        </p:spPr>
      </p:sp>
      <p:sp>
        <p:nvSpPr>
          <p:cNvPr id="12" name="Text 8"/>
          <p:cNvSpPr/>
          <p:nvPr/>
        </p:nvSpPr>
        <p:spPr>
          <a:xfrm>
            <a:off x="566928"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1152144" y="2907792"/>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Three currencies</a:t>
            </a:r>
            <a:endParaRPr lang="en-US" sz="1600" dirty="0"/>
          </a:p>
        </p:txBody>
      </p:sp>
      <p:sp>
        <p:nvSpPr>
          <p:cNvPr id="14" name="Text 10"/>
          <p:cNvSpPr/>
          <p:nvPr/>
        </p:nvSpPr>
        <p:spPr>
          <a:xfrm>
            <a:off x="1152144" y="3218688"/>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Billed in pounds, dollars or euros; ranked in one, so the list is honest.</a:t>
            </a:r>
            <a:endParaRPr lang="en-US" sz="1350" dirty="0"/>
          </a:p>
        </p:txBody>
      </p:sp>
      <p:sp>
        <p:nvSpPr>
          <p:cNvPr id="15" name="Shape 11"/>
          <p:cNvSpPr/>
          <p:nvPr/>
        </p:nvSpPr>
        <p:spPr>
          <a:xfrm>
            <a:off x="566928" y="4187952"/>
            <a:ext cx="384048" cy="384048"/>
          </a:xfrm>
          <a:prstGeom prst="ellipse">
            <a:avLst/>
          </a:prstGeom>
          <a:solidFill>
            <a:srgbClr val="12AEBE"/>
          </a:solidFill>
          <a:ln/>
        </p:spPr>
      </p:sp>
      <p:sp>
        <p:nvSpPr>
          <p:cNvPr id="16" name="Text 12"/>
          <p:cNvSpPr/>
          <p:nvPr/>
        </p:nvSpPr>
        <p:spPr>
          <a:xfrm>
            <a:off x="566928"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1152144" y="4151376"/>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Internal work too</a:t>
            </a:r>
            <a:endParaRPr lang="en-US" sz="1600" dirty="0"/>
          </a:p>
        </p:txBody>
      </p:sp>
      <p:sp>
        <p:nvSpPr>
          <p:cNvPr id="18" name="Text 14"/>
          <p:cNvSpPr/>
          <p:nvPr/>
        </p:nvSpPr>
        <p:spPr>
          <a:xfrm>
            <a:off x="1152144" y="4462272"/>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Programmes with no invoice side still draw against an approved pool.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TIMELINE</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Two years, at a glance</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75488" y="1426464"/>
            <a:ext cx="8001000" cy="4389120"/>
          </a:xfrm>
          <a:prstGeom prst="roundRect">
            <a:avLst>
              <a:gd name="adj" fmla="val 1250"/>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timeline-crop.png">    </p:cNvPr>
          <p:cNvPicPr>
            <a:picLocks noChangeAspect="1"/>
          </p:cNvPicPr>
          <p:nvPr/>
        </p:nvPicPr>
        <p:blipFill>
          <a:blip r:embed="rId2"/>
          <a:srcRect l="0" r="0" t="0" b="0"/>
          <a:stretch/>
        </p:blipFill>
        <p:spPr>
          <a:xfrm>
            <a:off x="566928" y="1517904"/>
            <a:ext cx="7818120" cy="4206240"/>
          </a:xfrm>
          <a:prstGeom prst="rect">
            <a:avLst/>
          </a:prstGeom>
        </p:spPr>
      </p:pic>
      <p:sp>
        <p:nvSpPr>
          <p:cNvPr id="7" name="Text 3"/>
          <p:cNvSpPr/>
          <p:nvPr/>
        </p:nvSpPr>
        <p:spPr>
          <a:xfrm>
            <a:off x="8732520" y="1627632"/>
            <a:ext cx="2862072" cy="1371600"/>
          </a:xfrm>
          <a:prstGeom prst="rect">
            <a:avLst/>
          </a:prstGeom>
          <a:noFill/>
          <a:ln/>
        </p:spPr>
        <p:txBody>
          <a:bodyPr wrap="square" lIns="0" tIns="0" rIns="0" bIns="0" rtlCol="0" anchor="ctr"/>
          <a:lstStyle/>
          <a:p>
            <a:pPr indent="0" marL="0">
              <a:lnSpc>
                <a:spcPts val="2000"/>
              </a:lnSpc>
              <a:buNone/>
            </a:pPr>
            <a:r>
              <a:rPr lang="en-US" sz="1400" dirty="0">
                <a:solidFill>
                  <a:srgbClr val="53606A"/>
                </a:solidFill>
                <a:latin typeface="Calibri" pitchFamily="34" charset="0"/>
                <a:ea typeface="Calibri" pitchFamily="34" charset="-122"/>
                <a:cs typeface="Calibri" pitchFamily="34" charset="-120"/>
              </a:rPr>
              <a:t>Every project as a bar, the upright line as today, and the diamond as the next thing due. Hover any row for who is on it.</a:t>
            </a:r>
            <a:endParaRPr lang="en-US" sz="1400" dirty="0"/>
          </a:p>
        </p:txBody>
      </p:sp>
      <p:sp>
        <p:nvSpPr>
          <p:cNvPr id="8" name="Shape 4"/>
          <p:cNvSpPr/>
          <p:nvPr/>
        </p:nvSpPr>
        <p:spPr>
          <a:xfrm>
            <a:off x="8732520" y="3200400"/>
            <a:ext cx="2862072" cy="1920240"/>
          </a:xfrm>
          <a:prstGeom prst="roundRect">
            <a:avLst>
              <a:gd name="adj" fmla="val 3810"/>
            </a:avLst>
          </a:prstGeom>
          <a:solidFill>
            <a:srgbClr val="F2F6F9"/>
          </a:solidFill>
          <a:ln w="12700">
            <a:solidFill>
              <a:srgbClr val="DCE7EF"/>
            </a:solidFill>
            <a:prstDash val="solid"/>
          </a:ln>
        </p:spPr>
      </p:sp>
      <p:sp>
        <p:nvSpPr>
          <p:cNvPr id="9" name="Text 5"/>
          <p:cNvSpPr/>
          <p:nvPr/>
        </p:nvSpPr>
        <p:spPr>
          <a:xfrm>
            <a:off x="8951976" y="3401568"/>
            <a:ext cx="2423160" cy="274320"/>
          </a:xfrm>
          <a:prstGeom prst="rect">
            <a:avLst/>
          </a:prstGeom>
          <a:noFill/>
          <a:ln/>
        </p:spPr>
        <p:txBody>
          <a:bodyPr wrap="square" lIns="0" tIns="0" rIns="0" bIns="0" rtlCol="0" anchor="ctr"/>
          <a:lstStyle/>
          <a:p>
            <a:pPr indent="0" marL="0">
              <a:buNone/>
            </a:pPr>
            <a:r>
              <a:rPr lang="en-US" sz="1400" b="1" dirty="0">
                <a:solidFill>
                  <a:srgbClr val="0A4B75"/>
                </a:solidFill>
                <a:latin typeface="Calibri" pitchFamily="34" charset="0"/>
                <a:ea typeface="Calibri" pitchFamily="34" charset="-122"/>
                <a:cs typeface="Calibri" pitchFamily="34" charset="-120"/>
              </a:rPr>
              <a:t>Where the bar comes from</a:t>
            </a:r>
            <a:endParaRPr lang="en-US" sz="1400" dirty="0"/>
          </a:p>
        </p:txBody>
      </p:sp>
      <p:sp>
        <p:nvSpPr>
          <p:cNvPr id="10" name="Text 6"/>
          <p:cNvSpPr/>
          <p:nvPr/>
        </p:nvSpPr>
        <p:spPr>
          <a:xfrm>
            <a:off x="8951976" y="3730752"/>
            <a:ext cx="2423160" cy="1280160"/>
          </a:xfrm>
          <a:prstGeom prst="rect">
            <a:avLst/>
          </a:prstGeom>
          <a:noFill/>
          <a:ln/>
        </p:spPr>
        <p:txBody>
          <a:bodyPr wrap="square" lIns="0" tIns="0" rIns="0" bIns="0" rtlCol="0" anchor="ctr"/>
          <a:lstStyle/>
          <a:p>
            <a:pPr indent="0" marL="0">
              <a:lnSpc>
                <a:spcPts val="1700"/>
              </a:lnSpc>
              <a:buNone/>
            </a:pPr>
            <a:r>
              <a:rPr lang="en-US" sz="1250" dirty="0">
                <a:solidFill>
                  <a:srgbClr val="53606A"/>
                </a:solidFill>
                <a:latin typeface="Calibri" pitchFamily="34" charset="0"/>
                <a:ea typeface="Calibri" pitchFamily="34" charset="-122"/>
                <a:cs typeface="Calibri" pitchFamily="34" charset="-120"/>
              </a:rPr>
              <a:t>The dates typed on the project — unless the project is planned in detail and set to follow its plan. Then the bar is the plan.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PROJECT DETAIL</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One project, end to end</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133088" y="1463040"/>
            <a:ext cx="7552944" cy="4206240"/>
          </a:xfrm>
          <a:prstGeom prst="roundRect">
            <a:avLst>
              <a:gd name="adj" fmla="val 1304"/>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detail.png">    </p:cNvPr>
          <p:cNvPicPr>
            <a:picLocks noChangeAspect="1"/>
          </p:cNvPicPr>
          <p:nvPr/>
        </p:nvPicPr>
        <p:blipFill>
          <a:blip r:embed="rId2"/>
          <a:srcRect l="0" r="0" t="0" b="0"/>
          <a:stretch/>
        </p:blipFill>
        <p:spPr>
          <a:xfrm>
            <a:off x="4224528" y="1554480"/>
            <a:ext cx="7370064" cy="4023360"/>
          </a:xfrm>
          <a:prstGeom prst="rect">
            <a:avLst/>
          </a:prstGeom>
        </p:spPr>
      </p:pic>
      <p:sp>
        <p:nvSpPr>
          <p:cNvPr id="7" name="Shape 3"/>
          <p:cNvSpPr/>
          <p:nvPr/>
        </p:nvSpPr>
        <p:spPr>
          <a:xfrm>
            <a:off x="566928" y="1700784"/>
            <a:ext cx="384048" cy="384048"/>
          </a:xfrm>
          <a:prstGeom prst="ellipse">
            <a:avLst/>
          </a:prstGeom>
          <a:solidFill>
            <a:srgbClr val="12AEBE"/>
          </a:solidFill>
          <a:ln/>
        </p:spPr>
      </p:sp>
      <p:sp>
        <p:nvSpPr>
          <p:cNvPr id="8" name="Text 4"/>
          <p:cNvSpPr/>
          <p:nvPr/>
        </p:nvSpPr>
        <p:spPr>
          <a:xfrm>
            <a:off x="566928"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1152144" y="1664208"/>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Its phases and gates</a:t>
            </a:r>
            <a:endParaRPr lang="en-US" sz="1600" dirty="0"/>
          </a:p>
        </p:txBody>
      </p:sp>
      <p:sp>
        <p:nvSpPr>
          <p:cNvPr id="10" name="Text 6"/>
          <p:cNvSpPr/>
          <p:nvPr/>
        </p:nvSpPr>
        <p:spPr>
          <a:xfrm>
            <a:off x="1152144" y="1975104"/>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The dates for each, and how far through the current one it is.</a:t>
            </a:r>
            <a:endParaRPr lang="en-US" sz="1350" dirty="0"/>
          </a:p>
        </p:txBody>
      </p:sp>
      <p:sp>
        <p:nvSpPr>
          <p:cNvPr id="11" name="Shape 7"/>
          <p:cNvSpPr/>
          <p:nvPr/>
        </p:nvSpPr>
        <p:spPr>
          <a:xfrm>
            <a:off x="566928" y="2944368"/>
            <a:ext cx="384048" cy="384048"/>
          </a:xfrm>
          <a:prstGeom prst="ellipse">
            <a:avLst/>
          </a:prstGeom>
          <a:solidFill>
            <a:srgbClr val="12AEBE"/>
          </a:solidFill>
          <a:ln/>
        </p:spPr>
      </p:sp>
      <p:sp>
        <p:nvSpPr>
          <p:cNvPr id="12" name="Text 8"/>
          <p:cNvSpPr/>
          <p:nvPr/>
        </p:nvSpPr>
        <p:spPr>
          <a:xfrm>
            <a:off x="566928"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1152144" y="2907792"/>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The money</a:t>
            </a:r>
            <a:endParaRPr lang="en-US" sz="1600" dirty="0"/>
          </a:p>
        </p:txBody>
      </p:sp>
      <p:sp>
        <p:nvSpPr>
          <p:cNvPr id="14" name="Text 10"/>
          <p:cNvSpPr/>
          <p:nvPr/>
        </p:nvSpPr>
        <p:spPr>
          <a:xfrm>
            <a:off x="1152144" y="3218688"/>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Budget, spend, what is agreed and when each invoice is due.</a:t>
            </a:r>
            <a:endParaRPr lang="en-US" sz="1350" dirty="0"/>
          </a:p>
        </p:txBody>
      </p:sp>
      <p:sp>
        <p:nvSpPr>
          <p:cNvPr id="15" name="Shape 11"/>
          <p:cNvSpPr/>
          <p:nvPr/>
        </p:nvSpPr>
        <p:spPr>
          <a:xfrm>
            <a:off x="566928" y="4187952"/>
            <a:ext cx="384048" cy="384048"/>
          </a:xfrm>
          <a:prstGeom prst="ellipse">
            <a:avLst/>
          </a:prstGeom>
          <a:solidFill>
            <a:srgbClr val="12AEBE"/>
          </a:solidFill>
          <a:ln/>
        </p:spPr>
      </p:sp>
      <p:sp>
        <p:nvSpPr>
          <p:cNvPr id="16" name="Text 12"/>
          <p:cNvSpPr/>
          <p:nvPr/>
        </p:nvSpPr>
        <p:spPr>
          <a:xfrm>
            <a:off x="566928"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1152144" y="4151376"/>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Who is working on it</a:t>
            </a:r>
            <a:endParaRPr lang="en-US" sz="1600" dirty="0"/>
          </a:p>
        </p:txBody>
      </p:sp>
      <p:sp>
        <p:nvSpPr>
          <p:cNvPr id="18" name="Text 14"/>
          <p:cNvSpPr/>
          <p:nvPr/>
        </p:nvSpPr>
        <p:spPr>
          <a:xfrm>
            <a:off x="1152144" y="4462272"/>
            <a:ext cx="2779776" cy="82296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Every person, every month, with their share of the project.</a:t>
            </a:r>
            <a:endParaRPr lang="en-US" sz="1350" dirty="0"/>
          </a:p>
        </p:txBody>
      </p:sp>
      <p:sp>
        <p:nvSpPr>
          <p:cNvPr id="19" name="Text 15"/>
          <p:cNvSpPr/>
          <p:nvPr/>
        </p:nvSpPr>
        <p:spPr>
          <a:xfrm>
            <a:off x="566928" y="5449824"/>
            <a:ext cx="3566160" cy="365760"/>
          </a:xfrm>
          <a:prstGeom prst="rect">
            <a:avLst/>
          </a:prstGeom>
          <a:noFill/>
          <a:ln/>
        </p:spPr>
        <p:txBody>
          <a:bodyPr wrap="square" lIns="0" tIns="0" rIns="0" bIns="0" rtlCol="0" anchor="ctr"/>
          <a:lstStyle/>
          <a:p>
            <a:pPr indent="0" marL="0">
              <a:buNone/>
            </a:pPr>
            <a:r>
              <a:rPr lang="en-US" sz="1250" i="1" dirty="0">
                <a:solidFill>
                  <a:srgbClr val="0A4B75"/>
                </a:solidFill>
                <a:latin typeface="Calibri" pitchFamily="34" charset="0"/>
                <a:ea typeface="Calibri" pitchFamily="34" charset="-122"/>
                <a:cs typeface="Calibri" pitchFamily="34" charset="-120"/>
              </a:rPr>
              <a:t>The whole screen exports to PDF, every tab included.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PLANNING</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A real plan, not a picture of one</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75488" y="1426464"/>
            <a:ext cx="7772400" cy="4343400"/>
          </a:xfrm>
          <a:prstGeom prst="roundRect">
            <a:avLst>
              <a:gd name="adj" fmla="val 1263"/>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planning.png">    </p:cNvPr>
          <p:cNvPicPr>
            <a:picLocks noChangeAspect="1"/>
          </p:cNvPicPr>
          <p:nvPr/>
        </p:nvPicPr>
        <p:blipFill>
          <a:blip r:embed="rId2"/>
          <a:srcRect l="0" r="0" t="0" b="0"/>
          <a:stretch/>
        </p:blipFill>
        <p:spPr>
          <a:xfrm>
            <a:off x="566928" y="1517904"/>
            <a:ext cx="7589520" cy="4160520"/>
          </a:xfrm>
          <a:prstGeom prst="rect">
            <a:avLst/>
          </a:prstGeom>
        </p:spPr>
      </p:pic>
      <p:sp>
        <p:nvSpPr>
          <p:cNvPr id="7" name="Shape 3"/>
          <p:cNvSpPr/>
          <p:nvPr/>
        </p:nvSpPr>
        <p:spPr>
          <a:xfrm>
            <a:off x="8485632" y="1664208"/>
            <a:ext cx="384048" cy="384048"/>
          </a:xfrm>
          <a:prstGeom prst="ellipse">
            <a:avLst/>
          </a:prstGeom>
          <a:solidFill>
            <a:srgbClr val="12AEBE"/>
          </a:solidFill>
          <a:ln/>
        </p:spPr>
      </p:sp>
      <p:sp>
        <p:nvSpPr>
          <p:cNvPr id="8" name="Text 4"/>
          <p:cNvSpPr/>
          <p:nvPr/>
        </p:nvSpPr>
        <p:spPr>
          <a:xfrm>
            <a:off x="8485632" y="1664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9070848" y="1627632"/>
            <a:ext cx="252374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Microsoft Project dependencies</a:t>
            </a:r>
            <a:endParaRPr lang="en-US" sz="1600" dirty="0"/>
          </a:p>
        </p:txBody>
      </p:sp>
      <p:sp>
        <p:nvSpPr>
          <p:cNvPr id="10" name="Text 6"/>
          <p:cNvSpPr/>
          <p:nvPr/>
        </p:nvSpPr>
        <p:spPr>
          <a:xfrm>
            <a:off x="9070848" y="1938528"/>
            <a:ext cx="2523744" cy="96012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Finish-to-start and the other three, with lag, and eight constraint types.</a:t>
            </a:r>
            <a:endParaRPr lang="en-US" sz="1350" dirty="0"/>
          </a:p>
        </p:txBody>
      </p:sp>
      <p:sp>
        <p:nvSpPr>
          <p:cNvPr id="11" name="Shape 7"/>
          <p:cNvSpPr/>
          <p:nvPr/>
        </p:nvSpPr>
        <p:spPr>
          <a:xfrm>
            <a:off x="8485632" y="3035808"/>
            <a:ext cx="384048" cy="384048"/>
          </a:xfrm>
          <a:prstGeom prst="ellipse">
            <a:avLst/>
          </a:prstGeom>
          <a:solidFill>
            <a:srgbClr val="12AEBE"/>
          </a:solidFill>
          <a:ln/>
        </p:spPr>
      </p:sp>
      <p:sp>
        <p:nvSpPr>
          <p:cNvPr id="12" name="Text 8"/>
          <p:cNvSpPr/>
          <p:nvPr/>
        </p:nvSpPr>
        <p:spPr>
          <a:xfrm>
            <a:off x="8485632" y="3035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9070848" y="2999232"/>
            <a:ext cx="252374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The critical path</a:t>
            </a:r>
            <a:endParaRPr lang="en-US" sz="1600" dirty="0"/>
          </a:p>
        </p:txBody>
      </p:sp>
      <p:sp>
        <p:nvSpPr>
          <p:cNvPr id="14" name="Text 10"/>
          <p:cNvSpPr/>
          <p:nvPr/>
        </p:nvSpPr>
        <p:spPr>
          <a:xfrm>
            <a:off x="9070848" y="3310128"/>
            <a:ext cx="2523744" cy="96012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Which tasks the finish date actually turns on — and how much float the rest have.</a:t>
            </a:r>
            <a:endParaRPr lang="en-US" sz="1350" dirty="0"/>
          </a:p>
        </p:txBody>
      </p:sp>
      <p:sp>
        <p:nvSpPr>
          <p:cNvPr id="15" name="Shape 11"/>
          <p:cNvSpPr/>
          <p:nvPr/>
        </p:nvSpPr>
        <p:spPr>
          <a:xfrm>
            <a:off x="8485632" y="4407408"/>
            <a:ext cx="384048" cy="384048"/>
          </a:xfrm>
          <a:prstGeom prst="ellipse">
            <a:avLst/>
          </a:prstGeom>
          <a:solidFill>
            <a:srgbClr val="12AEBE"/>
          </a:solidFill>
          <a:ln/>
        </p:spPr>
      </p:sp>
      <p:sp>
        <p:nvSpPr>
          <p:cNvPr id="16" name="Text 12"/>
          <p:cNvSpPr/>
          <p:nvPr/>
        </p:nvSpPr>
        <p:spPr>
          <a:xfrm>
            <a:off x="8485632"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9070848" y="4370832"/>
            <a:ext cx="2523744"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Weekdays only</a:t>
            </a:r>
            <a:endParaRPr lang="en-US" sz="1600" dirty="0"/>
          </a:p>
        </p:txBody>
      </p:sp>
      <p:sp>
        <p:nvSpPr>
          <p:cNvPr id="18" name="Text 14"/>
          <p:cNvSpPr/>
          <p:nvPr/>
        </p:nvSpPr>
        <p:spPr>
          <a:xfrm>
            <a:off x="9070848" y="4681728"/>
            <a:ext cx="2523744" cy="960120"/>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Work never lands on a weekend, so the dates are dates you could work to.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4B75"/>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THE PART THAT SAVES THE ARGUMENT</a:t>
            </a:r>
            <a:endParaRPr lang="en-US" sz="1200" dirty="0"/>
          </a:p>
        </p:txBody>
      </p:sp>
      <p:sp>
        <p:nvSpPr>
          <p:cNvPr id="3" name="Text 1"/>
          <p:cNvSpPr/>
          <p:nvPr/>
        </p:nvSpPr>
        <p:spPr>
          <a:xfrm>
            <a:off x="566928" y="749808"/>
            <a:ext cx="100584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 plan books the people</a:t>
            </a:r>
            <a:endParaRPr lang="en-US" sz="3400" dirty="0"/>
          </a:p>
        </p:txBody>
      </p:sp>
      <p:sp>
        <p:nvSpPr>
          <p:cNvPr id="4" name="Text 2"/>
          <p:cNvSpPr/>
          <p:nvPr/>
        </p:nvSpPr>
        <p:spPr>
          <a:xfrm>
            <a:off x="566928" y="1517904"/>
            <a:ext cx="6766560" cy="822960"/>
          </a:xfrm>
          <a:prstGeom prst="rect">
            <a:avLst/>
          </a:prstGeom>
          <a:noFill/>
          <a:ln/>
        </p:spPr>
        <p:txBody>
          <a:bodyPr wrap="square" lIns="0" tIns="0" rIns="0" bIns="0" rtlCol="0" anchor="ctr"/>
          <a:lstStyle/>
          <a:p>
            <a:pPr indent="0" marL="0">
              <a:lnSpc>
                <a:spcPts val="2200"/>
              </a:lnSpc>
              <a:buNone/>
            </a:pPr>
            <a:r>
              <a:rPr lang="en-US" sz="1500" dirty="0">
                <a:solidFill>
                  <a:srgbClr val="ACD7FA"/>
                </a:solidFill>
                <a:latin typeface="Calibri" pitchFamily="34" charset="0"/>
                <a:ea typeface="Calibri" pitchFamily="34" charset="-122"/>
                <a:cs typeface="Calibri" pitchFamily="34" charset="-120"/>
              </a:rPr>
              <a:t>Give a task an owner and how much of their day it takes, and the hours land in resourcing by themselves — in the months the work actually falls in.</a:t>
            </a:r>
            <a:endParaRPr lang="en-US" sz="1500" dirty="0"/>
          </a:p>
        </p:txBody>
      </p:sp>
      <p:sp>
        <p:nvSpPr>
          <p:cNvPr id="5" name="Shape 3"/>
          <p:cNvSpPr/>
          <p:nvPr/>
        </p:nvSpPr>
        <p:spPr>
          <a:xfrm>
            <a:off x="566928" y="2615184"/>
            <a:ext cx="2176272" cy="1572768"/>
          </a:xfrm>
          <a:prstGeom prst="roundRect">
            <a:avLst>
              <a:gd name="adj" fmla="val 4651"/>
            </a:avLst>
          </a:prstGeom>
          <a:solidFill>
            <a:srgbClr val="10557F"/>
          </a:solidFill>
          <a:ln w="12700">
            <a:solidFill>
              <a:srgbClr val="2A6D97"/>
            </a:solidFill>
            <a:prstDash val="solid"/>
          </a:ln>
        </p:spPr>
      </p:sp>
      <p:sp>
        <p:nvSpPr>
          <p:cNvPr id="6" name="Text 4"/>
          <p:cNvSpPr/>
          <p:nvPr/>
        </p:nvSpPr>
        <p:spPr>
          <a:xfrm>
            <a:off x="768096" y="2798064"/>
            <a:ext cx="1773936"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libri" pitchFamily="34" charset="0"/>
                <a:ea typeface="Calibri" pitchFamily="34" charset="-122"/>
                <a:cs typeface="Calibri" pitchFamily="34" charset="-120"/>
              </a:rPr>
              <a:t>A 2-day task</a:t>
            </a:r>
            <a:endParaRPr lang="en-US" sz="1700" dirty="0"/>
          </a:p>
        </p:txBody>
      </p:sp>
      <p:sp>
        <p:nvSpPr>
          <p:cNvPr id="7" name="Text 5"/>
          <p:cNvSpPr/>
          <p:nvPr/>
        </p:nvSpPr>
        <p:spPr>
          <a:xfrm>
            <a:off x="768096" y="3401568"/>
            <a:ext cx="1773936" cy="640080"/>
          </a:xfrm>
          <a:prstGeom prst="rect">
            <a:avLst/>
          </a:prstGeom>
          <a:noFill/>
          <a:ln/>
        </p:spPr>
        <p:txBody>
          <a:bodyPr wrap="square" lIns="0" tIns="0" rIns="0" bIns="0" rtlCol="0" anchor="ctr"/>
          <a:lstStyle/>
          <a:p>
            <a:pPr indent="0" marL="0">
              <a:lnSpc>
                <a:spcPts val="1500"/>
              </a:lnSpc>
              <a:buNone/>
            </a:pPr>
            <a:r>
              <a:rPr lang="en-US" sz="1150" dirty="0">
                <a:solidFill>
                  <a:srgbClr val="ACD7FA"/>
                </a:solidFill>
                <a:latin typeface="Calibri" pitchFamily="34" charset="0"/>
                <a:ea typeface="Calibri" pitchFamily="34" charset="-122"/>
                <a:cs typeface="Calibri" pitchFamily="34" charset="-120"/>
              </a:rPr>
              <a:t>Two working days of work in the plan</a:t>
            </a:r>
            <a:endParaRPr lang="en-US" sz="1150" dirty="0"/>
          </a:p>
        </p:txBody>
      </p:sp>
      <p:sp>
        <p:nvSpPr>
          <p:cNvPr id="8" name="Text 6"/>
          <p:cNvSpPr/>
          <p:nvPr/>
        </p:nvSpPr>
        <p:spPr>
          <a:xfrm>
            <a:off x="2761488" y="3127248"/>
            <a:ext cx="219456" cy="365760"/>
          </a:xfrm>
          <a:prstGeom prst="rect">
            <a:avLst/>
          </a:prstGeom>
          <a:noFill/>
          <a:ln/>
        </p:spPr>
        <p:txBody>
          <a:bodyPr wrap="square" lIns="0" tIns="0" rIns="0" bIns="0" rtlCol="0" anchor="ctr"/>
          <a:lstStyle/>
          <a:p>
            <a:pPr algn="ctr" indent="0" marL="0">
              <a:buNone/>
            </a:pPr>
            <a:r>
              <a:rPr lang="en-US" sz="2000" dirty="0">
                <a:solidFill>
                  <a:srgbClr val="12AEBE"/>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962656" y="2615184"/>
            <a:ext cx="2176272" cy="1572768"/>
          </a:xfrm>
          <a:prstGeom prst="roundRect">
            <a:avLst>
              <a:gd name="adj" fmla="val 4651"/>
            </a:avLst>
          </a:prstGeom>
          <a:solidFill>
            <a:srgbClr val="10557F"/>
          </a:solidFill>
          <a:ln w="12700">
            <a:solidFill>
              <a:srgbClr val="2A6D97"/>
            </a:solidFill>
            <a:prstDash val="solid"/>
          </a:ln>
        </p:spPr>
      </p:sp>
      <p:sp>
        <p:nvSpPr>
          <p:cNvPr id="10" name="Text 8"/>
          <p:cNvSpPr/>
          <p:nvPr/>
        </p:nvSpPr>
        <p:spPr>
          <a:xfrm>
            <a:off x="3163824" y="2798064"/>
            <a:ext cx="1773936"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libri" pitchFamily="34" charset="0"/>
                <a:ea typeface="Calibri" pitchFamily="34" charset="-122"/>
                <a:cs typeface="Calibri" pitchFamily="34" charset="-120"/>
              </a:rPr>
              <a:t>At 50% of a day</a:t>
            </a:r>
            <a:endParaRPr lang="en-US" sz="1700" dirty="0"/>
          </a:p>
        </p:txBody>
      </p:sp>
      <p:sp>
        <p:nvSpPr>
          <p:cNvPr id="11" name="Text 9"/>
          <p:cNvSpPr/>
          <p:nvPr/>
        </p:nvSpPr>
        <p:spPr>
          <a:xfrm>
            <a:off x="3163824" y="3401568"/>
            <a:ext cx="1773936" cy="640080"/>
          </a:xfrm>
          <a:prstGeom prst="rect">
            <a:avLst/>
          </a:prstGeom>
          <a:noFill/>
          <a:ln/>
        </p:spPr>
        <p:txBody>
          <a:bodyPr wrap="square" lIns="0" tIns="0" rIns="0" bIns="0" rtlCol="0" anchor="ctr"/>
          <a:lstStyle/>
          <a:p>
            <a:pPr indent="0" marL="0">
              <a:lnSpc>
                <a:spcPts val="1500"/>
              </a:lnSpc>
              <a:buNone/>
            </a:pPr>
            <a:r>
              <a:rPr lang="en-US" sz="1150" dirty="0">
                <a:solidFill>
                  <a:srgbClr val="ACD7FA"/>
                </a:solidFill>
                <a:latin typeface="Calibri" pitchFamily="34" charset="0"/>
                <a:ea typeface="Calibri" pitchFamily="34" charset="-122"/>
                <a:cs typeface="Calibri" pitchFamily="34" charset="-120"/>
              </a:rPr>
              <a:t>It takes half of that person’s day while it runs</a:t>
            </a:r>
            <a:endParaRPr lang="en-US" sz="1150" dirty="0"/>
          </a:p>
        </p:txBody>
      </p:sp>
      <p:sp>
        <p:nvSpPr>
          <p:cNvPr id="12" name="Text 10"/>
          <p:cNvSpPr/>
          <p:nvPr/>
        </p:nvSpPr>
        <p:spPr>
          <a:xfrm>
            <a:off x="5157216" y="3127248"/>
            <a:ext cx="219456" cy="365760"/>
          </a:xfrm>
          <a:prstGeom prst="rect">
            <a:avLst/>
          </a:prstGeom>
          <a:noFill/>
          <a:ln/>
        </p:spPr>
        <p:txBody>
          <a:bodyPr wrap="square" lIns="0" tIns="0" rIns="0" bIns="0" rtlCol="0" anchor="ctr"/>
          <a:lstStyle/>
          <a:p>
            <a:pPr algn="ctr" indent="0" marL="0">
              <a:buNone/>
            </a:pPr>
            <a:r>
              <a:rPr lang="en-US" sz="2000" dirty="0">
                <a:solidFill>
                  <a:srgbClr val="12AEBE"/>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5358384" y="2615184"/>
            <a:ext cx="2176272" cy="1572768"/>
          </a:xfrm>
          <a:prstGeom prst="roundRect">
            <a:avLst>
              <a:gd name="adj" fmla="val 4651"/>
            </a:avLst>
          </a:prstGeom>
          <a:solidFill>
            <a:srgbClr val="12AEBE"/>
          </a:solidFill>
          <a:ln w="12700">
            <a:solidFill>
              <a:srgbClr val="12AEBE"/>
            </a:solidFill>
            <a:prstDash val="solid"/>
          </a:ln>
        </p:spPr>
      </p:sp>
      <p:sp>
        <p:nvSpPr>
          <p:cNvPr id="14" name="Text 12"/>
          <p:cNvSpPr/>
          <p:nvPr/>
        </p:nvSpPr>
        <p:spPr>
          <a:xfrm>
            <a:off x="5559552" y="2798064"/>
            <a:ext cx="1773936"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libri" pitchFamily="34" charset="0"/>
                <a:ea typeface="Calibri" pitchFamily="34" charset="-122"/>
                <a:cs typeface="Calibri" pitchFamily="34" charset="-120"/>
              </a:rPr>
              <a:t>= 8 hours booked</a:t>
            </a:r>
            <a:endParaRPr lang="en-US" sz="1700" dirty="0"/>
          </a:p>
        </p:txBody>
      </p:sp>
      <p:sp>
        <p:nvSpPr>
          <p:cNvPr id="15" name="Text 13"/>
          <p:cNvSpPr/>
          <p:nvPr/>
        </p:nvSpPr>
        <p:spPr>
          <a:xfrm>
            <a:off x="5559552" y="3401568"/>
            <a:ext cx="1773936" cy="640080"/>
          </a:xfrm>
          <a:prstGeom prst="rect">
            <a:avLst/>
          </a:prstGeom>
          <a:noFill/>
          <a:ln/>
        </p:spPr>
        <p:txBody>
          <a:bodyPr wrap="square" lIns="0" tIns="0" rIns="0" bIns="0" rtlCol="0" anchor="ctr"/>
          <a:lstStyle/>
          <a:p>
            <a:pPr indent="0" marL="0">
              <a:lnSpc>
                <a:spcPts val="1500"/>
              </a:lnSpc>
              <a:buNone/>
            </a:pPr>
            <a:r>
              <a:rPr lang="en-US" sz="1150" dirty="0">
                <a:solidFill>
                  <a:srgbClr val="05323A"/>
                </a:solidFill>
                <a:latin typeface="Calibri" pitchFamily="34" charset="0"/>
                <a:ea typeface="Calibri" pitchFamily="34" charset="-122"/>
                <a:cs typeface="Calibri" pitchFamily="34" charset="-120"/>
              </a:rPr>
              <a:t>One day of their time, in the month it falls in</a:t>
            </a:r>
            <a:endParaRPr lang="en-US" sz="1150" dirty="0"/>
          </a:p>
        </p:txBody>
      </p:sp>
      <p:sp>
        <p:nvSpPr>
          <p:cNvPr id="16" name="Text 14"/>
          <p:cNvSpPr/>
          <p:nvPr/>
        </p:nvSpPr>
        <p:spPr>
          <a:xfrm>
            <a:off x="566928" y="4443984"/>
            <a:ext cx="67665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While it is on, the booking grid reports rather than accepts</a:t>
            </a:r>
            <a:endParaRPr lang="en-US" sz="1500" dirty="0"/>
          </a:p>
        </p:txBody>
      </p:sp>
      <p:sp>
        <p:nvSpPr>
          <p:cNvPr id="17" name="Text 15"/>
          <p:cNvSpPr/>
          <p:nvPr/>
        </p:nvSpPr>
        <p:spPr>
          <a:xfrm>
            <a:off x="566928" y="4791456"/>
            <a:ext cx="6766560" cy="914400"/>
          </a:xfrm>
          <a:prstGeom prst="rect">
            <a:avLst/>
          </a:prstGeom>
          <a:noFill/>
          <a:ln/>
        </p:spPr>
        <p:txBody>
          <a:bodyPr wrap="square" lIns="0" tIns="0" rIns="0" bIns="0" rtlCol="0" anchor="ctr"/>
          <a:lstStyle/>
          <a:p>
            <a:pPr indent="0" marL="0">
              <a:lnSpc>
                <a:spcPts val="1900"/>
              </a:lnSpc>
              <a:buNone/>
            </a:pPr>
            <a:r>
              <a:rPr lang="en-US" sz="1350" dirty="0">
                <a:solidFill>
                  <a:srgbClr val="ACD7FA"/>
                </a:solidFill>
                <a:latin typeface="Calibri" pitchFamily="34" charset="0"/>
                <a:ea typeface="Calibri" pitchFamily="34" charset="-122"/>
                <a:cs typeface="Calibri" pitchFamily="34" charset="-120"/>
              </a:rPr>
              <a:t>Every figure still shows, per person and per month — greyed, locked, and labelled with where it came from. Nothing typed by hand is overwritten: untick the box and those bookings come straight back.</a:t>
            </a:r>
            <a:endParaRPr lang="en-US" sz="1350" dirty="0"/>
          </a:p>
        </p:txBody>
      </p:sp>
      <p:sp>
        <p:nvSpPr>
          <p:cNvPr id="18" name="Shape 16"/>
          <p:cNvSpPr/>
          <p:nvPr/>
        </p:nvSpPr>
        <p:spPr>
          <a:xfrm>
            <a:off x="7680960" y="1920240"/>
            <a:ext cx="4005072" cy="3931920"/>
          </a:xfrm>
          <a:prstGeom prst="roundRect">
            <a:avLst>
              <a:gd name="adj" fmla="val 1395"/>
            </a:avLst>
          </a:prstGeom>
          <a:solidFill>
            <a:srgbClr val="F2F6F9"/>
          </a:solidFill>
          <a:ln w="12700">
            <a:solidFill>
              <a:srgbClr val="2A6D97"/>
            </a:solidFill>
            <a:prstDash val="solid"/>
          </a:ln>
        </p:spPr>
      </p:sp>
      <p:pic>
        <p:nvPicPr>
          <p:cNvPr id="19" name="Image 0" descr="../deck/locked-grid-crop.png">    </p:cNvPr>
          <p:cNvPicPr>
            <a:picLocks noChangeAspect="1"/>
          </p:cNvPicPr>
          <p:nvPr/>
        </p:nvPicPr>
        <p:blipFill>
          <a:blip r:embed="rId1"/>
          <a:srcRect l="0" r="0" t="0" b="0"/>
          <a:stretch/>
        </p:blipFill>
        <p:spPr>
          <a:xfrm>
            <a:off x="7772400" y="2011680"/>
            <a:ext cx="3822192" cy="3749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ALERTS</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Four kinds of problem, worst first</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133088" y="1463040"/>
            <a:ext cx="7552944" cy="4206240"/>
          </a:xfrm>
          <a:prstGeom prst="roundRect">
            <a:avLst>
              <a:gd name="adj" fmla="val 1304"/>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alerts.png">    </p:cNvPr>
          <p:cNvPicPr>
            <a:picLocks noChangeAspect="1"/>
          </p:cNvPicPr>
          <p:nvPr/>
        </p:nvPicPr>
        <p:blipFill>
          <a:blip r:embed="rId2"/>
          <a:srcRect l="0" r="0" t="0" b="0"/>
          <a:stretch/>
        </p:blipFill>
        <p:spPr>
          <a:xfrm>
            <a:off x="4224528" y="1554480"/>
            <a:ext cx="7370064" cy="4023360"/>
          </a:xfrm>
          <a:prstGeom prst="rect">
            <a:avLst/>
          </a:prstGeom>
        </p:spPr>
      </p:pic>
      <p:sp>
        <p:nvSpPr>
          <p:cNvPr id="7" name="Shape 3"/>
          <p:cNvSpPr/>
          <p:nvPr/>
        </p:nvSpPr>
        <p:spPr>
          <a:xfrm>
            <a:off x="566928" y="1664208"/>
            <a:ext cx="384048" cy="384048"/>
          </a:xfrm>
          <a:prstGeom prst="ellipse">
            <a:avLst/>
          </a:prstGeom>
          <a:solidFill>
            <a:srgbClr val="12AEBE"/>
          </a:solidFill>
          <a:ln/>
        </p:spPr>
      </p:sp>
      <p:sp>
        <p:nvSpPr>
          <p:cNvPr id="8" name="Text 4"/>
          <p:cNvSpPr/>
          <p:nvPr/>
        </p:nvSpPr>
        <p:spPr>
          <a:xfrm>
            <a:off x="566928" y="1664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1152144" y="1627632"/>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Projects at risk</a:t>
            </a:r>
            <a:endParaRPr lang="en-US" sz="1600" dirty="0"/>
          </a:p>
        </p:txBody>
      </p:sp>
      <p:sp>
        <p:nvSpPr>
          <p:cNvPr id="10" name="Text 6"/>
          <p:cNvSpPr/>
          <p:nvPr/>
        </p:nvSpPr>
        <p:spPr>
          <a:xfrm>
            <a:off x="1152144" y="1938528"/>
            <a:ext cx="2779776" cy="603504"/>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Flagged by the project manager, with what is driving it.</a:t>
            </a:r>
            <a:endParaRPr lang="en-US" sz="1350" dirty="0"/>
          </a:p>
        </p:txBody>
      </p:sp>
      <p:sp>
        <p:nvSpPr>
          <p:cNvPr id="11" name="Shape 7"/>
          <p:cNvSpPr/>
          <p:nvPr/>
        </p:nvSpPr>
        <p:spPr>
          <a:xfrm>
            <a:off x="566928" y="2633472"/>
            <a:ext cx="384048" cy="384048"/>
          </a:xfrm>
          <a:prstGeom prst="ellipse">
            <a:avLst/>
          </a:prstGeom>
          <a:solidFill>
            <a:srgbClr val="12AEBE"/>
          </a:solidFill>
          <a:ln/>
        </p:spPr>
      </p:sp>
      <p:sp>
        <p:nvSpPr>
          <p:cNvPr id="12" name="Text 8"/>
          <p:cNvSpPr/>
          <p:nvPr/>
        </p:nvSpPr>
        <p:spPr>
          <a:xfrm>
            <a:off x="566928" y="2633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1152144" y="2596896"/>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People overbooked</a:t>
            </a:r>
            <a:endParaRPr lang="en-US" sz="1600" dirty="0"/>
          </a:p>
        </p:txBody>
      </p:sp>
      <p:sp>
        <p:nvSpPr>
          <p:cNvPr id="14" name="Text 10"/>
          <p:cNvSpPr/>
          <p:nvPr/>
        </p:nvSpPr>
        <p:spPr>
          <a:xfrm>
            <a:off x="1152144" y="2907792"/>
            <a:ext cx="2779776" cy="603504"/>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The same detail the resourcing graphs show, per month.</a:t>
            </a:r>
            <a:endParaRPr lang="en-US" sz="1350" dirty="0"/>
          </a:p>
        </p:txBody>
      </p:sp>
      <p:sp>
        <p:nvSpPr>
          <p:cNvPr id="15" name="Shape 11"/>
          <p:cNvSpPr/>
          <p:nvPr/>
        </p:nvSpPr>
        <p:spPr>
          <a:xfrm>
            <a:off x="566928" y="3602736"/>
            <a:ext cx="384048" cy="384048"/>
          </a:xfrm>
          <a:prstGeom prst="ellipse">
            <a:avLst/>
          </a:prstGeom>
          <a:solidFill>
            <a:srgbClr val="12AEBE"/>
          </a:solidFill>
          <a:ln/>
        </p:spPr>
      </p:sp>
      <p:sp>
        <p:nvSpPr>
          <p:cNvPr id="16" name="Text 12"/>
          <p:cNvSpPr/>
          <p:nvPr/>
        </p:nvSpPr>
        <p:spPr>
          <a:xfrm>
            <a:off x="566928" y="36027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1152144" y="3566160"/>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Budgets nearly gone</a:t>
            </a:r>
            <a:endParaRPr lang="en-US" sz="1600" dirty="0"/>
          </a:p>
        </p:txBody>
      </p:sp>
      <p:sp>
        <p:nvSpPr>
          <p:cNvPr id="18" name="Text 14"/>
          <p:cNvSpPr/>
          <p:nvPr/>
        </p:nvSpPr>
        <p:spPr>
          <a:xfrm>
            <a:off x="1152144" y="3877056"/>
            <a:ext cx="2779776" cy="603504"/>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Before the approval conversation, not after.</a:t>
            </a:r>
            <a:endParaRPr lang="en-US" sz="1350" dirty="0"/>
          </a:p>
        </p:txBody>
      </p:sp>
      <p:sp>
        <p:nvSpPr>
          <p:cNvPr id="19" name="Shape 15"/>
          <p:cNvSpPr/>
          <p:nvPr/>
        </p:nvSpPr>
        <p:spPr>
          <a:xfrm>
            <a:off x="566928" y="4572000"/>
            <a:ext cx="384048" cy="384048"/>
          </a:xfrm>
          <a:prstGeom prst="ellipse">
            <a:avLst/>
          </a:prstGeom>
          <a:solidFill>
            <a:srgbClr val="12AEBE"/>
          </a:solidFill>
          <a:ln/>
        </p:spPr>
      </p:sp>
      <p:sp>
        <p:nvSpPr>
          <p:cNvPr id="20" name="Text 16"/>
          <p:cNvSpPr/>
          <p:nvPr/>
        </p:nvSpPr>
        <p:spPr>
          <a:xfrm>
            <a:off x="566928"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p:nvPr/>
        </p:nvSpPr>
        <p:spPr>
          <a:xfrm>
            <a:off x="1152144" y="4535424"/>
            <a:ext cx="277977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Dates that have passed</a:t>
            </a:r>
            <a:endParaRPr lang="en-US" sz="1600" dirty="0"/>
          </a:p>
        </p:txBody>
      </p:sp>
      <p:sp>
        <p:nvSpPr>
          <p:cNvPr id="22" name="Text 18"/>
          <p:cNvSpPr/>
          <p:nvPr/>
        </p:nvSpPr>
        <p:spPr>
          <a:xfrm>
            <a:off x="1152144" y="4846320"/>
            <a:ext cx="2779776" cy="603504"/>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Milestones and invoices that quietly went by.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PRACTICALITIES</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Your data, your machine</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Shape 2"/>
          <p:cNvSpPr/>
          <p:nvPr/>
        </p:nvSpPr>
        <p:spPr>
          <a:xfrm>
            <a:off x="475488" y="1426464"/>
            <a:ext cx="6858000" cy="4251960"/>
          </a:xfrm>
          <a:prstGeom prst="roundRect">
            <a:avLst>
              <a:gd name="adj" fmla="val 1290"/>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6" name="Image 1" descr="../deck/data-crop.png">    </p:cNvPr>
          <p:cNvPicPr>
            <a:picLocks noChangeAspect="1"/>
          </p:cNvPicPr>
          <p:nvPr/>
        </p:nvPicPr>
        <p:blipFill>
          <a:blip r:embed="rId2"/>
          <a:srcRect l="0" r="0" t="0" b="0"/>
          <a:stretch/>
        </p:blipFill>
        <p:spPr>
          <a:xfrm>
            <a:off x="566928" y="1517904"/>
            <a:ext cx="6675120" cy="4069080"/>
          </a:xfrm>
          <a:prstGeom prst="rect">
            <a:avLst/>
          </a:prstGeom>
        </p:spPr>
      </p:pic>
      <p:sp>
        <p:nvSpPr>
          <p:cNvPr id="7" name="Shape 3"/>
          <p:cNvSpPr/>
          <p:nvPr/>
        </p:nvSpPr>
        <p:spPr>
          <a:xfrm>
            <a:off x="7589520" y="1645920"/>
            <a:ext cx="384048" cy="384048"/>
          </a:xfrm>
          <a:prstGeom prst="ellipse">
            <a:avLst/>
          </a:prstGeom>
          <a:solidFill>
            <a:srgbClr val="12AEBE"/>
          </a:solidFill>
          <a:ln/>
        </p:spPr>
      </p:sp>
      <p:sp>
        <p:nvSpPr>
          <p:cNvPr id="8" name="Text 4"/>
          <p:cNvSpPr/>
          <p:nvPr/>
        </p:nvSpPr>
        <p:spPr>
          <a:xfrm>
            <a:off x="758952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8174736" y="1609344"/>
            <a:ext cx="341985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Nothing leaves the browser</a:t>
            </a:r>
            <a:endParaRPr lang="en-US" sz="1600" dirty="0"/>
          </a:p>
        </p:txBody>
      </p:sp>
      <p:sp>
        <p:nvSpPr>
          <p:cNvPr id="10" name="Text 6"/>
          <p:cNvSpPr/>
          <p:nvPr/>
        </p:nvSpPr>
        <p:spPr>
          <a:xfrm>
            <a:off x="8174736" y="1920240"/>
            <a:ext cx="3419856"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No server, no account, no data sitting anywhere you did not put it.</a:t>
            </a:r>
            <a:endParaRPr lang="en-US" sz="1350" dirty="0"/>
          </a:p>
        </p:txBody>
      </p:sp>
      <p:sp>
        <p:nvSpPr>
          <p:cNvPr id="11" name="Shape 7"/>
          <p:cNvSpPr/>
          <p:nvPr/>
        </p:nvSpPr>
        <p:spPr>
          <a:xfrm>
            <a:off x="7589520" y="2706624"/>
            <a:ext cx="384048" cy="384048"/>
          </a:xfrm>
          <a:prstGeom prst="ellipse">
            <a:avLst/>
          </a:prstGeom>
          <a:solidFill>
            <a:srgbClr val="12AEBE"/>
          </a:solidFill>
          <a:ln/>
        </p:spPr>
      </p:sp>
      <p:sp>
        <p:nvSpPr>
          <p:cNvPr id="12" name="Text 8"/>
          <p:cNvSpPr/>
          <p:nvPr/>
        </p:nvSpPr>
        <p:spPr>
          <a:xfrm>
            <a:off x="7589520" y="2706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p:nvPr/>
        </p:nvSpPr>
        <p:spPr>
          <a:xfrm>
            <a:off x="8174736" y="2670048"/>
            <a:ext cx="341985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In and out as a file</a:t>
            </a:r>
            <a:endParaRPr lang="en-US" sz="1600" dirty="0"/>
          </a:p>
        </p:txBody>
      </p:sp>
      <p:sp>
        <p:nvSpPr>
          <p:cNvPr id="14" name="Text 10"/>
          <p:cNvSpPr/>
          <p:nvPr/>
        </p:nvSpPr>
        <p:spPr>
          <a:xfrm>
            <a:off x="8174736" y="2980944"/>
            <a:ext cx="3419856"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Whole portfolio as JSON for a backup; CSV per sheet for everyone else.</a:t>
            </a:r>
            <a:endParaRPr lang="en-US" sz="1350" dirty="0"/>
          </a:p>
        </p:txBody>
      </p:sp>
      <p:sp>
        <p:nvSpPr>
          <p:cNvPr id="15" name="Shape 11"/>
          <p:cNvSpPr/>
          <p:nvPr/>
        </p:nvSpPr>
        <p:spPr>
          <a:xfrm>
            <a:off x="7589520" y="3767328"/>
            <a:ext cx="384048" cy="384048"/>
          </a:xfrm>
          <a:prstGeom prst="ellipse">
            <a:avLst/>
          </a:prstGeom>
          <a:solidFill>
            <a:srgbClr val="12AEBE"/>
          </a:solidFill>
          <a:ln/>
        </p:spPr>
      </p:sp>
      <p:sp>
        <p:nvSpPr>
          <p:cNvPr id="16" name="Text 12"/>
          <p:cNvSpPr/>
          <p:nvPr/>
        </p:nvSpPr>
        <p:spPr>
          <a:xfrm>
            <a:off x="7589520" y="3767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8174736" y="3730752"/>
            <a:ext cx="341985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Light and dark</a:t>
            </a:r>
            <a:endParaRPr lang="en-US" sz="1600" dirty="0"/>
          </a:p>
        </p:txBody>
      </p:sp>
      <p:sp>
        <p:nvSpPr>
          <p:cNvPr id="18" name="Text 14"/>
          <p:cNvSpPr/>
          <p:nvPr/>
        </p:nvSpPr>
        <p:spPr>
          <a:xfrm>
            <a:off x="8174736" y="4041648"/>
            <a:ext cx="3419856"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Reads on a projector in a bright room and on a laptop at midnight.</a:t>
            </a:r>
            <a:endParaRPr lang="en-US" sz="1350" dirty="0"/>
          </a:p>
        </p:txBody>
      </p:sp>
      <p:sp>
        <p:nvSpPr>
          <p:cNvPr id="19" name="Shape 15"/>
          <p:cNvSpPr/>
          <p:nvPr/>
        </p:nvSpPr>
        <p:spPr>
          <a:xfrm>
            <a:off x="7589520" y="4828032"/>
            <a:ext cx="384048" cy="384048"/>
          </a:xfrm>
          <a:prstGeom prst="ellipse">
            <a:avLst/>
          </a:prstGeom>
          <a:solidFill>
            <a:srgbClr val="12AEBE"/>
          </a:solidFill>
          <a:ln/>
        </p:spPr>
      </p:sp>
      <p:sp>
        <p:nvSpPr>
          <p:cNvPr id="20" name="Text 16"/>
          <p:cNvSpPr/>
          <p:nvPr/>
        </p:nvSpPr>
        <p:spPr>
          <a:xfrm>
            <a:off x="7589520" y="4828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p:nvPr/>
        </p:nvSpPr>
        <p:spPr>
          <a:xfrm>
            <a:off x="8174736" y="4791456"/>
            <a:ext cx="3419856" cy="310896"/>
          </a:xfrm>
          <a:prstGeom prst="rect">
            <a:avLst/>
          </a:prstGeom>
          <a:noFill/>
          <a:ln/>
        </p:spPr>
        <p:txBody>
          <a:bodyPr wrap="square" lIns="0" tIns="0" rIns="0" bIns="0" rtlCol="0" anchor="ctr"/>
          <a:lstStyle/>
          <a:p>
            <a:pPr indent="0" marL="0">
              <a:buNone/>
            </a:pPr>
            <a:r>
              <a:rPr lang="en-US" sz="1600" b="1" dirty="0">
                <a:solidFill>
                  <a:srgbClr val="0A4B75"/>
                </a:solidFill>
                <a:latin typeface="Calibri" pitchFamily="34" charset="0"/>
                <a:ea typeface="Calibri" pitchFamily="34" charset="-122"/>
                <a:cs typeface="Calibri" pitchFamily="34" charset="-120"/>
              </a:rPr>
              <a:t>Prints properly</a:t>
            </a:r>
            <a:endParaRPr lang="en-US" sz="1600" dirty="0"/>
          </a:p>
        </p:txBody>
      </p:sp>
      <p:sp>
        <p:nvSpPr>
          <p:cNvPr id="22" name="Text 18"/>
          <p:cNvSpPr/>
          <p:nvPr/>
        </p:nvSpPr>
        <p:spPr>
          <a:xfrm>
            <a:off x="8174736" y="5102352"/>
            <a:ext cx="3419856" cy="713232"/>
          </a:xfrm>
          <a:prstGeom prst="rect">
            <a:avLst/>
          </a:prstGeom>
          <a:noFill/>
          <a:ln/>
        </p:spPr>
        <p:txBody>
          <a:bodyPr wrap="square" lIns="0" tIns="0" rIns="0" bIns="0" rtlCol="0" anchor="ctr"/>
          <a:lstStyle/>
          <a:p>
            <a:pPr indent="0" marL="0">
              <a:lnSpc>
                <a:spcPts val="1800"/>
              </a:lnSpc>
              <a:buNone/>
            </a:pPr>
            <a:r>
              <a:rPr lang="en-US" sz="1350" dirty="0">
                <a:solidFill>
                  <a:srgbClr val="53606A"/>
                </a:solidFill>
                <a:latin typeface="Calibri" pitchFamily="34" charset="0"/>
                <a:ea typeface="Calibri" pitchFamily="34" charset="-122"/>
                <a:cs typeface="Calibri" pitchFamily="34" charset="-120"/>
              </a:rPr>
              <a:t>PDF export is laid out for paper, and always in the light theme.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DESIGN</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One mark, two grounds</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Text 2"/>
          <p:cNvSpPr/>
          <p:nvPr/>
        </p:nvSpPr>
        <p:spPr>
          <a:xfrm>
            <a:off x="566928" y="1444752"/>
            <a:ext cx="10515600" cy="640080"/>
          </a:xfrm>
          <a:prstGeom prst="rect">
            <a:avLst/>
          </a:prstGeom>
          <a:noFill/>
          <a:ln/>
        </p:spPr>
        <p:txBody>
          <a:bodyPr wrap="square" lIns="0" tIns="0" rIns="0" bIns="0" rtlCol="0" anchor="ctr"/>
          <a:lstStyle/>
          <a:p>
            <a:pPr indent="0" marL="0">
              <a:lnSpc>
                <a:spcPts val="2000"/>
              </a:lnSpc>
              <a:buNone/>
            </a:pPr>
            <a:r>
              <a:rPr lang="en-US" sz="1400" dirty="0">
                <a:solidFill>
                  <a:srgbClr val="53606A"/>
                </a:solidFill>
                <a:latin typeface="Calibri" pitchFamily="34" charset="0"/>
                <a:ea typeface="Calibri" pitchFamily="34" charset="-122"/>
                <a:cs typeface="Calibri" pitchFamily="34" charset="-120"/>
              </a:rPr>
              <a:t>Three translucent panes on a rising diagonal — each stays visible through the last, and where two overlap the colour deepens rather than one hiding the other. The mark is drawn light on paper and dark on navy, and the interface follows the same pair.</a:t>
            </a:r>
            <a:endParaRPr lang="en-US" sz="1400" dirty="0"/>
          </a:p>
        </p:txBody>
      </p:sp>
      <p:sp>
        <p:nvSpPr>
          <p:cNvPr id="6" name="Shape 3"/>
          <p:cNvSpPr/>
          <p:nvPr/>
        </p:nvSpPr>
        <p:spPr>
          <a:xfrm>
            <a:off x="566928" y="2231136"/>
            <a:ext cx="2606040" cy="1783080"/>
          </a:xfrm>
          <a:prstGeom prst="roundRect">
            <a:avLst>
              <a:gd name="adj" fmla="val 4103"/>
            </a:avLst>
          </a:prstGeom>
          <a:solidFill>
            <a:srgbClr val="F2F6F9"/>
          </a:solidFill>
          <a:ln w="12700">
            <a:solidFill>
              <a:srgbClr val="D9E4EC"/>
            </a:solidFill>
            <a:prstDash val="solid"/>
          </a:ln>
        </p:spPr>
      </p:sp>
      <p:pic>
        <p:nvPicPr>
          <p:cNvPr id="7" name="Image 1" descr="../deck/mark-light.png">    </p:cNvPr>
          <p:cNvPicPr>
            <a:picLocks noChangeAspect="1"/>
          </p:cNvPicPr>
          <p:nvPr/>
        </p:nvPicPr>
        <p:blipFill>
          <a:blip r:embed="rId2"/>
          <a:stretch>
            <a:fillRect/>
          </a:stretch>
        </p:blipFill>
        <p:spPr>
          <a:xfrm>
            <a:off x="1161288" y="2414016"/>
            <a:ext cx="1417320" cy="1417320"/>
          </a:xfrm>
          <a:prstGeom prst="rect">
            <a:avLst/>
          </a:prstGeom>
        </p:spPr>
      </p:pic>
      <p:sp>
        <p:nvSpPr>
          <p:cNvPr id="8" name="Text 4"/>
          <p:cNvSpPr/>
          <p:nvPr/>
        </p:nvSpPr>
        <p:spPr>
          <a:xfrm>
            <a:off x="566928"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The mark on paper</a:t>
            </a:r>
            <a:endParaRPr lang="en-US" sz="1200" dirty="0"/>
          </a:p>
        </p:txBody>
      </p:sp>
      <p:sp>
        <p:nvSpPr>
          <p:cNvPr id="9" name="Shape 5"/>
          <p:cNvSpPr/>
          <p:nvPr/>
        </p:nvSpPr>
        <p:spPr>
          <a:xfrm>
            <a:off x="3346704" y="2231136"/>
            <a:ext cx="2606040" cy="1783080"/>
          </a:xfrm>
          <a:prstGeom prst="roundRect">
            <a:avLst>
              <a:gd name="adj" fmla="val 4103"/>
            </a:avLst>
          </a:prstGeom>
          <a:solidFill>
            <a:srgbClr val="073554"/>
          </a:solidFill>
          <a:ln w="12700">
            <a:solidFill>
              <a:srgbClr val="073554"/>
            </a:solidFill>
            <a:prstDash val="solid"/>
          </a:ln>
        </p:spPr>
      </p:sp>
      <p:pic>
        <p:nvPicPr>
          <p:cNvPr id="10" name="Image 2" descr="../deck/mark-dark.png">    </p:cNvPr>
          <p:cNvPicPr>
            <a:picLocks noChangeAspect="1"/>
          </p:cNvPicPr>
          <p:nvPr/>
        </p:nvPicPr>
        <p:blipFill>
          <a:blip r:embed="rId3"/>
          <a:stretch>
            <a:fillRect/>
          </a:stretch>
        </p:blipFill>
        <p:spPr>
          <a:xfrm>
            <a:off x="3941064" y="2414016"/>
            <a:ext cx="1417320" cy="1417320"/>
          </a:xfrm>
          <a:prstGeom prst="rect">
            <a:avLst/>
          </a:prstGeom>
        </p:spPr>
      </p:pic>
      <p:sp>
        <p:nvSpPr>
          <p:cNvPr id="11" name="Text 6"/>
          <p:cNvSpPr/>
          <p:nvPr/>
        </p:nvSpPr>
        <p:spPr>
          <a:xfrm>
            <a:off x="3346704"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The mark on navy</a:t>
            </a:r>
            <a:endParaRPr lang="en-US" sz="1200" dirty="0"/>
          </a:p>
        </p:txBody>
      </p:sp>
      <p:sp>
        <p:nvSpPr>
          <p:cNvPr id="12" name="Shape 7"/>
          <p:cNvSpPr/>
          <p:nvPr/>
        </p:nvSpPr>
        <p:spPr>
          <a:xfrm>
            <a:off x="6126480" y="2231136"/>
            <a:ext cx="2606040" cy="1783080"/>
          </a:xfrm>
          <a:prstGeom prst="roundRect">
            <a:avLst>
              <a:gd name="adj" fmla="val 4103"/>
            </a:avLst>
          </a:prstGeom>
          <a:solidFill>
            <a:srgbClr val="F2F6F9"/>
          </a:solidFill>
          <a:ln w="12700">
            <a:solidFill>
              <a:srgbClr val="D9E4EC"/>
            </a:solidFill>
            <a:prstDash val="solid"/>
          </a:ln>
        </p:spPr>
      </p:sp>
      <p:pic>
        <p:nvPicPr>
          <p:cNvPr id="13" name="Image 3" descr="../deck/lockup.png">    </p:cNvPr>
          <p:cNvPicPr>
            <a:picLocks noChangeAspect="1"/>
          </p:cNvPicPr>
          <p:nvPr/>
        </p:nvPicPr>
        <p:blipFill>
          <a:blip r:embed="rId4"/>
          <a:stretch>
            <a:fillRect/>
          </a:stretch>
        </p:blipFill>
        <p:spPr>
          <a:xfrm>
            <a:off x="6905092" y="2414016"/>
            <a:ext cx="1048817" cy="1417320"/>
          </a:xfrm>
          <a:prstGeom prst="rect">
            <a:avLst/>
          </a:prstGeom>
        </p:spPr>
      </p:pic>
      <p:sp>
        <p:nvSpPr>
          <p:cNvPr id="14" name="Text 8"/>
          <p:cNvSpPr/>
          <p:nvPr/>
        </p:nvSpPr>
        <p:spPr>
          <a:xfrm>
            <a:off x="6126480"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Lockup, light theme</a:t>
            </a:r>
            <a:endParaRPr lang="en-US" sz="1200" dirty="0"/>
          </a:p>
        </p:txBody>
      </p:sp>
      <p:sp>
        <p:nvSpPr>
          <p:cNvPr id="15" name="Shape 9"/>
          <p:cNvSpPr/>
          <p:nvPr/>
        </p:nvSpPr>
        <p:spPr>
          <a:xfrm>
            <a:off x="8906256" y="2231136"/>
            <a:ext cx="2606040" cy="1783080"/>
          </a:xfrm>
          <a:prstGeom prst="roundRect">
            <a:avLst>
              <a:gd name="adj" fmla="val 4103"/>
            </a:avLst>
          </a:prstGeom>
          <a:solidFill>
            <a:srgbClr val="0A1117"/>
          </a:solidFill>
          <a:ln w="12700">
            <a:solidFill>
              <a:srgbClr val="0A1117"/>
            </a:solidFill>
            <a:prstDash val="solid"/>
          </a:ln>
        </p:spPr>
      </p:sp>
      <p:pic>
        <p:nvPicPr>
          <p:cNvPr id="16" name="Image 4" descr="../deck/lockup-dk.png">    </p:cNvPr>
          <p:cNvPicPr>
            <a:picLocks noChangeAspect="1"/>
          </p:cNvPicPr>
          <p:nvPr/>
        </p:nvPicPr>
        <p:blipFill>
          <a:blip r:embed="rId5"/>
          <a:stretch>
            <a:fillRect/>
          </a:stretch>
        </p:blipFill>
        <p:spPr>
          <a:xfrm>
            <a:off x="9684868" y="2414016"/>
            <a:ext cx="1048817" cy="1417320"/>
          </a:xfrm>
          <a:prstGeom prst="rect">
            <a:avLst/>
          </a:prstGeom>
        </p:spPr>
      </p:pic>
      <p:sp>
        <p:nvSpPr>
          <p:cNvPr id="17" name="Text 10"/>
          <p:cNvSpPr/>
          <p:nvPr/>
        </p:nvSpPr>
        <p:spPr>
          <a:xfrm>
            <a:off x="8906256"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Lockup, dark theme</a:t>
            </a:r>
            <a:endParaRPr lang="en-US" sz="1200" dirty="0"/>
          </a:p>
        </p:txBody>
      </p:sp>
      <p:sp>
        <p:nvSpPr>
          <p:cNvPr id="18" name="Text 11"/>
          <p:cNvSpPr/>
          <p:nvPr/>
        </p:nvSpPr>
        <p:spPr>
          <a:xfrm>
            <a:off x="566928" y="4590288"/>
            <a:ext cx="365760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THE PALETTE</a:t>
            </a:r>
            <a:endParaRPr lang="en-US" sz="1100" dirty="0"/>
          </a:p>
        </p:txBody>
      </p:sp>
      <p:sp>
        <p:nvSpPr>
          <p:cNvPr id="19" name="Shape 12"/>
          <p:cNvSpPr/>
          <p:nvPr/>
        </p:nvSpPr>
        <p:spPr>
          <a:xfrm>
            <a:off x="566928" y="4956048"/>
            <a:ext cx="2011680" cy="457200"/>
          </a:xfrm>
          <a:prstGeom prst="roundRect">
            <a:avLst>
              <a:gd name="adj" fmla="val 10000"/>
            </a:avLst>
          </a:prstGeom>
          <a:solidFill>
            <a:srgbClr val="0A4B75"/>
          </a:solidFill>
          <a:ln w="12700">
            <a:solidFill>
              <a:srgbClr val="0A4B75"/>
            </a:solidFill>
            <a:prstDash val="solid"/>
          </a:ln>
        </p:spPr>
      </p:sp>
      <p:sp>
        <p:nvSpPr>
          <p:cNvPr id="20" name="Text 13"/>
          <p:cNvSpPr/>
          <p:nvPr/>
        </p:nvSpPr>
        <p:spPr>
          <a:xfrm>
            <a:off x="566928"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Navy  ·  #0A4B75</a:t>
            </a:r>
            <a:endParaRPr lang="en-US" sz="1150" dirty="0"/>
          </a:p>
        </p:txBody>
      </p:sp>
      <p:sp>
        <p:nvSpPr>
          <p:cNvPr id="21" name="Text 14"/>
          <p:cNvSpPr/>
          <p:nvPr/>
        </p:nvSpPr>
        <p:spPr>
          <a:xfrm>
            <a:off x="566928"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Chrome, links, controls</a:t>
            </a:r>
            <a:endParaRPr lang="en-US" sz="1100" dirty="0"/>
          </a:p>
        </p:txBody>
      </p:sp>
      <p:sp>
        <p:nvSpPr>
          <p:cNvPr id="22" name="Shape 15"/>
          <p:cNvSpPr/>
          <p:nvPr/>
        </p:nvSpPr>
        <p:spPr>
          <a:xfrm>
            <a:off x="2779776" y="4956048"/>
            <a:ext cx="2011680" cy="457200"/>
          </a:xfrm>
          <a:prstGeom prst="roundRect">
            <a:avLst>
              <a:gd name="adj" fmla="val 10000"/>
            </a:avLst>
          </a:prstGeom>
          <a:solidFill>
            <a:srgbClr val="073554"/>
          </a:solidFill>
          <a:ln w="12700">
            <a:solidFill>
              <a:srgbClr val="073554"/>
            </a:solidFill>
            <a:prstDash val="solid"/>
          </a:ln>
        </p:spPr>
      </p:sp>
      <p:sp>
        <p:nvSpPr>
          <p:cNvPr id="23" name="Text 16"/>
          <p:cNvSpPr/>
          <p:nvPr/>
        </p:nvSpPr>
        <p:spPr>
          <a:xfrm>
            <a:off x="2779776"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Ink  ·  #073554</a:t>
            </a:r>
            <a:endParaRPr lang="en-US" sz="1150" dirty="0"/>
          </a:p>
        </p:txBody>
      </p:sp>
      <p:sp>
        <p:nvSpPr>
          <p:cNvPr id="24" name="Text 17"/>
          <p:cNvSpPr/>
          <p:nvPr/>
        </p:nvSpPr>
        <p:spPr>
          <a:xfrm>
            <a:off x="2779776"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The dark ground</a:t>
            </a:r>
            <a:endParaRPr lang="en-US" sz="1100" dirty="0"/>
          </a:p>
        </p:txBody>
      </p:sp>
      <p:sp>
        <p:nvSpPr>
          <p:cNvPr id="25" name="Shape 18"/>
          <p:cNvSpPr/>
          <p:nvPr/>
        </p:nvSpPr>
        <p:spPr>
          <a:xfrm>
            <a:off x="4992624" y="4956048"/>
            <a:ext cx="2011680" cy="457200"/>
          </a:xfrm>
          <a:prstGeom prst="roundRect">
            <a:avLst>
              <a:gd name="adj" fmla="val 10000"/>
            </a:avLst>
          </a:prstGeom>
          <a:solidFill>
            <a:srgbClr val="12AEBE"/>
          </a:solidFill>
          <a:ln w="12700">
            <a:solidFill>
              <a:srgbClr val="12AEBE"/>
            </a:solidFill>
            <a:prstDash val="solid"/>
          </a:ln>
        </p:spPr>
      </p:sp>
      <p:sp>
        <p:nvSpPr>
          <p:cNvPr id="26" name="Text 19"/>
          <p:cNvSpPr/>
          <p:nvPr/>
        </p:nvSpPr>
        <p:spPr>
          <a:xfrm>
            <a:off x="4992624"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Teal  ·  #12AEBE</a:t>
            </a:r>
            <a:endParaRPr lang="en-US" sz="1150" dirty="0"/>
          </a:p>
        </p:txBody>
      </p:sp>
      <p:sp>
        <p:nvSpPr>
          <p:cNvPr id="27" name="Text 20"/>
          <p:cNvSpPr/>
          <p:nvPr/>
        </p:nvSpPr>
        <p:spPr>
          <a:xfrm>
            <a:off x="4992624"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One highlight only</a:t>
            </a:r>
            <a:endParaRPr lang="en-US" sz="1100" dirty="0"/>
          </a:p>
        </p:txBody>
      </p:sp>
      <p:sp>
        <p:nvSpPr>
          <p:cNvPr id="28" name="Shape 21"/>
          <p:cNvSpPr/>
          <p:nvPr/>
        </p:nvSpPr>
        <p:spPr>
          <a:xfrm>
            <a:off x="7205472" y="4956048"/>
            <a:ext cx="2011680" cy="457200"/>
          </a:xfrm>
          <a:prstGeom prst="roundRect">
            <a:avLst>
              <a:gd name="adj" fmla="val 10000"/>
            </a:avLst>
          </a:prstGeom>
          <a:solidFill>
            <a:srgbClr val="F2F6F9"/>
          </a:solidFill>
          <a:ln w="12700">
            <a:solidFill>
              <a:srgbClr val="D9E4EC"/>
            </a:solidFill>
            <a:prstDash val="solid"/>
          </a:ln>
        </p:spPr>
      </p:sp>
      <p:sp>
        <p:nvSpPr>
          <p:cNvPr id="29" name="Text 22"/>
          <p:cNvSpPr/>
          <p:nvPr/>
        </p:nvSpPr>
        <p:spPr>
          <a:xfrm>
            <a:off x="7205472"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Paper  ·  #F2F6F9</a:t>
            </a:r>
            <a:endParaRPr lang="en-US" sz="1150" dirty="0"/>
          </a:p>
        </p:txBody>
      </p:sp>
      <p:sp>
        <p:nvSpPr>
          <p:cNvPr id="30" name="Text 23"/>
          <p:cNvSpPr/>
          <p:nvPr/>
        </p:nvSpPr>
        <p:spPr>
          <a:xfrm>
            <a:off x="7205472"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Cards and raised surfaces</a:t>
            </a:r>
            <a:endParaRPr lang="en-US" sz="1100" dirty="0"/>
          </a:p>
        </p:txBody>
      </p:sp>
      <p:sp>
        <p:nvSpPr>
          <p:cNvPr id="31" name="Shape 24"/>
          <p:cNvSpPr/>
          <p:nvPr/>
        </p:nvSpPr>
        <p:spPr>
          <a:xfrm>
            <a:off x="9418320" y="4956048"/>
            <a:ext cx="2011680" cy="457200"/>
          </a:xfrm>
          <a:prstGeom prst="roundRect">
            <a:avLst>
              <a:gd name="adj" fmla="val 10000"/>
            </a:avLst>
          </a:prstGeom>
          <a:solidFill>
            <a:srgbClr val="BB3D48"/>
          </a:solidFill>
          <a:ln w="12700">
            <a:solidFill>
              <a:srgbClr val="BB3D48"/>
            </a:solidFill>
            <a:prstDash val="solid"/>
          </a:ln>
        </p:spPr>
      </p:sp>
      <p:sp>
        <p:nvSpPr>
          <p:cNvPr id="32" name="Text 25"/>
          <p:cNvSpPr/>
          <p:nvPr/>
        </p:nvSpPr>
        <p:spPr>
          <a:xfrm>
            <a:off x="9418320"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Alert  ·  #BB3D48</a:t>
            </a:r>
            <a:endParaRPr lang="en-US" sz="1150" dirty="0"/>
          </a:p>
        </p:txBody>
      </p:sp>
      <p:sp>
        <p:nvSpPr>
          <p:cNvPr id="33" name="Text 26"/>
          <p:cNvSpPr/>
          <p:nvPr/>
        </p:nvSpPr>
        <p:spPr>
          <a:xfrm>
            <a:off x="9418320"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At risk, and nothing else</a:t>
            </a:r>
            <a:endParaRPr lang="en-US" sz="1100" dirty="0"/>
          </a:p>
        </p:txBody>
      </p:sp>
      <p:sp>
        <p:nvSpPr>
          <p:cNvPr id="34" name="Text 27"/>
          <p:cNvSpPr/>
          <p:nvPr/>
        </p:nvSpPr>
        <p:spPr>
          <a:xfrm>
            <a:off x="566928" y="6327648"/>
            <a:ext cx="10515600" cy="274320"/>
          </a:xfrm>
          <a:prstGeom prst="rect">
            <a:avLst/>
          </a:prstGeom>
          <a:noFill/>
          <a:ln/>
        </p:spPr>
        <p:txBody>
          <a:bodyPr wrap="square" lIns="0" tIns="0" rIns="0" bIns="0" rtlCol="0" anchor="ctr"/>
          <a:lstStyle/>
          <a:p>
            <a:pPr indent="0" marL="0">
              <a:buNone/>
            </a:pPr>
            <a:r>
              <a:rPr lang="en-US" sz="1250" i="1" dirty="0">
                <a:solidFill>
                  <a:srgbClr val="0A4B75"/>
                </a:solidFill>
                <a:latin typeface="Calibri" pitchFamily="34" charset="0"/>
                <a:ea typeface="Calibri" pitchFamily="34" charset="-122"/>
                <a:cs typeface="Calibri" pitchFamily="34" charset="-120"/>
              </a:rPr>
              <a:t>Set throughout in Poppins — geometric, wide, and legible down to the smallest label on a chart.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DESIGN</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The same screen, either way up</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Text 2"/>
          <p:cNvSpPr/>
          <p:nvPr/>
        </p:nvSpPr>
        <p:spPr>
          <a:xfrm>
            <a:off x="566928" y="1444752"/>
            <a:ext cx="10515600" cy="640080"/>
          </a:xfrm>
          <a:prstGeom prst="rect">
            <a:avLst/>
          </a:prstGeom>
          <a:noFill/>
          <a:ln/>
        </p:spPr>
        <p:txBody>
          <a:bodyPr wrap="square" lIns="0" tIns="0" rIns="0" bIns="0" rtlCol="0" anchor="ctr"/>
          <a:lstStyle/>
          <a:p>
            <a:pPr indent="0" marL="0">
              <a:lnSpc>
                <a:spcPts val="2000"/>
              </a:lnSpc>
              <a:buNone/>
            </a:pPr>
            <a:r>
              <a:rPr lang="en-US" sz="1400" dirty="0">
                <a:solidFill>
                  <a:srgbClr val="53606A"/>
                </a:solidFill>
                <a:latin typeface="Calibri" pitchFamily="34" charset="0"/>
                <a:ea typeface="Calibri" pitchFamily="34" charset="-122"/>
                <a:cs typeface="Calibri" pitchFamily="34" charset="-120"/>
              </a:rPr>
              <a:t>One theme switch in the corner of the menu. Every colour on every screen is a named role rather than a fixed value, so the whole interface turns over at once — and every figure was checked for contrast afterwards, on each screen and in each panel.</a:t>
            </a:r>
            <a:endParaRPr lang="en-US" sz="1400" dirty="0"/>
          </a:p>
        </p:txBody>
      </p:sp>
      <p:sp>
        <p:nvSpPr>
          <p:cNvPr id="6" name="Shape 3"/>
          <p:cNvSpPr/>
          <p:nvPr/>
        </p:nvSpPr>
        <p:spPr>
          <a:xfrm>
            <a:off x="475488" y="2194560"/>
            <a:ext cx="5504688" cy="3511296"/>
          </a:xfrm>
          <a:prstGeom prst="roundRect">
            <a:avLst>
              <a:gd name="adj" fmla="val 1563"/>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7" name="Image 1" descr="../deck/portfolio-screen.png">    </p:cNvPr>
          <p:cNvPicPr>
            <a:picLocks noChangeAspect="1"/>
          </p:cNvPicPr>
          <p:nvPr/>
        </p:nvPicPr>
        <p:blipFill>
          <a:blip r:embed="rId2"/>
          <a:srcRect l="0" r="0" t="0" b="0"/>
          <a:stretch/>
        </p:blipFill>
        <p:spPr>
          <a:xfrm>
            <a:off x="566928" y="2286000"/>
            <a:ext cx="5321808" cy="3328416"/>
          </a:xfrm>
          <a:prstGeom prst="rect">
            <a:avLst/>
          </a:prstGeom>
        </p:spPr>
      </p:pic>
      <p:sp>
        <p:nvSpPr>
          <p:cNvPr id="8" name="Text 4"/>
          <p:cNvSpPr/>
          <p:nvPr/>
        </p:nvSpPr>
        <p:spPr>
          <a:xfrm>
            <a:off x="566928" y="5724144"/>
            <a:ext cx="5321808" cy="274320"/>
          </a:xfrm>
          <a:prstGeom prst="rect">
            <a:avLst/>
          </a:prstGeom>
          <a:noFill/>
          <a:ln/>
        </p:spPr>
        <p:txBody>
          <a:bodyPr wrap="square" lIns="0" tIns="0" rIns="0" bIns="0" rtlCol="0" anchor="ctr"/>
          <a:lstStyle/>
          <a:p>
            <a:pPr algn="ctr" indent="0" marL="0">
              <a:buNone/>
            </a:pPr>
            <a:r>
              <a:rPr lang="en-US" sz="1200" b="1" dirty="0">
                <a:solidFill>
                  <a:srgbClr val="53606A"/>
                </a:solidFill>
                <a:latin typeface="Calibri" pitchFamily="34" charset="0"/>
                <a:ea typeface="Calibri" pitchFamily="34" charset="-122"/>
                <a:cs typeface="Calibri" pitchFamily="34" charset="-120"/>
              </a:rPr>
              <a:t>Portfolio, light</a:t>
            </a:r>
            <a:endParaRPr lang="en-US" sz="1200" dirty="0"/>
          </a:p>
        </p:txBody>
      </p:sp>
      <p:sp>
        <p:nvSpPr>
          <p:cNvPr id="9" name="Shape 5"/>
          <p:cNvSpPr/>
          <p:nvPr/>
        </p:nvSpPr>
        <p:spPr>
          <a:xfrm>
            <a:off x="6181344" y="2194560"/>
            <a:ext cx="5504688" cy="3511296"/>
          </a:xfrm>
          <a:prstGeom prst="roundRect">
            <a:avLst>
              <a:gd name="adj" fmla="val 1563"/>
            </a:avLst>
          </a:prstGeom>
          <a:solidFill>
            <a:srgbClr val="F2F6F9"/>
          </a:solidFill>
          <a:ln w="12700">
            <a:solidFill>
              <a:srgbClr val="D9E4EC"/>
            </a:solidFill>
            <a:prstDash val="solid"/>
          </a:ln>
          <a:effectLst>
            <a:outerShdw sx="100000" sy="100000" kx="0" ky="0" algn="bl" rotWithShape="0" blurRad="177800" dist="38100" dir="5400000">
              <a:srgbClr val="0A2740">
                <a:alpha val="22000"/>
              </a:srgbClr>
            </a:outerShdw>
          </a:effectLst>
        </p:spPr>
      </p:sp>
      <p:pic>
        <p:nvPicPr>
          <p:cNvPr id="10" name="Image 2" descr="../deck/portfolio-screen-dk.png">    </p:cNvPr>
          <p:cNvPicPr>
            <a:picLocks noChangeAspect="1"/>
          </p:cNvPicPr>
          <p:nvPr/>
        </p:nvPicPr>
        <p:blipFill>
          <a:blip r:embed="rId3"/>
          <a:srcRect l="0" r="0" t="0" b="0"/>
          <a:stretch/>
        </p:blipFill>
        <p:spPr>
          <a:xfrm>
            <a:off x="6272784" y="2286000"/>
            <a:ext cx="5321808" cy="3328416"/>
          </a:xfrm>
          <a:prstGeom prst="rect">
            <a:avLst/>
          </a:prstGeom>
        </p:spPr>
      </p:pic>
      <p:sp>
        <p:nvSpPr>
          <p:cNvPr id="11" name="Text 6"/>
          <p:cNvSpPr/>
          <p:nvPr/>
        </p:nvSpPr>
        <p:spPr>
          <a:xfrm>
            <a:off x="6272784" y="5724144"/>
            <a:ext cx="5321808" cy="274320"/>
          </a:xfrm>
          <a:prstGeom prst="rect">
            <a:avLst/>
          </a:prstGeom>
          <a:noFill/>
          <a:ln/>
        </p:spPr>
        <p:txBody>
          <a:bodyPr wrap="square" lIns="0" tIns="0" rIns="0" bIns="0" rtlCol="0" anchor="ctr"/>
          <a:lstStyle/>
          <a:p>
            <a:pPr algn="ctr" indent="0" marL="0">
              <a:buNone/>
            </a:pPr>
            <a:r>
              <a:rPr lang="en-US" sz="1200" b="1" dirty="0">
                <a:solidFill>
                  <a:srgbClr val="53606A"/>
                </a:solidFill>
                <a:latin typeface="Calibri" pitchFamily="34" charset="0"/>
                <a:ea typeface="Calibri" pitchFamily="34" charset="-122"/>
                <a:cs typeface="Calibri" pitchFamily="34" charset="-120"/>
              </a:rPr>
              <a:t>Portfolio, dark</a:t>
            </a:r>
            <a:endParaRPr lang="en-US" sz="1200" dirty="0"/>
          </a:p>
        </p:txBody>
      </p:sp>
      <p:sp>
        <p:nvSpPr>
          <p:cNvPr id="12" name="Text 7"/>
          <p:cNvSpPr/>
          <p:nvPr/>
        </p:nvSpPr>
        <p:spPr>
          <a:xfrm>
            <a:off x="566928" y="6163056"/>
            <a:ext cx="10515600" cy="274320"/>
          </a:xfrm>
          <a:prstGeom prst="rect">
            <a:avLst/>
          </a:prstGeom>
          <a:noFill/>
          <a:ln/>
        </p:spPr>
        <p:txBody>
          <a:bodyPr wrap="square" lIns="0" tIns="0" rIns="0" bIns="0" rtlCol="0" anchor="ctr"/>
          <a:lstStyle/>
          <a:p>
            <a:pPr indent="0" marL="0">
              <a:buNone/>
            </a:pPr>
            <a:r>
              <a:rPr lang="en-US" sz="1250" i="1" dirty="0">
                <a:solidFill>
                  <a:srgbClr val="0A4B75"/>
                </a:solidFill>
                <a:latin typeface="Calibri" pitchFamily="34" charset="0"/>
                <a:ea typeface="Calibri" pitchFamily="34" charset="-122"/>
                <a:cs typeface="Calibri" pitchFamily="34" charset="-120"/>
              </a:rPr>
              <a:t>3,670 pieces of text measured against the ground they are painted on — none below the readable minimum.</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What’s next</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Text 2"/>
          <p:cNvSpPr/>
          <p:nvPr/>
        </p:nvSpPr>
        <p:spPr>
          <a:xfrm>
            <a:off x="566928" y="1444752"/>
            <a:ext cx="10515600" cy="365760"/>
          </a:xfrm>
          <a:prstGeom prst="rect">
            <a:avLst/>
          </a:prstGeom>
          <a:noFill/>
          <a:ln/>
        </p:spPr>
        <p:txBody>
          <a:bodyPr wrap="square" lIns="0" tIns="0" rIns="0" bIns="0" rtlCol="0" anchor="ctr"/>
          <a:lstStyle/>
          <a:p>
            <a:pPr indent="0" marL="0">
              <a:buNone/>
            </a:pPr>
            <a:r>
              <a:rPr lang="en-US" sz="1500" dirty="0">
                <a:solidFill>
                  <a:srgbClr val="53606A"/>
                </a:solidFill>
                <a:latin typeface="Calibri" pitchFamily="34" charset="0"/>
                <a:ea typeface="Calibri" pitchFamily="34" charset="-122"/>
                <a:cs typeface="Calibri" pitchFamily="34" charset="-120"/>
              </a:rPr>
              <a:t>Where this goes from here.</a:t>
            </a:r>
            <a:endParaRPr lang="en-US" sz="1500" dirty="0"/>
          </a:p>
        </p:txBody>
      </p:sp>
      <p:sp>
        <p:nvSpPr>
          <p:cNvPr id="6" name="Shape 3"/>
          <p:cNvSpPr/>
          <p:nvPr/>
        </p:nvSpPr>
        <p:spPr>
          <a:xfrm>
            <a:off x="566928" y="2157984"/>
            <a:ext cx="3383280" cy="3200400"/>
          </a:xfrm>
          <a:prstGeom prst="roundRect">
            <a:avLst>
              <a:gd name="adj" fmla="val 2286"/>
            </a:avLst>
          </a:prstGeom>
          <a:solidFill>
            <a:srgbClr val="F2F6F9"/>
          </a:solidFill>
          <a:ln w="12700">
            <a:solidFill>
              <a:srgbClr val="DCE7EF"/>
            </a:solidFill>
            <a:prstDash val="solid"/>
          </a:ln>
        </p:spPr>
      </p:sp>
      <p:sp>
        <p:nvSpPr>
          <p:cNvPr id="7" name="Shape 4"/>
          <p:cNvSpPr/>
          <p:nvPr/>
        </p:nvSpPr>
        <p:spPr>
          <a:xfrm>
            <a:off x="877824" y="2450592"/>
            <a:ext cx="420624" cy="420624"/>
          </a:xfrm>
          <a:prstGeom prst="ellipse">
            <a:avLst/>
          </a:prstGeom>
          <a:solidFill>
            <a:srgbClr val="12AEBE"/>
          </a:solidFill>
          <a:ln/>
        </p:spPr>
      </p:sp>
      <p:sp>
        <p:nvSpPr>
          <p:cNvPr id="8" name="Text 5"/>
          <p:cNvSpPr/>
          <p:nvPr/>
        </p:nvSpPr>
        <p:spPr>
          <a:xfrm>
            <a:off x="877824" y="24505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877824" y="3090672"/>
            <a:ext cx="2761488" cy="365760"/>
          </a:xfrm>
          <a:prstGeom prst="rect">
            <a:avLst/>
          </a:prstGeom>
          <a:noFill/>
          <a:ln/>
        </p:spPr>
        <p:txBody>
          <a:bodyPr wrap="square" lIns="0" tIns="0" rIns="0" bIns="0" rtlCol="0" anchor="ctr"/>
          <a:lstStyle/>
          <a:p>
            <a:pPr indent="0" marL="0">
              <a:buNone/>
            </a:pPr>
            <a:r>
              <a:rPr lang="en-US" sz="1900" b="1" dirty="0">
                <a:solidFill>
                  <a:srgbClr val="0A4B75"/>
                </a:solidFill>
                <a:latin typeface="Calibri" pitchFamily="34" charset="0"/>
                <a:ea typeface="Calibri" pitchFamily="34" charset="-122"/>
                <a:cs typeface="Calibri" pitchFamily="34" charset="-120"/>
              </a:rPr>
              <a:t>Heading</a:t>
            </a:r>
            <a:endParaRPr lang="en-US" sz="1900" dirty="0"/>
          </a:p>
        </p:txBody>
      </p:sp>
      <p:sp>
        <p:nvSpPr>
          <p:cNvPr id="10" name="Text 7"/>
          <p:cNvSpPr/>
          <p:nvPr/>
        </p:nvSpPr>
        <p:spPr>
          <a:xfrm>
            <a:off x="877824" y="3584448"/>
            <a:ext cx="2761488" cy="1463040"/>
          </a:xfrm>
          <a:prstGeom prst="rect">
            <a:avLst/>
          </a:prstGeom>
          <a:noFill/>
          <a:ln/>
        </p:spPr>
        <p:txBody>
          <a:bodyPr wrap="square" lIns="0" tIns="0" rIns="0" bIns="0" rtlCol="0" anchor="t"/>
          <a:lstStyle/>
          <a:p>
            <a:pPr indent="0" marL="0">
              <a:lnSpc>
                <a:spcPts val="1900"/>
              </a:lnSpc>
              <a:buNone/>
            </a:pPr>
            <a:r>
              <a:rPr lang="en-US" sz="1350" dirty="0">
                <a:solidFill>
                  <a:srgbClr val="53606A"/>
                </a:solidFill>
                <a:latin typeface="Calibri" pitchFamily="34" charset="0"/>
                <a:ea typeface="Calibri" pitchFamily="34" charset="-122"/>
                <a:cs typeface="Calibri" pitchFamily="34" charset="-120"/>
              </a:rPr>
              <a:t>Add your point here.</a:t>
            </a:r>
            <a:endParaRPr lang="en-US" sz="1350" dirty="0"/>
          </a:p>
        </p:txBody>
      </p:sp>
      <p:sp>
        <p:nvSpPr>
          <p:cNvPr id="11" name="Shape 8"/>
          <p:cNvSpPr/>
          <p:nvPr/>
        </p:nvSpPr>
        <p:spPr>
          <a:xfrm>
            <a:off x="4279392" y="2157984"/>
            <a:ext cx="3383280" cy="3200400"/>
          </a:xfrm>
          <a:prstGeom prst="roundRect">
            <a:avLst>
              <a:gd name="adj" fmla="val 2286"/>
            </a:avLst>
          </a:prstGeom>
          <a:solidFill>
            <a:srgbClr val="F2F6F9"/>
          </a:solidFill>
          <a:ln w="12700">
            <a:solidFill>
              <a:srgbClr val="DCE7EF"/>
            </a:solidFill>
            <a:prstDash val="solid"/>
          </a:ln>
        </p:spPr>
      </p:sp>
      <p:sp>
        <p:nvSpPr>
          <p:cNvPr id="12" name="Shape 9"/>
          <p:cNvSpPr/>
          <p:nvPr/>
        </p:nvSpPr>
        <p:spPr>
          <a:xfrm>
            <a:off x="4590288" y="2450592"/>
            <a:ext cx="420624" cy="420624"/>
          </a:xfrm>
          <a:prstGeom prst="ellipse">
            <a:avLst/>
          </a:prstGeom>
          <a:solidFill>
            <a:srgbClr val="12AEBE"/>
          </a:solidFill>
          <a:ln/>
        </p:spPr>
      </p:sp>
      <p:sp>
        <p:nvSpPr>
          <p:cNvPr id="13" name="Text 10"/>
          <p:cNvSpPr/>
          <p:nvPr/>
        </p:nvSpPr>
        <p:spPr>
          <a:xfrm>
            <a:off x="4590288" y="24505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4590288" y="3090672"/>
            <a:ext cx="2761488" cy="365760"/>
          </a:xfrm>
          <a:prstGeom prst="rect">
            <a:avLst/>
          </a:prstGeom>
          <a:noFill/>
          <a:ln/>
        </p:spPr>
        <p:txBody>
          <a:bodyPr wrap="square" lIns="0" tIns="0" rIns="0" bIns="0" rtlCol="0" anchor="ctr"/>
          <a:lstStyle/>
          <a:p>
            <a:pPr indent="0" marL="0">
              <a:buNone/>
            </a:pPr>
            <a:r>
              <a:rPr lang="en-US" sz="1900" b="1" dirty="0">
                <a:solidFill>
                  <a:srgbClr val="0A4B75"/>
                </a:solidFill>
                <a:latin typeface="Calibri" pitchFamily="34" charset="0"/>
                <a:ea typeface="Calibri" pitchFamily="34" charset="-122"/>
                <a:cs typeface="Calibri" pitchFamily="34" charset="-120"/>
              </a:rPr>
              <a:t>Heading</a:t>
            </a:r>
            <a:endParaRPr lang="en-US" sz="1900" dirty="0"/>
          </a:p>
        </p:txBody>
      </p:sp>
      <p:sp>
        <p:nvSpPr>
          <p:cNvPr id="15" name="Text 12"/>
          <p:cNvSpPr/>
          <p:nvPr/>
        </p:nvSpPr>
        <p:spPr>
          <a:xfrm>
            <a:off x="4590288" y="3584448"/>
            <a:ext cx="2761488" cy="1463040"/>
          </a:xfrm>
          <a:prstGeom prst="rect">
            <a:avLst/>
          </a:prstGeom>
          <a:noFill/>
          <a:ln/>
        </p:spPr>
        <p:txBody>
          <a:bodyPr wrap="square" lIns="0" tIns="0" rIns="0" bIns="0" rtlCol="0" anchor="t"/>
          <a:lstStyle/>
          <a:p>
            <a:pPr indent="0" marL="0">
              <a:lnSpc>
                <a:spcPts val="1900"/>
              </a:lnSpc>
              <a:buNone/>
            </a:pPr>
            <a:r>
              <a:rPr lang="en-US" sz="1350" dirty="0">
                <a:solidFill>
                  <a:srgbClr val="53606A"/>
                </a:solidFill>
                <a:latin typeface="Calibri" pitchFamily="34" charset="0"/>
                <a:ea typeface="Calibri" pitchFamily="34" charset="-122"/>
                <a:cs typeface="Calibri" pitchFamily="34" charset="-120"/>
              </a:rPr>
              <a:t>Add your point here.</a:t>
            </a:r>
            <a:endParaRPr lang="en-US" sz="1350" dirty="0"/>
          </a:p>
        </p:txBody>
      </p:sp>
      <p:sp>
        <p:nvSpPr>
          <p:cNvPr id="16" name="Shape 13"/>
          <p:cNvSpPr/>
          <p:nvPr/>
        </p:nvSpPr>
        <p:spPr>
          <a:xfrm>
            <a:off x="7991856" y="2157984"/>
            <a:ext cx="3383280" cy="3200400"/>
          </a:xfrm>
          <a:prstGeom prst="roundRect">
            <a:avLst>
              <a:gd name="adj" fmla="val 2286"/>
            </a:avLst>
          </a:prstGeom>
          <a:solidFill>
            <a:srgbClr val="F2F6F9"/>
          </a:solidFill>
          <a:ln w="12700">
            <a:solidFill>
              <a:srgbClr val="DCE7EF"/>
            </a:solidFill>
            <a:prstDash val="solid"/>
          </a:ln>
        </p:spPr>
      </p:sp>
      <p:sp>
        <p:nvSpPr>
          <p:cNvPr id="17" name="Shape 14"/>
          <p:cNvSpPr/>
          <p:nvPr/>
        </p:nvSpPr>
        <p:spPr>
          <a:xfrm>
            <a:off x="8302752" y="2450592"/>
            <a:ext cx="420624" cy="420624"/>
          </a:xfrm>
          <a:prstGeom prst="ellipse">
            <a:avLst/>
          </a:prstGeom>
          <a:solidFill>
            <a:srgbClr val="12AEBE"/>
          </a:solidFill>
          <a:ln/>
        </p:spPr>
      </p:sp>
      <p:sp>
        <p:nvSpPr>
          <p:cNvPr id="18" name="Text 15"/>
          <p:cNvSpPr/>
          <p:nvPr/>
        </p:nvSpPr>
        <p:spPr>
          <a:xfrm>
            <a:off x="8302752" y="24505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8302752" y="3090672"/>
            <a:ext cx="2761488" cy="365760"/>
          </a:xfrm>
          <a:prstGeom prst="rect">
            <a:avLst/>
          </a:prstGeom>
          <a:noFill/>
          <a:ln/>
        </p:spPr>
        <p:txBody>
          <a:bodyPr wrap="square" lIns="0" tIns="0" rIns="0" bIns="0" rtlCol="0" anchor="ctr"/>
          <a:lstStyle/>
          <a:p>
            <a:pPr indent="0" marL="0">
              <a:buNone/>
            </a:pPr>
            <a:r>
              <a:rPr lang="en-US" sz="1900" b="1" dirty="0">
                <a:solidFill>
                  <a:srgbClr val="0A4B75"/>
                </a:solidFill>
                <a:latin typeface="Calibri" pitchFamily="34" charset="0"/>
                <a:ea typeface="Calibri" pitchFamily="34" charset="-122"/>
                <a:cs typeface="Calibri" pitchFamily="34" charset="-120"/>
              </a:rPr>
              <a:t>Heading</a:t>
            </a:r>
            <a:endParaRPr lang="en-US" sz="1900" dirty="0"/>
          </a:p>
        </p:txBody>
      </p:sp>
      <p:sp>
        <p:nvSpPr>
          <p:cNvPr id="20" name="Text 17"/>
          <p:cNvSpPr/>
          <p:nvPr/>
        </p:nvSpPr>
        <p:spPr>
          <a:xfrm>
            <a:off x="8302752" y="3584448"/>
            <a:ext cx="2761488" cy="1463040"/>
          </a:xfrm>
          <a:prstGeom prst="rect">
            <a:avLst/>
          </a:prstGeom>
          <a:noFill/>
          <a:ln/>
        </p:spPr>
        <p:txBody>
          <a:bodyPr wrap="square" lIns="0" tIns="0" rIns="0" bIns="0" rtlCol="0" anchor="t"/>
          <a:lstStyle/>
          <a:p>
            <a:pPr indent="0" marL="0">
              <a:lnSpc>
                <a:spcPts val="1900"/>
              </a:lnSpc>
              <a:buNone/>
            </a:pPr>
            <a:r>
              <a:rPr lang="en-US" sz="1350" dirty="0">
                <a:solidFill>
                  <a:srgbClr val="53606A"/>
                </a:solidFill>
                <a:latin typeface="Calibri" pitchFamily="34" charset="0"/>
                <a:ea typeface="Calibri" pitchFamily="34" charset="-122"/>
                <a:cs typeface="Calibri" pitchFamily="34" charset="-120"/>
              </a:rPr>
              <a:t>Add your point here.</a:t>
            </a:r>
            <a:endParaRPr lang="en-US" sz="1350" dirty="0"/>
          </a:p>
        </p:txBody>
      </p:sp>
      <p:sp>
        <p:nvSpPr>
          <p:cNvPr id="21" name="Text 18"/>
          <p:cNvSpPr/>
          <p:nvPr/>
        </p:nvSpPr>
        <p:spPr>
          <a:xfrm>
            <a:off x="566928" y="5669280"/>
            <a:ext cx="10515600" cy="365760"/>
          </a:xfrm>
          <a:prstGeom prst="rect">
            <a:avLst/>
          </a:prstGeom>
          <a:noFill/>
          <a:ln/>
        </p:spPr>
        <p:txBody>
          <a:bodyPr wrap="square" lIns="0" tIns="0" rIns="0" bIns="0" rtlCol="0" anchor="ctr"/>
          <a:lstStyle/>
          <a:p>
            <a:pPr indent="0" marL="0">
              <a:buNone/>
            </a:pPr>
            <a:r>
              <a:rPr lang="en-US" sz="1700" b="1" dirty="0">
                <a:solidFill>
                  <a:srgbClr val="0A4B75"/>
                </a:solidFill>
                <a:latin typeface="Calibri" pitchFamily="34" charset="0"/>
                <a:ea typeface="Calibri" pitchFamily="34" charset="-122"/>
                <a:cs typeface="Calibri" pitchFamily="34" charset="-120"/>
              </a:rPr>
              <a:t>Add a closing line here.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3049"/>
        </a:solidFill>
      </p:bgPr>
    </p:bg>
    <p:spTree>
      <p:nvGrpSpPr>
        <p:cNvPr id="1" name=""/>
        <p:cNvGrpSpPr/>
        <p:nvPr/>
      </p:nvGrpSpPr>
      <p:grpSpPr>
        <a:xfrm>
          <a:off x="0" y="0"/>
          <a:ext cx="0" cy="0"/>
          <a:chOff x="0" y="0"/>
          <a:chExt cx="0" cy="0"/>
        </a:xfrm>
      </p:grpSpPr>
      <p:pic>
        <p:nvPicPr>
          <p:cNvPr id="2" name="Image 0" descr="../deck/mark-dark.png">    </p:cNvPr>
          <p:cNvPicPr>
            <a:picLocks noChangeAspect="1"/>
          </p:cNvPicPr>
          <p:nvPr/>
        </p:nvPicPr>
        <p:blipFill>
          <a:blip r:embed="rId1">
            <a:alphaModFix amt="45000"/>
          </a:blip>
          <a:stretch>
            <a:fillRect/>
          </a:stretch>
        </p:blipFill>
        <p:spPr>
          <a:xfrm>
            <a:off x="8321040" y="1874520"/>
            <a:ext cx="4206240" cy="4206240"/>
          </a:xfrm>
          <a:prstGeom prst="rect">
            <a:avLst/>
          </a:prstGeom>
        </p:spPr>
      </p:pic>
      <p:sp>
        <p:nvSpPr>
          <p:cNvPr id="3" name="Text 0"/>
          <p:cNvSpPr/>
          <p:nvPr/>
        </p:nvSpPr>
        <p:spPr>
          <a:xfrm>
            <a:off x="566928" y="566928"/>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WHAT IT CHANGES</a:t>
            </a:r>
            <a:endParaRPr lang="en-US" sz="1200" dirty="0"/>
          </a:p>
        </p:txBody>
      </p:sp>
      <p:sp>
        <p:nvSpPr>
          <p:cNvPr id="4" name="Text 1"/>
          <p:cNvSpPr/>
          <p:nvPr/>
        </p:nvSpPr>
        <p:spPr>
          <a:xfrm>
            <a:off x="566928" y="877824"/>
            <a:ext cx="1042416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Three conversations it changes</a:t>
            </a:r>
            <a:endParaRPr lang="en-US" sz="3400" dirty="0"/>
          </a:p>
        </p:txBody>
      </p:sp>
      <p:sp>
        <p:nvSpPr>
          <p:cNvPr id="5" name="Shape 2"/>
          <p:cNvSpPr/>
          <p:nvPr/>
        </p:nvSpPr>
        <p:spPr>
          <a:xfrm>
            <a:off x="566928" y="1965960"/>
            <a:ext cx="420624" cy="420624"/>
          </a:xfrm>
          <a:prstGeom prst="ellipse">
            <a:avLst/>
          </a:prstGeom>
          <a:solidFill>
            <a:srgbClr val="12AEBE"/>
          </a:solidFill>
          <a:ln/>
        </p:spPr>
      </p:sp>
      <p:sp>
        <p:nvSpPr>
          <p:cNvPr id="6" name="Text 3"/>
          <p:cNvSpPr/>
          <p:nvPr/>
        </p:nvSpPr>
        <p:spPr>
          <a:xfrm>
            <a:off x="566928"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p:nvPr/>
        </p:nvSpPr>
        <p:spPr>
          <a:xfrm>
            <a:off x="1188720" y="1929384"/>
            <a:ext cx="6784848"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 project managers</a:t>
            </a:r>
            <a:endParaRPr lang="en-US" sz="1600" dirty="0"/>
          </a:p>
        </p:txBody>
      </p:sp>
      <p:sp>
        <p:nvSpPr>
          <p:cNvPr id="8" name="Text 5"/>
          <p:cNvSpPr/>
          <p:nvPr/>
        </p:nvSpPr>
        <p:spPr>
          <a:xfrm>
            <a:off x="1188720" y="2240280"/>
            <a:ext cx="6784848" cy="868680"/>
          </a:xfrm>
          <a:prstGeom prst="rect">
            <a:avLst/>
          </a:prstGeom>
          <a:noFill/>
          <a:ln/>
        </p:spPr>
        <p:txBody>
          <a:bodyPr wrap="square" lIns="0" tIns="0" rIns="0" bIns="0" rtlCol="0" anchor="ctr"/>
          <a:lstStyle/>
          <a:p>
            <a:pPr indent="0" marL="0">
              <a:lnSpc>
                <a:spcPts val="1800"/>
              </a:lnSpc>
              <a:buNone/>
            </a:pPr>
            <a:r>
              <a:rPr lang="en-US" sz="1350" dirty="0">
                <a:solidFill>
                  <a:srgbClr val="ACD7FA"/>
                </a:solidFill>
                <a:latin typeface="Calibri" pitchFamily="34" charset="0"/>
                <a:ea typeface="Calibri" pitchFamily="34" charset="-122"/>
                <a:cs typeface="Calibri" pitchFamily="34" charset="-120"/>
              </a:rPr>
              <a:t>Plan once. The dates, the phases and the people follow from the same plan instead of being kept in step by hand.</a:t>
            </a:r>
            <a:endParaRPr lang="en-US" sz="1350" dirty="0"/>
          </a:p>
        </p:txBody>
      </p:sp>
      <p:sp>
        <p:nvSpPr>
          <p:cNvPr id="9" name="Shape 6"/>
          <p:cNvSpPr/>
          <p:nvPr/>
        </p:nvSpPr>
        <p:spPr>
          <a:xfrm>
            <a:off x="566928" y="3209544"/>
            <a:ext cx="420624" cy="420624"/>
          </a:xfrm>
          <a:prstGeom prst="ellipse">
            <a:avLst/>
          </a:prstGeom>
          <a:solidFill>
            <a:srgbClr val="12AEBE"/>
          </a:solidFill>
          <a:ln/>
        </p:spPr>
      </p:sp>
      <p:sp>
        <p:nvSpPr>
          <p:cNvPr id="10" name="Text 7"/>
          <p:cNvSpPr/>
          <p:nvPr/>
        </p:nvSpPr>
        <p:spPr>
          <a:xfrm>
            <a:off x="566928" y="32095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88720" y="3172968"/>
            <a:ext cx="6784848"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 delivery leadership</a:t>
            </a:r>
            <a:endParaRPr lang="en-US" sz="1600" dirty="0"/>
          </a:p>
        </p:txBody>
      </p:sp>
      <p:sp>
        <p:nvSpPr>
          <p:cNvPr id="12" name="Text 9"/>
          <p:cNvSpPr/>
          <p:nvPr/>
        </p:nvSpPr>
        <p:spPr>
          <a:xfrm>
            <a:off x="1188720" y="3483864"/>
            <a:ext cx="6784848" cy="868680"/>
          </a:xfrm>
          <a:prstGeom prst="rect">
            <a:avLst/>
          </a:prstGeom>
          <a:noFill/>
          <a:ln/>
        </p:spPr>
        <p:txBody>
          <a:bodyPr wrap="square" lIns="0" tIns="0" rIns="0" bIns="0" rtlCol="0" anchor="ctr"/>
          <a:lstStyle/>
          <a:p>
            <a:pPr indent="0" marL="0">
              <a:lnSpc>
                <a:spcPts val="1800"/>
              </a:lnSpc>
              <a:buNone/>
            </a:pPr>
            <a:r>
              <a:rPr lang="en-US" sz="1350" dirty="0">
                <a:solidFill>
                  <a:srgbClr val="ACD7FA"/>
                </a:solidFill>
                <a:latin typeface="Calibri" pitchFamily="34" charset="0"/>
                <a:ea typeface="Calibri" pitchFamily="34" charset="-122"/>
                <a:cs typeface="Calibri" pitchFamily="34" charset="-120"/>
              </a:rPr>
              <a:t>See the overload before it lands, and the roles that are short for months rather than for a week.</a:t>
            </a:r>
            <a:endParaRPr lang="en-US" sz="1350" dirty="0"/>
          </a:p>
        </p:txBody>
      </p:sp>
      <p:sp>
        <p:nvSpPr>
          <p:cNvPr id="13" name="Shape 10"/>
          <p:cNvSpPr/>
          <p:nvPr/>
        </p:nvSpPr>
        <p:spPr>
          <a:xfrm>
            <a:off x="566928" y="4453128"/>
            <a:ext cx="420624" cy="420624"/>
          </a:xfrm>
          <a:prstGeom prst="ellipse">
            <a:avLst/>
          </a:prstGeom>
          <a:solidFill>
            <a:srgbClr val="12AEBE"/>
          </a:solidFill>
          <a:ln/>
        </p:spPr>
      </p:sp>
      <p:sp>
        <p:nvSpPr>
          <p:cNvPr id="14" name="Text 11"/>
          <p:cNvSpPr/>
          <p:nvPr/>
        </p:nvSpPr>
        <p:spPr>
          <a:xfrm>
            <a:off x="566928" y="4453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p:nvPr/>
        </p:nvSpPr>
        <p:spPr>
          <a:xfrm>
            <a:off x="1188720" y="4416552"/>
            <a:ext cx="6784848"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 the executive team</a:t>
            </a:r>
            <a:endParaRPr lang="en-US" sz="1600" dirty="0"/>
          </a:p>
        </p:txBody>
      </p:sp>
      <p:sp>
        <p:nvSpPr>
          <p:cNvPr id="16" name="Text 13"/>
          <p:cNvSpPr/>
          <p:nvPr/>
        </p:nvSpPr>
        <p:spPr>
          <a:xfrm>
            <a:off x="1188720" y="4727448"/>
            <a:ext cx="6784848" cy="868680"/>
          </a:xfrm>
          <a:prstGeom prst="rect">
            <a:avLst/>
          </a:prstGeom>
          <a:noFill/>
          <a:ln/>
        </p:spPr>
        <p:txBody>
          <a:bodyPr wrap="square" lIns="0" tIns="0" rIns="0" bIns="0" rtlCol="0" anchor="ctr"/>
          <a:lstStyle/>
          <a:p>
            <a:pPr indent="0" marL="0">
              <a:lnSpc>
                <a:spcPts val="1800"/>
              </a:lnSpc>
              <a:buNone/>
            </a:pPr>
            <a:r>
              <a:rPr lang="en-US" sz="1350" dirty="0">
                <a:solidFill>
                  <a:srgbClr val="ACD7FA"/>
                </a:solidFill>
                <a:latin typeface="Calibri" pitchFamily="34" charset="0"/>
                <a:ea typeface="Calibri" pitchFamily="34" charset="-122"/>
                <a:cs typeface="Calibri" pitchFamily="34" charset="-120"/>
              </a:rPr>
              <a:t>One page that says what is at risk, what it is worth, and what it would take to fix — from figures nobody retyped.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Glass — PMO Portfolio Tracker</dc:title>
  <dc:subject>PptxGenJS Presentation</dc:subject>
  <dc:creator>Project Glass</dc:creator>
  <cp:lastModifiedBy>Project Glass</cp:lastModifiedBy>
  <cp:revision>1</cp:revision>
  <dcterms:created xsi:type="dcterms:W3CDTF">2026-08-12T08:39:35Z</dcterms:created>
  <dcterms:modified xsi:type="dcterms:W3CDTF">2026-08-12T08:39:35Z</dcterms:modified>
</cp:coreProperties>
</file>