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Project Glass is a portfolio tracker built for how a delivery office actually works: one place for the projects, the people and the money, with a planning tool that feeds straight into resourcing. Everything you will see is live software, not mock-ups.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to land here is that these are not reporting problems, they are data problems. When the portfolio, the people and the plans live in different files, no amount of reporting effort makes them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 areas, one underlying set of data. Change a booking and the portfolio, the alerts and the financials all move together, because they are all reading the same numbers rather than their own copies.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top of the portfolio screen is built to be read at a glance in a governance meeting. Every one of these figures is clickable — the number is a way into the projects behind it, not just a headline.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Filter to one delivery type and the axis names that type's phases, so a position on the chart reads directly as "this one is in validation" rather than as a percentage.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screen that changes conversations. Instead of "can you take this on", it is "you are at 124% in December, so something has to give" — with the projects causing it listed underneath.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metric was built for the conversation with the executive team: it turns "we are busy" into "these four roles are short for six months and no one of the same job title can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column here sorts, so the same screen answers "who owes us the most" and "which budgets are nearly gone" without exporting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timeline never guesses. A project shows the dates that were typed on it until someone explicitly says the plan is the truth, which keeps a half-built plan from moving the portfolio.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page a project manager takes into a review. The PDF export keeps every tab, so what gets circulated is the whole picture rather than whichever panel was open.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scheduler is the real thing: a forward and backward pass, float, and the four dependency types with lag. Nest tasks under the phases the delivery type already defines, and the plan feeds the timeline.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feature that closes the loop between planning and resourcing. The plan is the single source of the hours, but nothing is destroyed: the hand-typed bookings are set aside, not overwritten, and come back the moment the switch goes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Alerts are derived, never typed. Nobody has to remember to raise them, and they cannot go stale, because they are recalculated from the same figures every time the screen is opened.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Worth saying plainly to the exec: today the data lives in the browser on one machine. Sharing it across devices is a known next step, costed and specified — see the closing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ask. The tool is in use today on a single machine; the one thing standing between that and team-wide use is shared storage, which is specified and about a day of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1.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63049"/>
        </a:solidFill>
      </p:bgPr>
    </p:bg>
    <p:spTree>
      <p:nvGrpSpPr>
        <p:cNvPr id="1" name=""/>
        <p:cNvGrpSpPr/>
        <p:nvPr/>
      </p:nvGrpSpPr>
      <p:grpSpPr>
        <a:xfrm>
          <a:off x="0" y="0"/>
          <a:ext cx="0" cy="0"/>
          <a:chOff x="0" y="0"/>
          <a:chExt cx="0" cy="0"/>
        </a:xfrm>
      </p:grpSpPr>
      <p:pic>
        <p:nvPicPr>
          <p:cNvPr id="2" name="Image 0" descr="../deck/mark-dark.png">    </p:cNvPr>
          <p:cNvPicPr>
            <a:picLocks noChangeAspect="1"/>
          </p:cNvPicPr>
          <p:nvPr/>
        </p:nvPicPr>
        <p:blipFill>
          <a:blip r:embed="rId1">
            <a:alphaModFix amt="55000"/>
          </a:blip>
          <a:stretch>
            <a:fillRect/>
          </a:stretch>
        </p:blipFill>
        <p:spPr>
          <a:xfrm>
            <a:off x="7772400" y="960120"/>
            <a:ext cx="4937760" cy="4937760"/>
          </a:xfrm>
          <a:prstGeom prst="rect">
            <a:avLst/>
          </a:prstGeom>
        </p:spPr>
      </p:pic>
      <p:pic>
        <p:nvPicPr>
          <p:cNvPr id="3" name="Image 1" descr="../deck/mark-dark.png">    </p:cNvPr>
          <p:cNvPicPr>
            <a:picLocks noChangeAspect="1"/>
          </p:cNvPicPr>
          <p:nvPr/>
        </p:nvPicPr>
        <p:blipFill>
          <a:blip r:embed="rId2"/>
          <a:stretch>
            <a:fillRect/>
          </a:stretch>
        </p:blipFill>
        <p:spPr>
          <a:xfrm>
            <a:off x="566928" y="1371600"/>
            <a:ext cx="1371600" cy="1371600"/>
          </a:xfrm>
          <a:prstGeom prst="rect">
            <a:avLst/>
          </a:prstGeom>
        </p:spPr>
      </p:pic>
      <p:sp>
        <p:nvSpPr>
          <p:cNvPr id="4" name="Text 0"/>
          <p:cNvSpPr/>
          <p:nvPr/>
        </p:nvSpPr>
        <p:spPr>
          <a:xfrm>
            <a:off x="566928" y="2880360"/>
            <a:ext cx="7863840" cy="914400"/>
          </a:xfrm>
          <a:prstGeom prst="rect">
            <a:avLst/>
          </a:prstGeom>
          <a:noFill/>
          <a:ln/>
        </p:spPr>
        <p:txBody>
          <a:bodyPr wrap="square" lIns="0" tIns="0" rIns="0" bIns="0" rtlCol="0" anchor="ctr"/>
          <a:lstStyle/>
          <a:p>
            <a:pPr indent="0" marL="0">
              <a:buNone/>
            </a:pPr>
            <a:r>
              <a:rPr lang="en-US" sz="5400" b="1" dirty="0">
                <a:solidFill>
                  <a:srgbClr val="FFFFFF"/>
                </a:solidFill>
                <a:latin typeface="Calibri" pitchFamily="34" charset="0"/>
                <a:ea typeface="Calibri" pitchFamily="34" charset="-122"/>
                <a:cs typeface="Calibri" pitchFamily="34" charset="-120"/>
              </a:rPr>
              <a:t>Project Glass</a:t>
            </a:r>
            <a:endParaRPr lang="en-US" sz="5400" dirty="0"/>
          </a:p>
        </p:txBody>
      </p:sp>
      <p:sp>
        <p:nvSpPr>
          <p:cNvPr id="5" name="Text 1"/>
          <p:cNvSpPr/>
          <p:nvPr/>
        </p:nvSpPr>
        <p:spPr>
          <a:xfrm>
            <a:off x="566928" y="3767328"/>
            <a:ext cx="7863840" cy="457200"/>
          </a:xfrm>
          <a:prstGeom prst="rect">
            <a:avLst/>
          </a:prstGeom>
          <a:noFill/>
          <a:ln/>
        </p:spPr>
        <p:txBody>
          <a:bodyPr wrap="square" lIns="0" tIns="0" rIns="0" bIns="0" rtlCol="0" anchor="ctr"/>
          <a:lstStyle/>
          <a:p>
            <a:pPr indent="0" marL="0">
              <a:buNone/>
            </a:pPr>
            <a:r>
              <a:rPr lang="en-US" sz="2400" dirty="0">
                <a:solidFill>
                  <a:srgbClr val="12AEBE"/>
                </a:solidFill>
                <a:latin typeface="Calibri" pitchFamily="34" charset="0"/>
                <a:ea typeface="Calibri" pitchFamily="34" charset="-122"/>
                <a:cs typeface="Calibri" pitchFamily="34" charset="-120"/>
              </a:rPr>
              <a:t>The PMO portfolio tracker</a:t>
            </a:r>
            <a:endParaRPr lang="en-US" sz="2400" dirty="0"/>
          </a:p>
        </p:txBody>
      </p:sp>
      <p:sp>
        <p:nvSpPr>
          <p:cNvPr id="6" name="Text 2"/>
          <p:cNvSpPr/>
          <p:nvPr/>
        </p:nvSpPr>
        <p:spPr>
          <a:xfrm>
            <a:off x="566928" y="4370832"/>
            <a:ext cx="7498080" cy="822960"/>
          </a:xfrm>
          <a:prstGeom prst="rect">
            <a:avLst/>
          </a:prstGeom>
          <a:noFill/>
          <a:ln/>
        </p:spPr>
        <p:txBody>
          <a:bodyPr wrap="square" lIns="0" tIns="0" rIns="0" bIns="0" rtlCol="0" anchor="ctr"/>
          <a:lstStyle/>
          <a:p>
            <a:pPr indent="0" marL="0">
              <a:lnSpc>
                <a:spcPts val="2200"/>
              </a:lnSpc>
              <a:buNone/>
            </a:pPr>
            <a:r>
              <a:rPr lang="en-US" sz="1500" dirty="0">
                <a:solidFill>
                  <a:srgbClr val="ACD7FA"/>
                </a:solidFill>
                <a:latin typeface="Calibri" pitchFamily="34" charset="0"/>
                <a:ea typeface="Calibri" pitchFamily="34" charset="-122"/>
                <a:cs typeface="Calibri" pitchFamily="34" charset="-120"/>
              </a:rPr>
              <a:t>Every project, every person and every pound in one place — and a plan that books the people it needs.</a:t>
            </a:r>
            <a:endParaRPr lang="en-US" sz="1500" dirty="0"/>
          </a:p>
        </p:txBody>
      </p:sp>
      <p:sp>
        <p:nvSpPr>
          <p:cNvPr id="7" name="Text 3"/>
          <p:cNvSpPr/>
          <p:nvPr/>
        </p:nvSpPr>
        <p:spPr>
          <a:xfrm>
            <a:off x="566928" y="5943600"/>
            <a:ext cx="8229600" cy="274320"/>
          </a:xfrm>
          <a:prstGeom prst="rect">
            <a:avLst/>
          </a:prstGeom>
          <a:noFill/>
          <a:ln/>
        </p:spPr>
        <p:txBody>
          <a:bodyPr wrap="square" lIns="0" tIns="0" rIns="0" bIns="0" rtlCol="0" anchor="ctr"/>
          <a:lstStyle/>
          <a:p>
            <a:pPr indent="0" marL="0">
              <a:buNone/>
            </a:pPr>
            <a:r>
              <a:rPr lang="en-US" sz="1200" b="1" spc="100" kern="0" dirty="0">
                <a:solidFill>
                  <a:srgbClr val="6E93AF"/>
                </a:solidFill>
                <a:latin typeface="Calibri" pitchFamily="34" charset="0"/>
                <a:ea typeface="Calibri" pitchFamily="34" charset="-122"/>
                <a:cs typeface="Calibri" pitchFamily="34" charset="-120"/>
              </a:rPr>
              <a:t>For project managers, delivery leadership and the executive team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47472"/>
            <a:ext cx="8229600" cy="274320"/>
          </a:xfrm>
          <a:prstGeom prst="rect">
            <a:avLst/>
          </a:prstGeom>
          <a:noFill/>
          <a:ln/>
        </p:spPr>
        <p:txBody>
          <a:bodyPr wrap="square" lIns="0" tIns="0" rIns="0" bIns="0" rtlCol="0" anchor="ctr"/>
          <a:lstStyle/>
          <a:p>
            <a:pPr indent="0" marL="0">
              <a:buNone/>
            </a:pPr>
            <a:r>
              <a:rPr lang="en-US" sz="1200" b="1" spc="200" kern="0" dirty="0">
                <a:solidFill>
                  <a:srgbClr val="12AEBE"/>
                </a:solidFill>
                <a:latin typeface="Calibri" pitchFamily="34" charset="0"/>
                <a:ea typeface="Calibri" pitchFamily="34" charset="-122"/>
                <a:cs typeface="Calibri" pitchFamily="34" charset="-120"/>
              </a:rPr>
              <a:t>WHY THIS EXISTS</a:t>
            </a:r>
            <a:endParaRPr lang="en-US" sz="1200" dirty="0"/>
          </a:p>
        </p:txBody>
      </p:sp>
      <p:sp>
        <p:nvSpPr>
          <p:cNvPr id="3" name="Text 1"/>
          <p:cNvSpPr/>
          <p:nvPr/>
        </p:nvSpPr>
        <p:spPr>
          <a:xfrm>
            <a:off x="566928" y="713232"/>
            <a:ext cx="10424160" cy="603504"/>
          </a:xfrm>
          <a:prstGeom prst="rect">
            <a:avLst/>
          </a:prstGeom>
          <a:noFill/>
          <a:ln/>
        </p:spPr>
        <p:txBody>
          <a:bodyPr wrap="square" lIns="0" tIns="0" rIns="0" bIns="0" rtlCol="0" anchor="t"/>
          <a:lstStyle/>
          <a:p>
            <a:pPr indent="0" marL="0">
              <a:buNone/>
            </a:pPr>
            <a:r>
              <a:rPr lang="en-US" sz="3200" b="1" dirty="0">
                <a:solidFill>
                  <a:srgbClr val="0A4B75"/>
                </a:solidFill>
                <a:latin typeface="Calibri" pitchFamily="34" charset="0"/>
                <a:ea typeface="Calibri" pitchFamily="34" charset="-122"/>
                <a:cs typeface="Calibri" pitchFamily="34" charset="-120"/>
              </a:rPr>
              <a:t>Three questions nobody can answer quickly</a:t>
            </a:r>
            <a:endParaRPr lang="en-US" sz="3200" dirty="0"/>
          </a:p>
        </p:txBody>
      </p:sp>
      <p:pic>
        <p:nvPicPr>
          <p:cNvPr id="4" name="Image 0" descr="../deck/mark-light.png">    </p:cNvPr>
          <p:cNvPicPr>
            <a:picLocks noChangeAspect="1"/>
          </p:cNvPicPr>
          <p:nvPr/>
        </p:nvPicPr>
        <p:blipFill>
          <a:blip r:embed="rId1"/>
          <a:stretch>
            <a:fillRect/>
          </a:stretch>
        </p:blipFill>
        <p:spPr>
          <a:xfrm>
            <a:off x="11192256" y="402336"/>
            <a:ext cx="402336" cy="402336"/>
          </a:xfrm>
          <a:prstGeom prst="rect">
            <a:avLst/>
          </a:prstGeom>
        </p:spPr>
      </p:pic>
      <p:sp>
        <p:nvSpPr>
          <p:cNvPr id="5" name="Text 2"/>
          <p:cNvSpPr/>
          <p:nvPr/>
        </p:nvSpPr>
        <p:spPr>
          <a:xfrm>
            <a:off x="566928" y="1481328"/>
            <a:ext cx="10515600" cy="548640"/>
          </a:xfrm>
          <a:prstGeom prst="rect">
            <a:avLst/>
          </a:prstGeom>
          <a:noFill/>
          <a:ln/>
        </p:spPr>
        <p:txBody>
          <a:bodyPr wrap="square" lIns="0" tIns="0" rIns="0" bIns="0" rtlCol="0" anchor="ctr"/>
          <a:lstStyle/>
          <a:p>
            <a:pPr indent="0" marL="0">
              <a:lnSpc>
                <a:spcPts val="2200"/>
              </a:lnSpc>
              <a:buNone/>
            </a:pPr>
            <a:r>
              <a:rPr lang="en-US" sz="1500" dirty="0">
                <a:solidFill>
                  <a:srgbClr val="53606A"/>
                </a:solidFill>
                <a:latin typeface="Calibri" pitchFamily="34" charset="0"/>
                <a:ea typeface="Calibri" pitchFamily="34" charset="-122"/>
                <a:cs typeface="Calibri" pitchFamily="34" charset="-120"/>
              </a:rPr>
              <a:t>Most delivery offices keep the portfolio in one spreadsheet, the resourcing in another and the plans in a tool nobody else opens. The numbers stop agreeing the moment anything changes.</a:t>
            </a:r>
            <a:endParaRPr lang="en-US" sz="1500" dirty="0"/>
          </a:p>
        </p:txBody>
      </p:sp>
      <p:sp>
        <p:nvSpPr>
          <p:cNvPr id="6" name="Shape 3"/>
          <p:cNvSpPr/>
          <p:nvPr/>
        </p:nvSpPr>
        <p:spPr>
          <a:xfrm>
            <a:off x="566928" y="2395728"/>
            <a:ext cx="3383280" cy="2880360"/>
          </a:xfrm>
          <a:prstGeom prst="roundRect">
            <a:avLst>
              <a:gd name="adj" fmla="val 2540"/>
            </a:avLst>
          </a:prstGeom>
          <a:solidFill>
            <a:srgbClr val="F2F6F9"/>
          </a:solidFill>
          <a:ln w="12700">
            <a:solidFill>
              <a:srgbClr val="DCE7EF"/>
            </a:solidFill>
            <a:prstDash val="solid"/>
          </a:ln>
        </p:spPr>
      </p:sp>
      <p:sp>
        <p:nvSpPr>
          <p:cNvPr id="7" name="Text 4"/>
          <p:cNvSpPr/>
          <p:nvPr/>
        </p:nvSpPr>
        <p:spPr>
          <a:xfrm>
            <a:off x="877824" y="2670048"/>
            <a:ext cx="457200" cy="457200"/>
          </a:xfrm>
          <a:prstGeom prst="rect">
            <a:avLst/>
          </a:prstGeom>
          <a:noFill/>
          <a:ln/>
        </p:spPr>
        <p:txBody>
          <a:bodyPr wrap="square" lIns="0" tIns="0" rIns="0" bIns="0" rtlCol="0" anchor="ctr"/>
          <a:lstStyle/>
          <a:p>
            <a:pPr indent="0" marL="0">
              <a:buNone/>
            </a:pPr>
            <a:r>
              <a:rPr lang="en-US" sz="2600" b="1" dirty="0">
                <a:solidFill>
                  <a:srgbClr val="12AEBE"/>
                </a:solidFill>
                <a:latin typeface="Calibri" pitchFamily="34" charset="0"/>
                <a:ea typeface="Calibri" pitchFamily="34" charset="-122"/>
                <a:cs typeface="Calibri" pitchFamily="34" charset="-120"/>
              </a:rPr>
              <a:t>?</a:t>
            </a:r>
            <a:endParaRPr lang="en-US" sz="2600" dirty="0"/>
          </a:p>
        </p:txBody>
      </p:sp>
      <p:sp>
        <p:nvSpPr>
          <p:cNvPr id="8" name="Text 5"/>
          <p:cNvSpPr/>
          <p:nvPr/>
        </p:nvSpPr>
        <p:spPr>
          <a:xfrm>
            <a:off x="877824" y="3200400"/>
            <a:ext cx="2761488" cy="914400"/>
          </a:xfrm>
          <a:prstGeom prst="rect">
            <a:avLst/>
          </a:prstGeom>
          <a:noFill/>
          <a:ln/>
        </p:spPr>
        <p:txBody>
          <a:bodyPr wrap="square" lIns="0" tIns="0" rIns="0" bIns="0" rtlCol="0" anchor="ctr"/>
          <a:lstStyle/>
          <a:p>
            <a:pPr indent="0" marL="0">
              <a:lnSpc>
                <a:spcPts val="2400"/>
              </a:lnSpc>
              <a:buNone/>
            </a:pPr>
            <a:r>
              <a:rPr lang="en-US" sz="1900" b="1" dirty="0">
                <a:solidFill>
                  <a:srgbClr val="0A4B75"/>
                </a:solidFill>
                <a:latin typeface="Calibri" pitchFamily="34" charset="0"/>
                <a:ea typeface="Calibri" pitchFamily="34" charset="-122"/>
                <a:cs typeface="Calibri" pitchFamily="34" charset="-120"/>
              </a:rPr>
              <a:t>Which projects are</a:t>
            </a:r>
            <a:endParaRPr lang="en-US" sz="1900" dirty="0"/>
          </a:p>
          <a:p>
            <a:pPr indent="0" marL="0">
              <a:lnSpc>
                <a:spcPts val="2400"/>
              </a:lnSpc>
              <a:buNone/>
            </a:pPr>
            <a:r>
              <a:rPr lang="en-US" sz="1900" b="1" dirty="0">
                <a:solidFill>
                  <a:srgbClr val="0A4B75"/>
                </a:solidFill>
                <a:latin typeface="Calibri" pitchFamily="34" charset="0"/>
                <a:ea typeface="Calibri" pitchFamily="34" charset="-122"/>
                <a:cs typeface="Calibri" pitchFamily="34" charset="-120"/>
              </a:rPr>
              <a:t>actually at risk?</a:t>
            </a:r>
            <a:endParaRPr lang="en-US" sz="1900" dirty="0"/>
          </a:p>
        </p:txBody>
      </p:sp>
      <p:sp>
        <p:nvSpPr>
          <p:cNvPr id="9" name="Text 6"/>
          <p:cNvSpPr/>
          <p:nvPr/>
        </p:nvSpPr>
        <p:spPr>
          <a:xfrm>
            <a:off x="877824" y="4169664"/>
            <a:ext cx="2761488" cy="914400"/>
          </a:xfrm>
          <a:prstGeom prst="rect">
            <a:avLst/>
          </a:prstGeom>
          <a:noFill/>
          <a:ln/>
        </p:spPr>
        <p:txBody>
          <a:bodyPr wrap="square" lIns="0" tIns="0" rIns="0" bIns="0" rtlCol="0" anchor="ctr"/>
          <a:lstStyle/>
          <a:p>
            <a:pPr indent="0" marL="0">
              <a:lnSpc>
                <a:spcPts val="1800"/>
              </a:lnSpc>
              <a:buNone/>
            </a:pPr>
            <a:r>
              <a:rPr lang="en-US" sz="1300" dirty="0">
                <a:solidFill>
                  <a:srgbClr val="53606A"/>
                </a:solidFill>
                <a:latin typeface="Calibri" pitchFamily="34" charset="0"/>
                <a:ea typeface="Calibri" pitchFamily="34" charset="-122"/>
                <a:cs typeface="Calibri" pitchFamily="34" charset="-120"/>
              </a:rPr>
              <a:t>Status is a colour someone typed last month, not something the numbers show.</a:t>
            </a:r>
            <a:endParaRPr lang="en-US" sz="1300" dirty="0"/>
          </a:p>
        </p:txBody>
      </p:sp>
      <p:sp>
        <p:nvSpPr>
          <p:cNvPr id="10" name="Shape 7"/>
          <p:cNvSpPr/>
          <p:nvPr/>
        </p:nvSpPr>
        <p:spPr>
          <a:xfrm>
            <a:off x="4279392" y="2395728"/>
            <a:ext cx="3383280" cy="2880360"/>
          </a:xfrm>
          <a:prstGeom prst="roundRect">
            <a:avLst>
              <a:gd name="adj" fmla="val 2540"/>
            </a:avLst>
          </a:prstGeom>
          <a:solidFill>
            <a:srgbClr val="F2F6F9"/>
          </a:solidFill>
          <a:ln w="12700">
            <a:solidFill>
              <a:srgbClr val="DCE7EF"/>
            </a:solidFill>
            <a:prstDash val="solid"/>
          </a:ln>
        </p:spPr>
      </p:sp>
      <p:sp>
        <p:nvSpPr>
          <p:cNvPr id="11" name="Text 8"/>
          <p:cNvSpPr/>
          <p:nvPr/>
        </p:nvSpPr>
        <p:spPr>
          <a:xfrm>
            <a:off x="4590288" y="2670048"/>
            <a:ext cx="457200" cy="457200"/>
          </a:xfrm>
          <a:prstGeom prst="rect">
            <a:avLst/>
          </a:prstGeom>
          <a:noFill/>
          <a:ln/>
        </p:spPr>
        <p:txBody>
          <a:bodyPr wrap="square" lIns="0" tIns="0" rIns="0" bIns="0" rtlCol="0" anchor="ctr"/>
          <a:lstStyle/>
          <a:p>
            <a:pPr indent="0" marL="0">
              <a:buNone/>
            </a:pPr>
            <a:r>
              <a:rPr lang="en-US" sz="2600" b="1" dirty="0">
                <a:solidFill>
                  <a:srgbClr val="12AEBE"/>
                </a:solidFill>
                <a:latin typeface="Calibri" pitchFamily="34" charset="0"/>
                <a:ea typeface="Calibri" pitchFamily="34" charset="-122"/>
                <a:cs typeface="Calibri" pitchFamily="34" charset="-120"/>
              </a:rPr>
              <a:t>?</a:t>
            </a:r>
            <a:endParaRPr lang="en-US" sz="2600" dirty="0"/>
          </a:p>
        </p:txBody>
      </p:sp>
      <p:sp>
        <p:nvSpPr>
          <p:cNvPr id="12" name="Text 9"/>
          <p:cNvSpPr/>
          <p:nvPr/>
        </p:nvSpPr>
        <p:spPr>
          <a:xfrm>
            <a:off x="4590288" y="3200400"/>
            <a:ext cx="2761488" cy="914400"/>
          </a:xfrm>
          <a:prstGeom prst="rect">
            <a:avLst/>
          </a:prstGeom>
          <a:noFill/>
          <a:ln/>
        </p:spPr>
        <p:txBody>
          <a:bodyPr wrap="square" lIns="0" tIns="0" rIns="0" bIns="0" rtlCol="0" anchor="ctr"/>
          <a:lstStyle/>
          <a:p>
            <a:pPr indent="0" marL="0">
              <a:lnSpc>
                <a:spcPts val="2400"/>
              </a:lnSpc>
              <a:buNone/>
            </a:pPr>
            <a:r>
              <a:rPr lang="en-US" sz="1900" b="1" dirty="0">
                <a:solidFill>
                  <a:srgbClr val="0A4B75"/>
                </a:solidFill>
                <a:latin typeface="Calibri" pitchFamily="34" charset="0"/>
                <a:ea typeface="Calibri" pitchFamily="34" charset="-122"/>
                <a:cs typeface="Calibri" pitchFamily="34" charset="-120"/>
              </a:rPr>
              <a:t>Who is overbooked,</a:t>
            </a:r>
            <a:endParaRPr lang="en-US" sz="1900" dirty="0"/>
          </a:p>
          <a:p>
            <a:pPr indent="0" marL="0">
              <a:lnSpc>
                <a:spcPts val="2400"/>
              </a:lnSpc>
              <a:buNone/>
            </a:pPr>
            <a:r>
              <a:rPr lang="en-US" sz="1900" b="1" dirty="0">
                <a:solidFill>
                  <a:srgbClr val="0A4B75"/>
                </a:solidFill>
                <a:latin typeface="Calibri" pitchFamily="34" charset="0"/>
                <a:ea typeface="Calibri" pitchFamily="34" charset="-122"/>
                <a:cs typeface="Calibri" pitchFamily="34" charset="-120"/>
              </a:rPr>
              <a:t>and when?</a:t>
            </a:r>
            <a:endParaRPr lang="en-US" sz="1900" dirty="0"/>
          </a:p>
        </p:txBody>
      </p:sp>
      <p:sp>
        <p:nvSpPr>
          <p:cNvPr id="13" name="Text 10"/>
          <p:cNvSpPr/>
          <p:nvPr/>
        </p:nvSpPr>
        <p:spPr>
          <a:xfrm>
            <a:off x="4590288" y="4169664"/>
            <a:ext cx="2761488" cy="914400"/>
          </a:xfrm>
          <a:prstGeom prst="rect">
            <a:avLst/>
          </a:prstGeom>
          <a:noFill/>
          <a:ln/>
        </p:spPr>
        <p:txBody>
          <a:bodyPr wrap="square" lIns="0" tIns="0" rIns="0" bIns="0" rtlCol="0" anchor="ctr"/>
          <a:lstStyle/>
          <a:p>
            <a:pPr indent="0" marL="0">
              <a:lnSpc>
                <a:spcPts val="1800"/>
              </a:lnSpc>
              <a:buNone/>
            </a:pPr>
            <a:r>
              <a:rPr lang="en-US" sz="1300" dirty="0">
                <a:solidFill>
                  <a:srgbClr val="53606A"/>
                </a:solidFill>
                <a:latin typeface="Calibri" pitchFamily="34" charset="0"/>
                <a:ea typeface="Calibri" pitchFamily="34" charset="-122"/>
                <a:cs typeface="Calibri" pitchFamily="34" charset="-120"/>
              </a:rPr>
              <a:t>Commitments live per project, so nobody sees the person underneath them all.</a:t>
            </a:r>
            <a:endParaRPr lang="en-US" sz="1300" dirty="0"/>
          </a:p>
        </p:txBody>
      </p:sp>
      <p:sp>
        <p:nvSpPr>
          <p:cNvPr id="14" name="Shape 11"/>
          <p:cNvSpPr/>
          <p:nvPr/>
        </p:nvSpPr>
        <p:spPr>
          <a:xfrm>
            <a:off x="7991856" y="2395728"/>
            <a:ext cx="3383280" cy="2880360"/>
          </a:xfrm>
          <a:prstGeom prst="roundRect">
            <a:avLst>
              <a:gd name="adj" fmla="val 2540"/>
            </a:avLst>
          </a:prstGeom>
          <a:solidFill>
            <a:srgbClr val="F2F6F9"/>
          </a:solidFill>
          <a:ln w="12700">
            <a:solidFill>
              <a:srgbClr val="DCE7EF"/>
            </a:solidFill>
            <a:prstDash val="solid"/>
          </a:ln>
        </p:spPr>
      </p:sp>
      <p:sp>
        <p:nvSpPr>
          <p:cNvPr id="15" name="Text 12"/>
          <p:cNvSpPr/>
          <p:nvPr/>
        </p:nvSpPr>
        <p:spPr>
          <a:xfrm>
            <a:off x="8302752" y="2670048"/>
            <a:ext cx="457200" cy="457200"/>
          </a:xfrm>
          <a:prstGeom prst="rect">
            <a:avLst/>
          </a:prstGeom>
          <a:noFill/>
          <a:ln/>
        </p:spPr>
        <p:txBody>
          <a:bodyPr wrap="square" lIns="0" tIns="0" rIns="0" bIns="0" rtlCol="0" anchor="ctr"/>
          <a:lstStyle/>
          <a:p>
            <a:pPr indent="0" marL="0">
              <a:buNone/>
            </a:pPr>
            <a:r>
              <a:rPr lang="en-US" sz="2600" b="1" dirty="0">
                <a:solidFill>
                  <a:srgbClr val="12AEBE"/>
                </a:solidFill>
                <a:latin typeface="Calibri" pitchFamily="34" charset="0"/>
                <a:ea typeface="Calibri" pitchFamily="34" charset="-122"/>
                <a:cs typeface="Calibri" pitchFamily="34" charset="-120"/>
              </a:rPr>
              <a:t>?</a:t>
            </a:r>
            <a:endParaRPr lang="en-US" sz="2600" dirty="0"/>
          </a:p>
        </p:txBody>
      </p:sp>
      <p:sp>
        <p:nvSpPr>
          <p:cNvPr id="16" name="Text 13"/>
          <p:cNvSpPr/>
          <p:nvPr/>
        </p:nvSpPr>
        <p:spPr>
          <a:xfrm>
            <a:off x="8302752" y="3200400"/>
            <a:ext cx="2761488" cy="914400"/>
          </a:xfrm>
          <a:prstGeom prst="rect">
            <a:avLst/>
          </a:prstGeom>
          <a:noFill/>
          <a:ln/>
        </p:spPr>
        <p:txBody>
          <a:bodyPr wrap="square" lIns="0" tIns="0" rIns="0" bIns="0" rtlCol="0" anchor="ctr"/>
          <a:lstStyle/>
          <a:p>
            <a:pPr indent="0" marL="0">
              <a:lnSpc>
                <a:spcPts val="2400"/>
              </a:lnSpc>
              <a:buNone/>
            </a:pPr>
            <a:r>
              <a:rPr lang="en-US" sz="1900" b="1" dirty="0">
                <a:solidFill>
                  <a:srgbClr val="0A4B75"/>
                </a:solidFill>
                <a:latin typeface="Calibri" pitchFamily="34" charset="0"/>
                <a:ea typeface="Calibri" pitchFamily="34" charset="-122"/>
                <a:cs typeface="Calibri" pitchFamily="34" charset="-120"/>
              </a:rPr>
              <a:t>What happens if</a:t>
            </a:r>
            <a:endParaRPr lang="en-US" sz="1900" dirty="0"/>
          </a:p>
          <a:p>
            <a:pPr indent="0" marL="0">
              <a:lnSpc>
                <a:spcPts val="2400"/>
              </a:lnSpc>
              <a:buNone/>
            </a:pPr>
            <a:r>
              <a:rPr lang="en-US" sz="1900" b="1" dirty="0">
                <a:solidFill>
                  <a:srgbClr val="0A4B75"/>
                </a:solidFill>
                <a:latin typeface="Calibri" pitchFamily="34" charset="0"/>
                <a:ea typeface="Calibri" pitchFamily="34" charset="-122"/>
                <a:cs typeface="Calibri" pitchFamily="34" charset="-120"/>
              </a:rPr>
              <a:t>this slips?</a:t>
            </a:r>
            <a:endParaRPr lang="en-US" sz="1900" dirty="0"/>
          </a:p>
        </p:txBody>
      </p:sp>
      <p:sp>
        <p:nvSpPr>
          <p:cNvPr id="17" name="Text 14"/>
          <p:cNvSpPr/>
          <p:nvPr/>
        </p:nvSpPr>
        <p:spPr>
          <a:xfrm>
            <a:off x="8302752" y="4169664"/>
            <a:ext cx="2761488" cy="914400"/>
          </a:xfrm>
          <a:prstGeom prst="rect">
            <a:avLst/>
          </a:prstGeom>
          <a:noFill/>
          <a:ln/>
        </p:spPr>
        <p:txBody>
          <a:bodyPr wrap="square" lIns="0" tIns="0" rIns="0" bIns="0" rtlCol="0" anchor="ctr"/>
          <a:lstStyle/>
          <a:p>
            <a:pPr indent="0" marL="0">
              <a:lnSpc>
                <a:spcPts val="1800"/>
              </a:lnSpc>
              <a:buNone/>
            </a:pPr>
            <a:r>
              <a:rPr lang="en-US" sz="1300" dirty="0">
                <a:solidFill>
                  <a:srgbClr val="53606A"/>
                </a:solidFill>
                <a:latin typeface="Calibri" pitchFamily="34" charset="0"/>
                <a:ea typeface="Calibri" pitchFamily="34" charset="-122"/>
                <a:cs typeface="Calibri" pitchFamily="34" charset="-120"/>
              </a:rPr>
              <a:t>Plans and resourcing are kept apart, so a slipped task moves nothing else.</a:t>
            </a:r>
            <a:endParaRPr lang="en-US" sz="1300" dirty="0"/>
          </a:p>
        </p:txBody>
      </p:sp>
      <p:sp>
        <p:nvSpPr>
          <p:cNvPr id="18" name="Text 15"/>
          <p:cNvSpPr/>
          <p:nvPr/>
        </p:nvSpPr>
        <p:spPr>
          <a:xfrm>
            <a:off x="566928" y="5596128"/>
            <a:ext cx="10515600" cy="365760"/>
          </a:xfrm>
          <a:prstGeom prst="rect">
            <a:avLst/>
          </a:prstGeom>
          <a:noFill/>
          <a:ln/>
        </p:spPr>
        <p:txBody>
          <a:bodyPr wrap="square" lIns="0" tIns="0" rIns="0" bIns="0" rtlCol="0" anchor="ctr"/>
          <a:lstStyle/>
          <a:p>
            <a:pPr indent="0" marL="0">
              <a:buNone/>
            </a:pPr>
            <a:r>
              <a:rPr lang="en-US" sz="1700" b="1" dirty="0">
                <a:solidFill>
                  <a:srgbClr val="0A4B75"/>
                </a:solidFill>
                <a:latin typeface="Calibri" pitchFamily="34" charset="0"/>
                <a:ea typeface="Calibri" pitchFamily="34" charset="-122"/>
                <a:cs typeface="Calibri" pitchFamily="34" charset="-120"/>
              </a:rPr>
              <a:t>Project Glass answers all three from one set of figures.</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47472"/>
            <a:ext cx="8229600" cy="274320"/>
          </a:xfrm>
          <a:prstGeom prst="rect">
            <a:avLst/>
          </a:prstGeom>
          <a:noFill/>
          <a:ln/>
        </p:spPr>
        <p:txBody>
          <a:bodyPr wrap="square" lIns="0" tIns="0" rIns="0" bIns="0" rtlCol="0" anchor="ctr"/>
          <a:lstStyle/>
          <a:p>
            <a:pPr indent="0" marL="0">
              <a:buNone/>
            </a:pPr>
            <a:r>
              <a:rPr lang="en-US" sz="1200" b="1" spc="200" kern="0" dirty="0">
                <a:solidFill>
                  <a:srgbClr val="12AEBE"/>
                </a:solidFill>
                <a:latin typeface="Calibri" pitchFamily="34" charset="0"/>
                <a:ea typeface="Calibri" pitchFamily="34" charset="-122"/>
                <a:cs typeface="Calibri" pitchFamily="34" charset="-120"/>
              </a:rPr>
              <a:t>WHAT IT IS</a:t>
            </a:r>
            <a:endParaRPr lang="en-US" sz="1200" dirty="0"/>
          </a:p>
        </p:txBody>
      </p:sp>
      <p:sp>
        <p:nvSpPr>
          <p:cNvPr id="3" name="Text 1"/>
          <p:cNvSpPr/>
          <p:nvPr/>
        </p:nvSpPr>
        <p:spPr>
          <a:xfrm>
            <a:off x="566928" y="713232"/>
            <a:ext cx="10424160" cy="603504"/>
          </a:xfrm>
          <a:prstGeom prst="rect">
            <a:avLst/>
          </a:prstGeom>
          <a:noFill/>
          <a:ln/>
        </p:spPr>
        <p:txBody>
          <a:bodyPr wrap="square" lIns="0" tIns="0" rIns="0" bIns="0" rtlCol="0" anchor="t"/>
          <a:lstStyle/>
          <a:p>
            <a:pPr indent="0" marL="0">
              <a:buNone/>
            </a:pPr>
            <a:r>
              <a:rPr lang="en-US" sz="3200" b="1" dirty="0">
                <a:solidFill>
                  <a:srgbClr val="0A4B75"/>
                </a:solidFill>
                <a:latin typeface="Calibri" pitchFamily="34" charset="0"/>
                <a:ea typeface="Calibri" pitchFamily="34" charset="-122"/>
                <a:cs typeface="Calibri" pitchFamily="34" charset="-120"/>
              </a:rPr>
              <a:t>One place, one set of numbers</a:t>
            </a:r>
            <a:endParaRPr lang="en-US" sz="3200" dirty="0"/>
          </a:p>
        </p:txBody>
      </p:sp>
      <p:pic>
        <p:nvPicPr>
          <p:cNvPr id="4" name="Image 0" descr="../deck/mark-light.png">    </p:cNvPr>
          <p:cNvPicPr>
            <a:picLocks noChangeAspect="1"/>
          </p:cNvPicPr>
          <p:nvPr/>
        </p:nvPicPr>
        <p:blipFill>
          <a:blip r:embed="rId1"/>
          <a:stretch>
            <a:fillRect/>
          </a:stretch>
        </p:blipFill>
        <p:spPr>
          <a:xfrm>
            <a:off x="11192256" y="402336"/>
            <a:ext cx="402336" cy="402336"/>
          </a:xfrm>
          <a:prstGeom prst="rect">
            <a:avLst/>
          </a:prstGeom>
        </p:spPr>
      </p:pic>
      <p:sp>
        <p:nvSpPr>
          <p:cNvPr id="5" name="Shape 2"/>
          <p:cNvSpPr/>
          <p:nvPr/>
        </p:nvSpPr>
        <p:spPr>
          <a:xfrm>
            <a:off x="4983480" y="1481328"/>
            <a:ext cx="6702552" cy="4261104"/>
          </a:xfrm>
          <a:prstGeom prst="roundRect">
            <a:avLst>
              <a:gd name="adj" fmla="val 1288"/>
            </a:avLst>
          </a:prstGeom>
          <a:solidFill>
            <a:srgbClr val="F2F6F9"/>
          </a:solidFill>
          <a:ln w="12700">
            <a:solidFill>
              <a:srgbClr val="D9E4EC"/>
            </a:solidFill>
            <a:prstDash val="solid"/>
          </a:ln>
          <a:effectLst>
            <a:outerShdw sx="100000" sy="100000" kx="0" ky="0" algn="bl" rotWithShape="0" blurRad="177800" dist="38100" dir="5400000">
              <a:srgbClr val="0A2740">
                <a:alpha val="22000"/>
              </a:srgbClr>
            </a:outerShdw>
          </a:effectLst>
        </p:spPr>
      </p:sp>
      <p:pic>
        <p:nvPicPr>
          <p:cNvPr id="6" name="Image 1" descr="../deck/shell.png">    </p:cNvPr>
          <p:cNvPicPr>
            <a:picLocks noChangeAspect="1"/>
          </p:cNvPicPr>
          <p:nvPr/>
        </p:nvPicPr>
        <p:blipFill>
          <a:blip r:embed="rId2"/>
          <a:srcRect l="0" r="0" t="0" b="0"/>
          <a:stretch/>
        </p:blipFill>
        <p:spPr>
          <a:xfrm>
            <a:off x="5074920" y="1572768"/>
            <a:ext cx="6519672" cy="4078224"/>
          </a:xfrm>
          <a:prstGeom prst="rect">
            <a:avLst/>
          </a:prstGeom>
        </p:spPr>
      </p:pic>
      <p:sp>
        <p:nvSpPr>
          <p:cNvPr id="7" name="Shape 3"/>
          <p:cNvSpPr/>
          <p:nvPr/>
        </p:nvSpPr>
        <p:spPr>
          <a:xfrm>
            <a:off x="566928" y="1700784"/>
            <a:ext cx="384048" cy="384048"/>
          </a:xfrm>
          <a:prstGeom prst="ellipse">
            <a:avLst/>
          </a:prstGeom>
          <a:solidFill>
            <a:srgbClr val="12AEBE"/>
          </a:solidFill>
          <a:ln/>
        </p:spPr>
      </p:sp>
      <p:sp>
        <p:nvSpPr>
          <p:cNvPr id="8" name="Text 4"/>
          <p:cNvSpPr/>
          <p:nvPr/>
        </p:nvSpPr>
        <p:spPr>
          <a:xfrm>
            <a:off x="566928" y="170078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9" name="Text 5"/>
          <p:cNvSpPr/>
          <p:nvPr/>
        </p:nvSpPr>
        <p:spPr>
          <a:xfrm>
            <a:off x="1152144" y="1664208"/>
            <a:ext cx="3529584" cy="310896"/>
          </a:xfrm>
          <a:prstGeom prst="rect">
            <a:avLst/>
          </a:prstGeom>
          <a:noFill/>
          <a:ln/>
        </p:spPr>
        <p:txBody>
          <a:bodyPr wrap="square" lIns="0" tIns="0" rIns="0" bIns="0" rtlCol="0" anchor="ctr"/>
          <a:lstStyle/>
          <a:p>
            <a:pPr indent="0" marL="0">
              <a:buNone/>
            </a:pPr>
            <a:r>
              <a:rPr lang="en-US" sz="1600" b="1" dirty="0">
                <a:solidFill>
                  <a:srgbClr val="0A4B75"/>
                </a:solidFill>
                <a:latin typeface="Calibri" pitchFamily="34" charset="0"/>
                <a:ea typeface="Calibri" pitchFamily="34" charset="-122"/>
                <a:cs typeface="Calibri" pitchFamily="34" charset="-120"/>
              </a:rPr>
              <a:t>Portfolio</a:t>
            </a:r>
            <a:endParaRPr lang="en-US" sz="1600" dirty="0"/>
          </a:p>
        </p:txBody>
      </p:sp>
      <p:sp>
        <p:nvSpPr>
          <p:cNvPr id="10" name="Text 6"/>
          <p:cNvSpPr/>
          <p:nvPr/>
        </p:nvSpPr>
        <p:spPr>
          <a:xfrm>
            <a:off x="1152144" y="1975104"/>
            <a:ext cx="3529584" cy="713232"/>
          </a:xfrm>
          <a:prstGeom prst="rect">
            <a:avLst/>
          </a:prstGeom>
          <a:noFill/>
          <a:ln/>
        </p:spPr>
        <p:txBody>
          <a:bodyPr wrap="square" lIns="0" tIns="0" rIns="0" bIns="0" rtlCol="0" anchor="ctr"/>
          <a:lstStyle/>
          <a:p>
            <a:pPr indent="0" marL="0">
              <a:lnSpc>
                <a:spcPts val="1800"/>
              </a:lnSpc>
              <a:buNone/>
            </a:pPr>
            <a:r>
              <a:rPr lang="en-US" sz="1350" dirty="0">
                <a:solidFill>
                  <a:srgbClr val="53606A"/>
                </a:solidFill>
                <a:latin typeface="Calibri" pitchFamily="34" charset="0"/>
                <a:ea typeface="Calibri" pitchFamily="34" charset="-122"/>
                <a:cs typeface="Calibri" pitchFamily="34" charset="-120"/>
              </a:rPr>
              <a:t>Every project side by side, with the four things that matter on top.</a:t>
            </a:r>
            <a:endParaRPr lang="en-US" sz="1350" dirty="0"/>
          </a:p>
        </p:txBody>
      </p:sp>
      <p:sp>
        <p:nvSpPr>
          <p:cNvPr id="11" name="Shape 7"/>
          <p:cNvSpPr/>
          <p:nvPr/>
        </p:nvSpPr>
        <p:spPr>
          <a:xfrm>
            <a:off x="566928" y="2743200"/>
            <a:ext cx="384048" cy="384048"/>
          </a:xfrm>
          <a:prstGeom prst="ellipse">
            <a:avLst/>
          </a:prstGeom>
          <a:solidFill>
            <a:srgbClr val="12AEBE"/>
          </a:solidFill>
          <a:ln/>
        </p:spPr>
      </p:sp>
      <p:sp>
        <p:nvSpPr>
          <p:cNvPr id="12" name="Text 8"/>
          <p:cNvSpPr/>
          <p:nvPr/>
        </p:nvSpPr>
        <p:spPr>
          <a:xfrm>
            <a:off x="566928" y="27432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3" name="Text 9"/>
          <p:cNvSpPr/>
          <p:nvPr/>
        </p:nvSpPr>
        <p:spPr>
          <a:xfrm>
            <a:off x="1152144" y="2706624"/>
            <a:ext cx="3529584" cy="310896"/>
          </a:xfrm>
          <a:prstGeom prst="rect">
            <a:avLst/>
          </a:prstGeom>
          <a:noFill/>
          <a:ln/>
        </p:spPr>
        <p:txBody>
          <a:bodyPr wrap="square" lIns="0" tIns="0" rIns="0" bIns="0" rtlCol="0" anchor="ctr"/>
          <a:lstStyle/>
          <a:p>
            <a:pPr indent="0" marL="0">
              <a:buNone/>
            </a:pPr>
            <a:r>
              <a:rPr lang="en-US" sz="1600" b="1" dirty="0">
                <a:solidFill>
                  <a:srgbClr val="0A4B75"/>
                </a:solidFill>
                <a:latin typeface="Calibri" pitchFamily="34" charset="0"/>
                <a:ea typeface="Calibri" pitchFamily="34" charset="-122"/>
                <a:cs typeface="Calibri" pitchFamily="34" charset="-120"/>
              </a:rPr>
              <a:t>Resourcing</a:t>
            </a:r>
            <a:endParaRPr lang="en-US" sz="1600" dirty="0"/>
          </a:p>
        </p:txBody>
      </p:sp>
      <p:sp>
        <p:nvSpPr>
          <p:cNvPr id="14" name="Text 10"/>
          <p:cNvSpPr/>
          <p:nvPr/>
        </p:nvSpPr>
        <p:spPr>
          <a:xfrm>
            <a:off x="1152144" y="3017520"/>
            <a:ext cx="3529584" cy="713232"/>
          </a:xfrm>
          <a:prstGeom prst="rect">
            <a:avLst/>
          </a:prstGeom>
          <a:noFill/>
          <a:ln/>
        </p:spPr>
        <p:txBody>
          <a:bodyPr wrap="square" lIns="0" tIns="0" rIns="0" bIns="0" rtlCol="0" anchor="ctr"/>
          <a:lstStyle/>
          <a:p>
            <a:pPr indent="0" marL="0">
              <a:lnSpc>
                <a:spcPts val="1800"/>
              </a:lnSpc>
              <a:buNone/>
            </a:pPr>
            <a:r>
              <a:rPr lang="en-US" sz="1350" dirty="0">
                <a:solidFill>
                  <a:srgbClr val="53606A"/>
                </a:solidFill>
                <a:latin typeface="Calibri" pitchFamily="34" charset="0"/>
                <a:ea typeface="Calibri" pitchFamily="34" charset="-122"/>
                <a:cs typeface="Calibri" pitchFamily="34" charset="-120"/>
              </a:rPr>
              <a:t>What each person has already promised, month by month.</a:t>
            </a:r>
            <a:endParaRPr lang="en-US" sz="1350" dirty="0"/>
          </a:p>
        </p:txBody>
      </p:sp>
      <p:sp>
        <p:nvSpPr>
          <p:cNvPr id="15" name="Shape 11"/>
          <p:cNvSpPr/>
          <p:nvPr/>
        </p:nvSpPr>
        <p:spPr>
          <a:xfrm>
            <a:off x="566928" y="3785616"/>
            <a:ext cx="384048" cy="384048"/>
          </a:xfrm>
          <a:prstGeom prst="ellipse">
            <a:avLst/>
          </a:prstGeom>
          <a:solidFill>
            <a:srgbClr val="12AEBE"/>
          </a:solidFill>
          <a:ln/>
        </p:spPr>
      </p:sp>
      <p:sp>
        <p:nvSpPr>
          <p:cNvPr id="16" name="Text 12"/>
          <p:cNvSpPr/>
          <p:nvPr/>
        </p:nvSpPr>
        <p:spPr>
          <a:xfrm>
            <a:off x="566928" y="378561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3"/>
          <p:cNvSpPr/>
          <p:nvPr/>
        </p:nvSpPr>
        <p:spPr>
          <a:xfrm>
            <a:off x="1152144" y="3749040"/>
            <a:ext cx="3529584" cy="310896"/>
          </a:xfrm>
          <a:prstGeom prst="rect">
            <a:avLst/>
          </a:prstGeom>
          <a:noFill/>
          <a:ln/>
        </p:spPr>
        <p:txBody>
          <a:bodyPr wrap="square" lIns="0" tIns="0" rIns="0" bIns="0" rtlCol="0" anchor="ctr"/>
          <a:lstStyle/>
          <a:p>
            <a:pPr indent="0" marL="0">
              <a:buNone/>
            </a:pPr>
            <a:r>
              <a:rPr lang="en-US" sz="1600" b="1" dirty="0">
                <a:solidFill>
                  <a:srgbClr val="0A4B75"/>
                </a:solidFill>
                <a:latin typeface="Calibri" pitchFamily="34" charset="0"/>
                <a:ea typeface="Calibri" pitchFamily="34" charset="-122"/>
                <a:cs typeface="Calibri" pitchFamily="34" charset="-120"/>
              </a:rPr>
              <a:t>Financials</a:t>
            </a:r>
            <a:endParaRPr lang="en-US" sz="1600" dirty="0"/>
          </a:p>
        </p:txBody>
      </p:sp>
      <p:sp>
        <p:nvSpPr>
          <p:cNvPr id="18" name="Text 14"/>
          <p:cNvSpPr/>
          <p:nvPr/>
        </p:nvSpPr>
        <p:spPr>
          <a:xfrm>
            <a:off x="1152144" y="4059936"/>
            <a:ext cx="3529584" cy="713232"/>
          </a:xfrm>
          <a:prstGeom prst="rect">
            <a:avLst/>
          </a:prstGeom>
          <a:noFill/>
          <a:ln/>
        </p:spPr>
        <p:txBody>
          <a:bodyPr wrap="square" lIns="0" tIns="0" rIns="0" bIns="0" rtlCol="0" anchor="ctr"/>
          <a:lstStyle/>
          <a:p>
            <a:pPr indent="0" marL="0">
              <a:lnSpc>
                <a:spcPts val="1800"/>
              </a:lnSpc>
              <a:buNone/>
            </a:pPr>
            <a:r>
              <a:rPr lang="en-US" sz="1350" dirty="0">
                <a:solidFill>
                  <a:srgbClr val="53606A"/>
                </a:solidFill>
                <a:latin typeface="Calibri" pitchFamily="34" charset="0"/>
                <a:ea typeface="Calibri" pitchFamily="34" charset="-122"/>
                <a:cs typeface="Calibri" pitchFamily="34" charset="-120"/>
              </a:rPr>
              <a:t>Budget, spend and invoicing, in the currency each client is billed.</a:t>
            </a:r>
            <a:endParaRPr lang="en-US" sz="1350" dirty="0"/>
          </a:p>
        </p:txBody>
      </p:sp>
      <p:sp>
        <p:nvSpPr>
          <p:cNvPr id="19" name="Shape 15"/>
          <p:cNvSpPr/>
          <p:nvPr/>
        </p:nvSpPr>
        <p:spPr>
          <a:xfrm>
            <a:off x="566928" y="4828032"/>
            <a:ext cx="384048" cy="384048"/>
          </a:xfrm>
          <a:prstGeom prst="ellipse">
            <a:avLst/>
          </a:prstGeom>
          <a:solidFill>
            <a:srgbClr val="12AEBE"/>
          </a:solidFill>
          <a:ln/>
        </p:spPr>
      </p:sp>
      <p:sp>
        <p:nvSpPr>
          <p:cNvPr id="20" name="Text 16"/>
          <p:cNvSpPr/>
          <p:nvPr/>
        </p:nvSpPr>
        <p:spPr>
          <a:xfrm>
            <a:off x="566928" y="482803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1" name="Text 17"/>
          <p:cNvSpPr/>
          <p:nvPr/>
        </p:nvSpPr>
        <p:spPr>
          <a:xfrm>
            <a:off x="1152144" y="4791456"/>
            <a:ext cx="3529584" cy="310896"/>
          </a:xfrm>
          <a:prstGeom prst="rect">
            <a:avLst/>
          </a:prstGeom>
          <a:noFill/>
          <a:ln/>
        </p:spPr>
        <p:txBody>
          <a:bodyPr wrap="square" lIns="0" tIns="0" rIns="0" bIns="0" rtlCol="0" anchor="ctr"/>
          <a:lstStyle/>
          <a:p>
            <a:pPr indent="0" marL="0">
              <a:buNone/>
            </a:pPr>
            <a:r>
              <a:rPr lang="en-US" sz="1600" b="1" dirty="0">
                <a:solidFill>
                  <a:srgbClr val="0A4B75"/>
                </a:solidFill>
                <a:latin typeface="Calibri" pitchFamily="34" charset="0"/>
                <a:ea typeface="Calibri" pitchFamily="34" charset="-122"/>
                <a:cs typeface="Calibri" pitchFamily="34" charset="-120"/>
              </a:rPr>
              <a:t>Timeline &amp; Planning</a:t>
            </a:r>
            <a:endParaRPr lang="en-US" sz="1600" dirty="0"/>
          </a:p>
        </p:txBody>
      </p:sp>
      <p:sp>
        <p:nvSpPr>
          <p:cNvPr id="22" name="Text 18"/>
          <p:cNvSpPr/>
          <p:nvPr/>
        </p:nvSpPr>
        <p:spPr>
          <a:xfrm>
            <a:off x="1152144" y="5102352"/>
            <a:ext cx="3529584" cy="713232"/>
          </a:xfrm>
          <a:prstGeom prst="rect">
            <a:avLst/>
          </a:prstGeom>
          <a:noFill/>
          <a:ln/>
        </p:spPr>
        <p:txBody>
          <a:bodyPr wrap="square" lIns="0" tIns="0" rIns="0" bIns="0" rtlCol="0" anchor="ctr"/>
          <a:lstStyle/>
          <a:p>
            <a:pPr indent="0" marL="0">
              <a:lnSpc>
                <a:spcPts val="1800"/>
              </a:lnSpc>
              <a:buNone/>
            </a:pPr>
            <a:r>
              <a:rPr lang="en-US" sz="1350" dirty="0">
                <a:solidFill>
                  <a:srgbClr val="53606A"/>
                </a:solidFill>
                <a:latin typeface="Calibri" pitchFamily="34" charset="0"/>
                <a:ea typeface="Calibri" pitchFamily="34" charset="-122"/>
                <a:cs typeface="Calibri" pitchFamily="34" charset="-120"/>
              </a:rPr>
              <a:t>Where the work sits in time, and the plan that puts it there.</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47472"/>
            <a:ext cx="8229600" cy="274320"/>
          </a:xfrm>
          <a:prstGeom prst="rect">
            <a:avLst/>
          </a:prstGeom>
          <a:noFill/>
          <a:ln/>
        </p:spPr>
        <p:txBody>
          <a:bodyPr wrap="square" lIns="0" tIns="0" rIns="0" bIns="0" rtlCol="0" anchor="ctr"/>
          <a:lstStyle/>
          <a:p>
            <a:pPr indent="0" marL="0">
              <a:buNone/>
            </a:pPr>
            <a:r>
              <a:rPr lang="en-US" sz="1200" b="1" spc="200" kern="0" dirty="0">
                <a:solidFill>
                  <a:srgbClr val="12AEBE"/>
                </a:solidFill>
                <a:latin typeface="Calibri" pitchFamily="34" charset="0"/>
                <a:ea typeface="Calibri" pitchFamily="34" charset="-122"/>
                <a:cs typeface="Calibri" pitchFamily="34" charset="-120"/>
              </a:rPr>
              <a:t>PORTFOLIO</a:t>
            </a:r>
            <a:endParaRPr lang="en-US" sz="1200" dirty="0"/>
          </a:p>
        </p:txBody>
      </p:sp>
      <p:sp>
        <p:nvSpPr>
          <p:cNvPr id="3" name="Text 1"/>
          <p:cNvSpPr/>
          <p:nvPr/>
        </p:nvSpPr>
        <p:spPr>
          <a:xfrm>
            <a:off x="566928" y="713232"/>
            <a:ext cx="10424160" cy="603504"/>
          </a:xfrm>
          <a:prstGeom prst="rect">
            <a:avLst/>
          </a:prstGeom>
          <a:noFill/>
          <a:ln/>
        </p:spPr>
        <p:txBody>
          <a:bodyPr wrap="square" lIns="0" tIns="0" rIns="0" bIns="0" rtlCol="0" anchor="t"/>
          <a:lstStyle/>
          <a:p>
            <a:pPr indent="0" marL="0">
              <a:buNone/>
            </a:pPr>
            <a:r>
              <a:rPr lang="en-US" sz="3200" b="1" dirty="0">
                <a:solidFill>
                  <a:srgbClr val="0A4B75"/>
                </a:solidFill>
                <a:latin typeface="Calibri" pitchFamily="34" charset="0"/>
                <a:ea typeface="Calibri" pitchFamily="34" charset="-122"/>
                <a:cs typeface="Calibri" pitchFamily="34" charset="-120"/>
              </a:rPr>
              <a:t>The portfolio, in the first five seconds</a:t>
            </a:r>
            <a:endParaRPr lang="en-US" sz="3200" dirty="0"/>
          </a:p>
        </p:txBody>
      </p:sp>
      <p:pic>
        <p:nvPicPr>
          <p:cNvPr id="4" name="Image 0" descr="../deck/mark-light.png">    </p:cNvPr>
          <p:cNvPicPr>
            <a:picLocks noChangeAspect="1"/>
          </p:cNvPicPr>
          <p:nvPr/>
        </p:nvPicPr>
        <p:blipFill>
          <a:blip r:embed="rId1"/>
          <a:stretch>
            <a:fillRect/>
          </a:stretch>
        </p:blipFill>
        <p:spPr>
          <a:xfrm>
            <a:off x="11192256" y="402336"/>
            <a:ext cx="402336" cy="402336"/>
          </a:xfrm>
          <a:prstGeom prst="rect">
            <a:avLst/>
          </a:prstGeom>
        </p:spPr>
      </p:pic>
      <p:sp>
        <p:nvSpPr>
          <p:cNvPr id="5" name="Shape 2"/>
          <p:cNvSpPr/>
          <p:nvPr/>
        </p:nvSpPr>
        <p:spPr>
          <a:xfrm>
            <a:off x="1234440" y="1444752"/>
            <a:ext cx="9692640" cy="3182112"/>
          </a:xfrm>
          <a:prstGeom prst="roundRect">
            <a:avLst>
              <a:gd name="adj" fmla="val 1724"/>
            </a:avLst>
          </a:prstGeom>
          <a:solidFill>
            <a:srgbClr val="F2F6F9"/>
          </a:solidFill>
          <a:ln w="12700">
            <a:solidFill>
              <a:srgbClr val="D9E4EC"/>
            </a:solidFill>
            <a:prstDash val="solid"/>
          </a:ln>
          <a:effectLst>
            <a:outerShdw sx="100000" sy="100000" kx="0" ky="0" algn="bl" rotWithShape="0" blurRad="177800" dist="38100" dir="5400000">
              <a:srgbClr val="0A2740">
                <a:alpha val="22000"/>
              </a:srgbClr>
            </a:outerShdw>
          </a:effectLst>
        </p:spPr>
      </p:sp>
      <p:pic>
        <p:nvPicPr>
          <p:cNvPr id="6" name="Image 1" descr="../deck/portfolio-kpi.png">    </p:cNvPr>
          <p:cNvPicPr>
            <a:picLocks noChangeAspect="1"/>
          </p:cNvPicPr>
          <p:nvPr/>
        </p:nvPicPr>
        <p:blipFill>
          <a:blip r:embed="rId2"/>
          <a:srcRect l="0" r="0" t="0" b="0"/>
          <a:stretch/>
        </p:blipFill>
        <p:spPr>
          <a:xfrm>
            <a:off x="1325880" y="1536192"/>
            <a:ext cx="9509760" cy="2999232"/>
          </a:xfrm>
          <a:prstGeom prst="rect">
            <a:avLst/>
          </a:prstGeom>
        </p:spPr>
      </p:pic>
      <p:sp>
        <p:nvSpPr>
          <p:cNvPr id="7" name="Text 3"/>
          <p:cNvSpPr/>
          <p:nvPr/>
        </p:nvSpPr>
        <p:spPr>
          <a:xfrm>
            <a:off x="566928" y="4956048"/>
            <a:ext cx="2651760" cy="841248"/>
          </a:xfrm>
          <a:prstGeom prst="rect">
            <a:avLst/>
          </a:prstGeom>
          <a:noFill/>
          <a:ln/>
        </p:spPr>
        <p:txBody>
          <a:bodyPr wrap="square" lIns="0" tIns="0" rIns="0" bIns="0" rtlCol="0" anchor="ctr"/>
          <a:lstStyle/>
          <a:p>
            <a:pPr indent="0" marL="0">
              <a:buNone/>
            </a:pPr>
            <a:r>
              <a:rPr lang="en-US" sz="3000" b="1" dirty="0">
                <a:solidFill>
                  <a:srgbClr val="0A4B75"/>
                </a:solidFill>
                <a:latin typeface="Calibri" pitchFamily="34" charset="0"/>
                <a:ea typeface="Calibri" pitchFamily="34" charset="-122"/>
                <a:cs typeface="Calibri" pitchFamily="34" charset="-120"/>
              </a:rPr>
              <a:t>28</a:t>
            </a:r>
            <a:endParaRPr lang="en-US" sz="3000" dirty="0"/>
          </a:p>
        </p:txBody>
      </p:sp>
      <p:sp>
        <p:nvSpPr>
          <p:cNvPr id="8" name="Text 4"/>
          <p:cNvSpPr/>
          <p:nvPr/>
        </p:nvSpPr>
        <p:spPr>
          <a:xfrm>
            <a:off x="566928" y="5742432"/>
            <a:ext cx="2651760" cy="256032"/>
          </a:xfrm>
          <a:prstGeom prst="rect">
            <a:avLst/>
          </a:prstGeom>
          <a:noFill/>
          <a:ln/>
        </p:spPr>
        <p:txBody>
          <a:bodyPr wrap="square" lIns="0" tIns="0" rIns="0" bIns="0" rtlCol="0" anchor="ctr"/>
          <a:lstStyle/>
          <a:p>
            <a:pPr indent="0" marL="0">
              <a:buNone/>
            </a:pPr>
            <a:r>
              <a:rPr lang="en-US" sz="1100" b="1" spc="140" kern="0" dirty="0">
                <a:solidFill>
                  <a:srgbClr val="12AEBE"/>
                </a:solidFill>
                <a:latin typeface="Calibri" pitchFamily="34" charset="0"/>
                <a:ea typeface="Calibri" pitchFamily="34" charset="-122"/>
                <a:cs typeface="Calibri" pitchFamily="34" charset="-120"/>
              </a:rPr>
              <a:t>ACTIVE PROJECTS</a:t>
            </a:r>
            <a:endParaRPr lang="en-US" sz="1100" dirty="0"/>
          </a:p>
        </p:txBody>
      </p:sp>
      <p:sp>
        <p:nvSpPr>
          <p:cNvPr id="9" name="Text 5"/>
          <p:cNvSpPr/>
          <p:nvPr/>
        </p:nvSpPr>
        <p:spPr>
          <a:xfrm>
            <a:off x="566928" y="5998464"/>
            <a:ext cx="2651760" cy="731520"/>
          </a:xfrm>
          <a:prstGeom prst="rect">
            <a:avLst/>
          </a:prstGeom>
          <a:noFill/>
          <a:ln/>
        </p:spPr>
        <p:txBody>
          <a:bodyPr wrap="square" lIns="0" tIns="0" rIns="0" bIns="0" rtlCol="0" anchor="ctr"/>
          <a:lstStyle/>
          <a:p>
            <a:pPr indent="0" marL="0">
              <a:lnSpc>
                <a:spcPts val="1600"/>
              </a:lnSpc>
              <a:buNone/>
            </a:pPr>
            <a:r>
              <a:rPr lang="en-US" sz="1250" dirty="0">
                <a:solidFill>
                  <a:srgbClr val="53606A"/>
                </a:solidFill>
                <a:latin typeface="Calibri" pitchFamily="34" charset="0"/>
                <a:ea typeface="Calibri" pitchFamily="34" charset="-122"/>
                <a:cs typeface="Calibri" pitchFamily="34" charset="-120"/>
              </a:rPr>
              <a:t>Split by delivery type and by who they are for</a:t>
            </a:r>
            <a:endParaRPr lang="en-US" sz="1250" dirty="0"/>
          </a:p>
        </p:txBody>
      </p:sp>
      <p:sp>
        <p:nvSpPr>
          <p:cNvPr id="10" name="Text 6"/>
          <p:cNvSpPr/>
          <p:nvPr/>
        </p:nvSpPr>
        <p:spPr>
          <a:xfrm>
            <a:off x="3364992" y="4956048"/>
            <a:ext cx="2651760" cy="841248"/>
          </a:xfrm>
          <a:prstGeom prst="rect">
            <a:avLst/>
          </a:prstGeom>
          <a:noFill/>
          <a:ln/>
        </p:spPr>
        <p:txBody>
          <a:bodyPr wrap="square" lIns="0" tIns="0" rIns="0" bIns="0" rtlCol="0" anchor="ctr"/>
          <a:lstStyle/>
          <a:p>
            <a:pPr indent="0" marL="0">
              <a:buNone/>
            </a:pPr>
            <a:r>
              <a:rPr lang="en-US" sz="3000" b="1" dirty="0">
                <a:solidFill>
                  <a:srgbClr val="BB3D48"/>
                </a:solidFill>
                <a:latin typeface="Calibri" pitchFamily="34" charset="0"/>
                <a:ea typeface="Calibri" pitchFamily="34" charset="-122"/>
                <a:cs typeface="Calibri" pitchFamily="34" charset="-120"/>
              </a:rPr>
              <a:t>4</a:t>
            </a:r>
            <a:endParaRPr lang="en-US" sz="3000" dirty="0"/>
          </a:p>
        </p:txBody>
      </p:sp>
      <p:sp>
        <p:nvSpPr>
          <p:cNvPr id="11" name="Text 7"/>
          <p:cNvSpPr/>
          <p:nvPr/>
        </p:nvSpPr>
        <p:spPr>
          <a:xfrm>
            <a:off x="3364992" y="5742432"/>
            <a:ext cx="2651760" cy="256032"/>
          </a:xfrm>
          <a:prstGeom prst="rect">
            <a:avLst/>
          </a:prstGeom>
          <a:noFill/>
          <a:ln/>
        </p:spPr>
        <p:txBody>
          <a:bodyPr wrap="square" lIns="0" tIns="0" rIns="0" bIns="0" rtlCol="0" anchor="ctr"/>
          <a:lstStyle/>
          <a:p>
            <a:pPr indent="0" marL="0">
              <a:buNone/>
            </a:pPr>
            <a:r>
              <a:rPr lang="en-US" sz="1100" b="1" spc="140" kern="0" dirty="0">
                <a:solidFill>
                  <a:srgbClr val="12AEBE"/>
                </a:solidFill>
                <a:latin typeface="Calibri" pitchFamily="34" charset="0"/>
                <a:ea typeface="Calibri" pitchFamily="34" charset="-122"/>
                <a:cs typeface="Calibri" pitchFamily="34" charset="-120"/>
              </a:rPr>
              <a:t>AT RISK</a:t>
            </a:r>
            <a:endParaRPr lang="en-US" sz="1100" dirty="0"/>
          </a:p>
        </p:txBody>
      </p:sp>
      <p:sp>
        <p:nvSpPr>
          <p:cNvPr id="12" name="Text 8"/>
          <p:cNvSpPr/>
          <p:nvPr/>
        </p:nvSpPr>
        <p:spPr>
          <a:xfrm>
            <a:off x="3364992" y="5998464"/>
            <a:ext cx="2651760" cy="731520"/>
          </a:xfrm>
          <a:prstGeom prst="rect">
            <a:avLst/>
          </a:prstGeom>
          <a:noFill/>
          <a:ln/>
        </p:spPr>
        <p:txBody>
          <a:bodyPr wrap="square" lIns="0" tIns="0" rIns="0" bIns="0" rtlCol="0" anchor="ctr"/>
          <a:lstStyle/>
          <a:p>
            <a:pPr indent="0" marL="0">
              <a:lnSpc>
                <a:spcPts val="1600"/>
              </a:lnSpc>
              <a:buNone/>
            </a:pPr>
            <a:r>
              <a:rPr lang="en-US" sz="1250" dirty="0">
                <a:solidFill>
                  <a:srgbClr val="53606A"/>
                </a:solidFill>
                <a:latin typeface="Calibri" pitchFamily="34" charset="0"/>
                <a:ea typeface="Calibri" pitchFamily="34" charset="-122"/>
                <a:cs typeface="Calibri" pitchFamily="34" charset="-120"/>
              </a:rPr>
              <a:t>Flagged by the project manager, and shown in red everywhere</a:t>
            </a:r>
            <a:endParaRPr lang="en-US" sz="1250" dirty="0"/>
          </a:p>
        </p:txBody>
      </p:sp>
      <p:sp>
        <p:nvSpPr>
          <p:cNvPr id="13" name="Text 9"/>
          <p:cNvSpPr/>
          <p:nvPr/>
        </p:nvSpPr>
        <p:spPr>
          <a:xfrm>
            <a:off x="6163056" y="4956048"/>
            <a:ext cx="2651760" cy="841248"/>
          </a:xfrm>
          <a:prstGeom prst="rect">
            <a:avLst/>
          </a:prstGeom>
          <a:noFill/>
          <a:ln/>
        </p:spPr>
        <p:txBody>
          <a:bodyPr wrap="square" lIns="0" tIns="0" rIns="0" bIns="0" rtlCol="0" anchor="ctr"/>
          <a:lstStyle/>
          <a:p>
            <a:pPr indent="0" marL="0">
              <a:buNone/>
            </a:pPr>
            <a:r>
              <a:rPr lang="en-US" sz="3000" b="1" dirty="0">
                <a:solidFill>
                  <a:srgbClr val="0A4B75"/>
                </a:solidFill>
                <a:latin typeface="Calibri" pitchFamily="34" charset="0"/>
                <a:ea typeface="Calibri" pitchFamily="34" charset="-122"/>
                <a:cs typeface="Calibri" pitchFamily="34" charset="-120"/>
              </a:rPr>
              <a:t>£16.2m</a:t>
            </a:r>
            <a:endParaRPr lang="en-US" sz="3000" dirty="0"/>
          </a:p>
        </p:txBody>
      </p:sp>
      <p:sp>
        <p:nvSpPr>
          <p:cNvPr id="14" name="Text 10"/>
          <p:cNvSpPr/>
          <p:nvPr/>
        </p:nvSpPr>
        <p:spPr>
          <a:xfrm>
            <a:off x="6163056" y="5742432"/>
            <a:ext cx="2651760" cy="256032"/>
          </a:xfrm>
          <a:prstGeom prst="rect">
            <a:avLst/>
          </a:prstGeom>
          <a:noFill/>
          <a:ln/>
        </p:spPr>
        <p:txBody>
          <a:bodyPr wrap="square" lIns="0" tIns="0" rIns="0" bIns="0" rtlCol="0" anchor="ctr"/>
          <a:lstStyle/>
          <a:p>
            <a:pPr indent="0" marL="0">
              <a:buNone/>
            </a:pPr>
            <a:r>
              <a:rPr lang="en-US" sz="1100" b="1" spc="140" kern="0" dirty="0">
                <a:solidFill>
                  <a:srgbClr val="12AEBE"/>
                </a:solidFill>
                <a:latin typeface="Calibri" pitchFamily="34" charset="0"/>
                <a:ea typeface="Calibri" pitchFamily="34" charset="-122"/>
                <a:cs typeface="Calibri" pitchFamily="34" charset="-120"/>
              </a:rPr>
              <a:t>LEFT TO INVOICE</a:t>
            </a:r>
            <a:endParaRPr lang="en-US" sz="1100" dirty="0"/>
          </a:p>
        </p:txBody>
      </p:sp>
      <p:sp>
        <p:nvSpPr>
          <p:cNvPr id="15" name="Text 11"/>
          <p:cNvSpPr/>
          <p:nvPr/>
        </p:nvSpPr>
        <p:spPr>
          <a:xfrm>
            <a:off x="6163056" y="5998464"/>
            <a:ext cx="2651760" cy="731520"/>
          </a:xfrm>
          <a:prstGeom prst="rect">
            <a:avLst/>
          </a:prstGeom>
          <a:noFill/>
          <a:ln/>
        </p:spPr>
        <p:txBody>
          <a:bodyPr wrap="square" lIns="0" tIns="0" rIns="0" bIns="0" rtlCol="0" anchor="ctr"/>
          <a:lstStyle/>
          <a:p>
            <a:pPr indent="0" marL="0">
              <a:lnSpc>
                <a:spcPts val="1600"/>
              </a:lnSpc>
              <a:buNone/>
            </a:pPr>
            <a:r>
              <a:rPr lang="en-US" sz="1250" dirty="0">
                <a:solidFill>
                  <a:srgbClr val="53606A"/>
                </a:solidFill>
                <a:latin typeface="Calibri" pitchFamily="34" charset="0"/>
                <a:ea typeface="Calibri" pitchFamily="34" charset="-122"/>
                <a:cs typeface="Calibri" pitchFamily="34" charset="-120"/>
              </a:rPr>
              <a:t>What is agreed but not yet billed</a:t>
            </a:r>
            <a:endParaRPr lang="en-US" sz="1250" dirty="0"/>
          </a:p>
        </p:txBody>
      </p:sp>
      <p:sp>
        <p:nvSpPr>
          <p:cNvPr id="16" name="Text 12"/>
          <p:cNvSpPr/>
          <p:nvPr/>
        </p:nvSpPr>
        <p:spPr>
          <a:xfrm>
            <a:off x="8961120" y="4956048"/>
            <a:ext cx="2651760" cy="841248"/>
          </a:xfrm>
          <a:prstGeom prst="rect">
            <a:avLst/>
          </a:prstGeom>
          <a:noFill/>
          <a:ln/>
        </p:spPr>
        <p:txBody>
          <a:bodyPr wrap="square" lIns="0" tIns="0" rIns="0" bIns="0" rtlCol="0" anchor="ctr"/>
          <a:lstStyle/>
          <a:p>
            <a:pPr indent="0" marL="0">
              <a:buNone/>
            </a:pPr>
            <a:r>
              <a:rPr lang="en-US" sz="3000" b="1" dirty="0">
                <a:solidFill>
                  <a:srgbClr val="0A4B75"/>
                </a:solidFill>
                <a:latin typeface="Calibri" pitchFamily="34" charset="0"/>
                <a:ea typeface="Calibri" pitchFamily="34" charset="-122"/>
                <a:cs typeface="Calibri" pitchFamily="34" charset="-120"/>
              </a:rPr>
              <a:t>86%</a:t>
            </a:r>
            <a:endParaRPr lang="en-US" sz="3000" dirty="0"/>
          </a:p>
        </p:txBody>
      </p:sp>
      <p:sp>
        <p:nvSpPr>
          <p:cNvPr id="17" name="Text 13"/>
          <p:cNvSpPr/>
          <p:nvPr/>
        </p:nvSpPr>
        <p:spPr>
          <a:xfrm>
            <a:off x="8961120" y="5742432"/>
            <a:ext cx="2651760" cy="256032"/>
          </a:xfrm>
          <a:prstGeom prst="rect">
            <a:avLst/>
          </a:prstGeom>
          <a:noFill/>
          <a:ln/>
        </p:spPr>
        <p:txBody>
          <a:bodyPr wrap="square" lIns="0" tIns="0" rIns="0" bIns="0" rtlCol="0" anchor="ctr"/>
          <a:lstStyle/>
          <a:p>
            <a:pPr indent="0" marL="0">
              <a:buNone/>
            </a:pPr>
            <a:r>
              <a:rPr lang="en-US" sz="1100" b="1" spc="140" kern="0" dirty="0">
                <a:solidFill>
                  <a:srgbClr val="12AEBE"/>
                </a:solidFill>
                <a:latin typeface="Calibri" pitchFamily="34" charset="0"/>
                <a:ea typeface="Calibri" pitchFamily="34" charset="-122"/>
                <a:cs typeface="Calibri" pitchFamily="34" charset="-120"/>
              </a:rPr>
              <a:t>NOT AT RISK</a:t>
            </a:r>
            <a:endParaRPr lang="en-US" sz="1100" dirty="0"/>
          </a:p>
        </p:txBody>
      </p:sp>
      <p:sp>
        <p:nvSpPr>
          <p:cNvPr id="18" name="Text 14"/>
          <p:cNvSpPr/>
          <p:nvPr/>
        </p:nvSpPr>
        <p:spPr>
          <a:xfrm>
            <a:off x="8961120" y="5998464"/>
            <a:ext cx="2651760" cy="731520"/>
          </a:xfrm>
          <a:prstGeom prst="rect">
            <a:avLst/>
          </a:prstGeom>
          <a:noFill/>
          <a:ln/>
        </p:spPr>
        <p:txBody>
          <a:bodyPr wrap="square" lIns="0" tIns="0" rIns="0" bIns="0" rtlCol="0" anchor="ctr"/>
          <a:lstStyle/>
          <a:p>
            <a:pPr indent="0" marL="0">
              <a:lnSpc>
                <a:spcPts val="1600"/>
              </a:lnSpc>
              <a:buNone/>
            </a:pPr>
            <a:r>
              <a:rPr lang="en-US" sz="1250" dirty="0">
                <a:solidFill>
                  <a:srgbClr val="53606A"/>
                </a:solidFill>
                <a:latin typeface="Calibri" pitchFamily="34" charset="0"/>
                <a:ea typeface="Calibri" pitchFamily="34" charset="-122"/>
                <a:cs typeface="Calibri" pitchFamily="34" charset="-120"/>
              </a:rPr>
              <a:t>The KPI to hold, rather than the one to explain</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47472"/>
            <a:ext cx="8229600" cy="274320"/>
          </a:xfrm>
          <a:prstGeom prst="rect">
            <a:avLst/>
          </a:prstGeom>
          <a:noFill/>
          <a:ln/>
        </p:spPr>
        <p:txBody>
          <a:bodyPr wrap="square" lIns="0" tIns="0" rIns="0" bIns="0" rtlCol="0" anchor="ctr"/>
          <a:lstStyle/>
          <a:p>
            <a:pPr indent="0" marL="0">
              <a:buNone/>
            </a:pPr>
            <a:r>
              <a:rPr lang="en-US" sz="1200" b="1" spc="200" kern="0" dirty="0">
                <a:solidFill>
                  <a:srgbClr val="12AEBE"/>
                </a:solidFill>
                <a:latin typeface="Calibri" pitchFamily="34" charset="0"/>
                <a:ea typeface="Calibri" pitchFamily="34" charset="-122"/>
                <a:cs typeface="Calibri" pitchFamily="34" charset="-120"/>
              </a:rPr>
              <a:t>PORTFOLIO</a:t>
            </a:r>
            <a:endParaRPr lang="en-US" sz="1200" dirty="0"/>
          </a:p>
        </p:txBody>
      </p:sp>
      <p:sp>
        <p:nvSpPr>
          <p:cNvPr id="3" name="Text 1"/>
          <p:cNvSpPr/>
          <p:nvPr/>
        </p:nvSpPr>
        <p:spPr>
          <a:xfrm>
            <a:off x="566928" y="713232"/>
            <a:ext cx="10424160" cy="603504"/>
          </a:xfrm>
          <a:prstGeom prst="rect">
            <a:avLst/>
          </a:prstGeom>
          <a:noFill/>
          <a:ln/>
        </p:spPr>
        <p:txBody>
          <a:bodyPr wrap="square" lIns="0" tIns="0" rIns="0" bIns="0" rtlCol="0" anchor="t"/>
          <a:lstStyle/>
          <a:p>
            <a:pPr indent="0" marL="0">
              <a:buNone/>
            </a:pPr>
            <a:r>
              <a:rPr lang="en-US" sz="3200" b="1" dirty="0">
                <a:solidFill>
                  <a:srgbClr val="0A4B75"/>
                </a:solidFill>
                <a:latin typeface="Calibri" pitchFamily="34" charset="0"/>
                <a:ea typeface="Calibri" pitchFamily="34" charset="-122"/>
                <a:cs typeface="Calibri" pitchFamily="34" charset="-120"/>
              </a:rPr>
              <a:t>Every project on one chart</a:t>
            </a:r>
            <a:endParaRPr lang="en-US" sz="3200" dirty="0"/>
          </a:p>
        </p:txBody>
      </p:sp>
      <p:pic>
        <p:nvPicPr>
          <p:cNvPr id="4" name="Image 0" descr="../deck/mark-light.png">    </p:cNvPr>
          <p:cNvPicPr>
            <a:picLocks noChangeAspect="1"/>
          </p:cNvPicPr>
          <p:nvPr/>
        </p:nvPicPr>
        <p:blipFill>
          <a:blip r:embed="rId1"/>
          <a:stretch>
            <a:fillRect/>
          </a:stretch>
        </p:blipFill>
        <p:spPr>
          <a:xfrm>
            <a:off x="11192256" y="402336"/>
            <a:ext cx="402336" cy="402336"/>
          </a:xfrm>
          <a:prstGeom prst="rect">
            <a:avLst/>
          </a:prstGeom>
        </p:spPr>
      </p:pic>
      <p:sp>
        <p:nvSpPr>
          <p:cNvPr id="5" name="Shape 2"/>
          <p:cNvSpPr/>
          <p:nvPr/>
        </p:nvSpPr>
        <p:spPr>
          <a:xfrm>
            <a:off x="4389120" y="2011680"/>
            <a:ext cx="7296912" cy="3264408"/>
          </a:xfrm>
          <a:prstGeom prst="roundRect">
            <a:avLst>
              <a:gd name="adj" fmla="val 1681"/>
            </a:avLst>
          </a:prstGeom>
          <a:solidFill>
            <a:srgbClr val="F2F6F9"/>
          </a:solidFill>
          <a:ln w="12700">
            <a:solidFill>
              <a:srgbClr val="D9E4EC"/>
            </a:solidFill>
            <a:prstDash val="solid"/>
          </a:ln>
          <a:effectLst>
            <a:outerShdw sx="100000" sy="100000" kx="0" ky="0" algn="bl" rotWithShape="0" blurRad="177800" dist="38100" dir="5400000">
              <a:srgbClr val="0A2740">
                <a:alpha val="22000"/>
              </a:srgbClr>
            </a:outerShdw>
          </a:effectLst>
        </p:spPr>
      </p:sp>
      <p:pic>
        <p:nvPicPr>
          <p:cNvPr id="6" name="Image 1" descr="../deck/portfolio-chart.png">    </p:cNvPr>
          <p:cNvPicPr>
            <a:picLocks noChangeAspect="1"/>
          </p:cNvPicPr>
          <p:nvPr/>
        </p:nvPicPr>
        <p:blipFill>
          <a:blip r:embed="rId2"/>
          <a:srcRect l="0" r="0" t="0" b="0"/>
          <a:stretch/>
        </p:blipFill>
        <p:spPr>
          <a:xfrm>
            <a:off x="4480560" y="2103120"/>
            <a:ext cx="7114032" cy="3081528"/>
          </a:xfrm>
          <a:prstGeom prst="rect">
            <a:avLst/>
          </a:prstGeom>
        </p:spPr>
      </p:pic>
      <p:sp>
        <p:nvSpPr>
          <p:cNvPr id="7" name="Text 3"/>
          <p:cNvSpPr/>
          <p:nvPr/>
        </p:nvSpPr>
        <p:spPr>
          <a:xfrm>
            <a:off x="566928" y="1609344"/>
            <a:ext cx="3566160" cy="1005840"/>
          </a:xfrm>
          <a:prstGeom prst="rect">
            <a:avLst/>
          </a:prstGeom>
          <a:noFill/>
          <a:ln/>
        </p:spPr>
        <p:txBody>
          <a:bodyPr wrap="square" lIns="0" tIns="0" rIns="0" bIns="0" rtlCol="0" anchor="ctr"/>
          <a:lstStyle/>
          <a:p>
            <a:pPr indent="0" marL="0">
              <a:lnSpc>
                <a:spcPts val="2000"/>
              </a:lnSpc>
              <a:buNone/>
            </a:pPr>
            <a:r>
              <a:rPr lang="en-US" sz="1400" dirty="0">
                <a:solidFill>
                  <a:srgbClr val="53606A"/>
                </a:solidFill>
                <a:latin typeface="Calibri" pitchFamily="34" charset="0"/>
                <a:ea typeface="Calibri" pitchFamily="34" charset="-122"/>
                <a:cs typeface="Calibri" pitchFamily="34" charset="-120"/>
              </a:rPr>
              <a:t>One dot per project. Where it sits says how far along it is and how big it is; how it is drawn says whether anyone should be worried.</a:t>
            </a:r>
            <a:endParaRPr lang="en-US" sz="1400" dirty="0"/>
          </a:p>
        </p:txBody>
      </p:sp>
      <p:sp>
        <p:nvSpPr>
          <p:cNvPr id="8" name="Shape 4"/>
          <p:cNvSpPr/>
          <p:nvPr/>
        </p:nvSpPr>
        <p:spPr>
          <a:xfrm>
            <a:off x="566928" y="2871216"/>
            <a:ext cx="146304" cy="146304"/>
          </a:xfrm>
          <a:prstGeom prst="ellipse">
            <a:avLst/>
          </a:prstGeom>
          <a:solidFill>
            <a:srgbClr val="12AEBE"/>
          </a:solidFill>
          <a:ln/>
        </p:spPr>
      </p:sp>
      <p:sp>
        <p:nvSpPr>
          <p:cNvPr id="9" name="Text 5"/>
          <p:cNvSpPr/>
          <p:nvPr/>
        </p:nvSpPr>
        <p:spPr>
          <a:xfrm>
            <a:off x="877824" y="2798064"/>
            <a:ext cx="3291840" cy="274320"/>
          </a:xfrm>
          <a:prstGeom prst="rect">
            <a:avLst/>
          </a:prstGeom>
          <a:noFill/>
          <a:ln/>
        </p:spPr>
        <p:txBody>
          <a:bodyPr wrap="square" lIns="0" tIns="0" rIns="0" bIns="0" rtlCol="0" anchor="ctr"/>
          <a:lstStyle/>
          <a:p>
            <a:pPr indent="0" marL="0">
              <a:buNone/>
            </a:pPr>
            <a:r>
              <a:rPr lang="en-US" sz="1450" b="1" dirty="0">
                <a:solidFill>
                  <a:srgbClr val="0A4B75"/>
                </a:solidFill>
                <a:latin typeface="Calibri" pitchFamily="34" charset="0"/>
                <a:ea typeface="Calibri" pitchFamily="34" charset="-122"/>
                <a:cs typeface="Calibri" pitchFamily="34" charset="-120"/>
              </a:rPr>
              <a:t>Left to right</a:t>
            </a:r>
            <a:endParaRPr lang="en-US" sz="1450" dirty="0"/>
          </a:p>
        </p:txBody>
      </p:sp>
      <p:sp>
        <p:nvSpPr>
          <p:cNvPr id="10" name="Text 6"/>
          <p:cNvSpPr/>
          <p:nvPr/>
        </p:nvSpPr>
        <p:spPr>
          <a:xfrm>
            <a:off x="877824" y="3054096"/>
            <a:ext cx="3291840" cy="310896"/>
          </a:xfrm>
          <a:prstGeom prst="rect">
            <a:avLst/>
          </a:prstGeom>
          <a:noFill/>
          <a:ln/>
        </p:spPr>
        <p:txBody>
          <a:bodyPr wrap="square" lIns="0" tIns="0" rIns="0" bIns="0" rtlCol="0" anchor="ctr"/>
          <a:lstStyle/>
          <a:p>
            <a:pPr indent="0" marL="0">
              <a:buNone/>
            </a:pPr>
            <a:r>
              <a:rPr lang="en-US" sz="1300" dirty="0">
                <a:solidFill>
                  <a:srgbClr val="53606A"/>
                </a:solidFill>
                <a:latin typeface="Calibri" pitchFamily="34" charset="0"/>
                <a:ea typeface="Calibri" pitchFamily="34" charset="-122"/>
                <a:cs typeface="Calibri" pitchFamily="34" charset="-120"/>
              </a:rPr>
              <a:t>How far through the work it is</a:t>
            </a:r>
            <a:endParaRPr lang="en-US" sz="1300" dirty="0"/>
          </a:p>
        </p:txBody>
      </p:sp>
      <p:sp>
        <p:nvSpPr>
          <p:cNvPr id="11" name="Shape 7"/>
          <p:cNvSpPr/>
          <p:nvPr/>
        </p:nvSpPr>
        <p:spPr>
          <a:xfrm>
            <a:off x="566928" y="3621024"/>
            <a:ext cx="146304" cy="146304"/>
          </a:xfrm>
          <a:prstGeom prst="ellipse">
            <a:avLst/>
          </a:prstGeom>
          <a:solidFill>
            <a:srgbClr val="12AEBE"/>
          </a:solidFill>
          <a:ln/>
        </p:spPr>
      </p:sp>
      <p:sp>
        <p:nvSpPr>
          <p:cNvPr id="12" name="Text 8"/>
          <p:cNvSpPr/>
          <p:nvPr/>
        </p:nvSpPr>
        <p:spPr>
          <a:xfrm>
            <a:off x="877824" y="3547872"/>
            <a:ext cx="3291840" cy="274320"/>
          </a:xfrm>
          <a:prstGeom prst="rect">
            <a:avLst/>
          </a:prstGeom>
          <a:noFill/>
          <a:ln/>
        </p:spPr>
        <p:txBody>
          <a:bodyPr wrap="square" lIns="0" tIns="0" rIns="0" bIns="0" rtlCol="0" anchor="ctr"/>
          <a:lstStyle/>
          <a:p>
            <a:pPr indent="0" marL="0">
              <a:buNone/>
            </a:pPr>
            <a:r>
              <a:rPr lang="en-US" sz="1450" b="1" dirty="0">
                <a:solidFill>
                  <a:srgbClr val="0A4B75"/>
                </a:solidFill>
                <a:latin typeface="Calibri" pitchFamily="34" charset="0"/>
                <a:ea typeface="Calibri" pitchFamily="34" charset="-122"/>
                <a:cs typeface="Calibri" pitchFamily="34" charset="-120"/>
              </a:rPr>
              <a:t>Bottom to top</a:t>
            </a:r>
            <a:endParaRPr lang="en-US" sz="1450" dirty="0"/>
          </a:p>
        </p:txBody>
      </p:sp>
      <p:sp>
        <p:nvSpPr>
          <p:cNvPr id="13" name="Text 9"/>
          <p:cNvSpPr/>
          <p:nvPr/>
        </p:nvSpPr>
        <p:spPr>
          <a:xfrm>
            <a:off x="877824" y="3803904"/>
            <a:ext cx="3291840" cy="310896"/>
          </a:xfrm>
          <a:prstGeom prst="rect">
            <a:avLst/>
          </a:prstGeom>
          <a:noFill/>
          <a:ln/>
        </p:spPr>
        <p:txBody>
          <a:bodyPr wrap="square" lIns="0" tIns="0" rIns="0" bIns="0" rtlCol="0" anchor="ctr"/>
          <a:lstStyle/>
          <a:p>
            <a:pPr indent="0" marL="0">
              <a:buNone/>
            </a:pPr>
            <a:r>
              <a:rPr lang="en-US" sz="1300" dirty="0">
                <a:solidFill>
                  <a:srgbClr val="53606A"/>
                </a:solidFill>
                <a:latin typeface="Calibri" pitchFamily="34" charset="0"/>
                <a:ea typeface="Calibri" pitchFamily="34" charset="-122"/>
                <a:cs typeface="Calibri" pitchFamily="34" charset="-120"/>
              </a:rPr>
              <a:t>How big the budget is</a:t>
            </a:r>
            <a:endParaRPr lang="en-US" sz="1300" dirty="0"/>
          </a:p>
        </p:txBody>
      </p:sp>
      <p:sp>
        <p:nvSpPr>
          <p:cNvPr id="14" name="Shape 10"/>
          <p:cNvSpPr/>
          <p:nvPr/>
        </p:nvSpPr>
        <p:spPr>
          <a:xfrm>
            <a:off x="566928" y="4370832"/>
            <a:ext cx="146304" cy="146304"/>
          </a:xfrm>
          <a:prstGeom prst="ellipse">
            <a:avLst/>
          </a:prstGeom>
          <a:solidFill>
            <a:srgbClr val="12AEBE"/>
          </a:solidFill>
          <a:ln/>
        </p:spPr>
      </p:sp>
      <p:sp>
        <p:nvSpPr>
          <p:cNvPr id="15" name="Text 11"/>
          <p:cNvSpPr/>
          <p:nvPr/>
        </p:nvSpPr>
        <p:spPr>
          <a:xfrm>
            <a:off x="877824" y="4297680"/>
            <a:ext cx="3291840" cy="274320"/>
          </a:xfrm>
          <a:prstGeom prst="rect">
            <a:avLst/>
          </a:prstGeom>
          <a:noFill/>
          <a:ln/>
        </p:spPr>
        <p:txBody>
          <a:bodyPr wrap="square" lIns="0" tIns="0" rIns="0" bIns="0" rtlCol="0" anchor="ctr"/>
          <a:lstStyle/>
          <a:p>
            <a:pPr indent="0" marL="0">
              <a:buNone/>
            </a:pPr>
            <a:r>
              <a:rPr lang="en-US" sz="1450" b="1" dirty="0">
                <a:solidFill>
                  <a:srgbClr val="0A4B75"/>
                </a:solidFill>
                <a:latin typeface="Calibri" pitchFamily="34" charset="0"/>
                <a:ea typeface="Calibri" pitchFamily="34" charset="-122"/>
                <a:cs typeface="Calibri" pitchFamily="34" charset="-120"/>
              </a:rPr>
              <a:t>Size of the dot</a:t>
            </a:r>
            <a:endParaRPr lang="en-US" sz="1450" dirty="0"/>
          </a:p>
        </p:txBody>
      </p:sp>
      <p:sp>
        <p:nvSpPr>
          <p:cNvPr id="16" name="Text 12"/>
          <p:cNvSpPr/>
          <p:nvPr/>
        </p:nvSpPr>
        <p:spPr>
          <a:xfrm>
            <a:off x="877824" y="4553712"/>
            <a:ext cx="3291840" cy="310896"/>
          </a:xfrm>
          <a:prstGeom prst="rect">
            <a:avLst/>
          </a:prstGeom>
          <a:noFill/>
          <a:ln/>
        </p:spPr>
        <p:txBody>
          <a:bodyPr wrap="square" lIns="0" tIns="0" rIns="0" bIns="0" rtlCol="0" anchor="ctr"/>
          <a:lstStyle/>
          <a:p>
            <a:pPr indent="0" marL="0">
              <a:buNone/>
            </a:pPr>
            <a:r>
              <a:rPr lang="en-US" sz="1300" dirty="0">
                <a:solidFill>
                  <a:srgbClr val="53606A"/>
                </a:solidFill>
                <a:latin typeface="Calibri" pitchFamily="34" charset="0"/>
                <a:ea typeface="Calibri" pitchFamily="34" charset="-122"/>
                <a:cs typeface="Calibri" pitchFamily="34" charset="-120"/>
              </a:rPr>
              <a:t>How much of the team it draws</a:t>
            </a:r>
            <a:endParaRPr lang="en-US" sz="1300" dirty="0"/>
          </a:p>
        </p:txBody>
      </p:sp>
      <p:sp>
        <p:nvSpPr>
          <p:cNvPr id="17" name="Shape 13"/>
          <p:cNvSpPr/>
          <p:nvPr/>
        </p:nvSpPr>
        <p:spPr>
          <a:xfrm>
            <a:off x="566928" y="5120640"/>
            <a:ext cx="146304" cy="146304"/>
          </a:xfrm>
          <a:prstGeom prst="ellipse">
            <a:avLst/>
          </a:prstGeom>
          <a:solidFill>
            <a:srgbClr val="12AEBE"/>
          </a:solidFill>
          <a:ln/>
        </p:spPr>
      </p:sp>
      <p:sp>
        <p:nvSpPr>
          <p:cNvPr id="18" name="Text 14"/>
          <p:cNvSpPr/>
          <p:nvPr/>
        </p:nvSpPr>
        <p:spPr>
          <a:xfrm>
            <a:off x="877824" y="5047488"/>
            <a:ext cx="3291840" cy="274320"/>
          </a:xfrm>
          <a:prstGeom prst="rect">
            <a:avLst/>
          </a:prstGeom>
          <a:noFill/>
          <a:ln/>
        </p:spPr>
        <p:txBody>
          <a:bodyPr wrap="square" lIns="0" tIns="0" rIns="0" bIns="0" rtlCol="0" anchor="ctr"/>
          <a:lstStyle/>
          <a:p>
            <a:pPr indent="0" marL="0">
              <a:buNone/>
            </a:pPr>
            <a:r>
              <a:rPr lang="en-US" sz="1450" b="1" dirty="0">
                <a:solidFill>
                  <a:srgbClr val="0A4B75"/>
                </a:solidFill>
                <a:latin typeface="Calibri" pitchFamily="34" charset="0"/>
                <a:ea typeface="Calibri" pitchFamily="34" charset="-122"/>
                <a:cs typeface="Calibri" pitchFamily="34" charset="-120"/>
              </a:rPr>
              <a:t>Red</a:t>
            </a:r>
            <a:endParaRPr lang="en-US" sz="1450" dirty="0"/>
          </a:p>
        </p:txBody>
      </p:sp>
      <p:sp>
        <p:nvSpPr>
          <p:cNvPr id="19" name="Text 15"/>
          <p:cNvSpPr/>
          <p:nvPr/>
        </p:nvSpPr>
        <p:spPr>
          <a:xfrm>
            <a:off x="877824" y="5303520"/>
            <a:ext cx="3291840" cy="310896"/>
          </a:xfrm>
          <a:prstGeom prst="rect">
            <a:avLst/>
          </a:prstGeom>
          <a:noFill/>
          <a:ln/>
        </p:spPr>
        <p:txBody>
          <a:bodyPr wrap="square" lIns="0" tIns="0" rIns="0" bIns="0" rtlCol="0" anchor="ctr"/>
          <a:lstStyle/>
          <a:p>
            <a:pPr indent="0" marL="0">
              <a:buNone/>
            </a:pPr>
            <a:r>
              <a:rPr lang="en-US" sz="1300" dirty="0">
                <a:solidFill>
                  <a:srgbClr val="53606A"/>
                </a:solidFill>
                <a:latin typeface="Calibri" pitchFamily="34" charset="0"/>
                <a:ea typeface="Calibri" pitchFamily="34" charset="-122"/>
                <a:cs typeface="Calibri" pitchFamily="34" charset="-120"/>
              </a:rPr>
              <a:t>The project manager has flagged it</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47472"/>
            <a:ext cx="8229600" cy="274320"/>
          </a:xfrm>
          <a:prstGeom prst="rect">
            <a:avLst/>
          </a:prstGeom>
          <a:noFill/>
          <a:ln/>
        </p:spPr>
        <p:txBody>
          <a:bodyPr wrap="square" lIns="0" tIns="0" rIns="0" bIns="0" rtlCol="0" anchor="ctr"/>
          <a:lstStyle/>
          <a:p>
            <a:pPr indent="0" marL="0">
              <a:buNone/>
            </a:pPr>
            <a:r>
              <a:rPr lang="en-US" sz="1200" b="1" spc="200" kern="0" dirty="0">
                <a:solidFill>
                  <a:srgbClr val="12AEBE"/>
                </a:solidFill>
                <a:latin typeface="Calibri" pitchFamily="34" charset="0"/>
                <a:ea typeface="Calibri" pitchFamily="34" charset="-122"/>
                <a:cs typeface="Calibri" pitchFamily="34" charset="-120"/>
              </a:rPr>
              <a:t>RESOURCING</a:t>
            </a:r>
            <a:endParaRPr lang="en-US" sz="1200" dirty="0"/>
          </a:p>
        </p:txBody>
      </p:sp>
      <p:sp>
        <p:nvSpPr>
          <p:cNvPr id="3" name="Text 1"/>
          <p:cNvSpPr/>
          <p:nvPr/>
        </p:nvSpPr>
        <p:spPr>
          <a:xfrm>
            <a:off x="566928" y="713232"/>
            <a:ext cx="10424160" cy="603504"/>
          </a:xfrm>
          <a:prstGeom prst="rect">
            <a:avLst/>
          </a:prstGeom>
          <a:noFill/>
          <a:ln/>
        </p:spPr>
        <p:txBody>
          <a:bodyPr wrap="square" lIns="0" tIns="0" rIns="0" bIns="0" rtlCol="0" anchor="t"/>
          <a:lstStyle/>
          <a:p>
            <a:pPr indent="0" marL="0">
              <a:buNone/>
            </a:pPr>
            <a:r>
              <a:rPr lang="en-US" sz="3200" b="1" dirty="0">
                <a:solidFill>
                  <a:srgbClr val="0A4B75"/>
                </a:solidFill>
                <a:latin typeface="Calibri" pitchFamily="34" charset="0"/>
                <a:ea typeface="Calibri" pitchFamily="34" charset="-122"/>
                <a:cs typeface="Calibri" pitchFamily="34" charset="-120"/>
              </a:rPr>
              <a:t>Who is overcommitted, before it happens</a:t>
            </a:r>
            <a:endParaRPr lang="en-US" sz="3200" dirty="0"/>
          </a:p>
        </p:txBody>
      </p:sp>
      <p:pic>
        <p:nvPicPr>
          <p:cNvPr id="4" name="Image 0" descr="../deck/mark-light.png">    </p:cNvPr>
          <p:cNvPicPr>
            <a:picLocks noChangeAspect="1"/>
          </p:cNvPicPr>
          <p:nvPr/>
        </p:nvPicPr>
        <p:blipFill>
          <a:blip r:embed="rId1"/>
          <a:stretch>
            <a:fillRect/>
          </a:stretch>
        </p:blipFill>
        <p:spPr>
          <a:xfrm>
            <a:off x="11192256" y="402336"/>
            <a:ext cx="402336" cy="402336"/>
          </a:xfrm>
          <a:prstGeom prst="rect">
            <a:avLst/>
          </a:prstGeom>
        </p:spPr>
      </p:pic>
      <p:sp>
        <p:nvSpPr>
          <p:cNvPr id="5" name="Shape 2"/>
          <p:cNvSpPr/>
          <p:nvPr/>
        </p:nvSpPr>
        <p:spPr>
          <a:xfrm>
            <a:off x="4133088" y="1463040"/>
            <a:ext cx="7552944" cy="4206240"/>
          </a:xfrm>
          <a:prstGeom prst="roundRect">
            <a:avLst>
              <a:gd name="adj" fmla="val 1304"/>
            </a:avLst>
          </a:prstGeom>
          <a:solidFill>
            <a:srgbClr val="F2F6F9"/>
          </a:solidFill>
          <a:ln w="12700">
            <a:solidFill>
              <a:srgbClr val="D9E4EC"/>
            </a:solidFill>
            <a:prstDash val="solid"/>
          </a:ln>
          <a:effectLst>
            <a:outerShdw sx="100000" sy="100000" kx="0" ky="0" algn="bl" rotWithShape="0" blurRad="177800" dist="38100" dir="5400000">
              <a:srgbClr val="0A2740">
                <a:alpha val="22000"/>
              </a:srgbClr>
            </a:outerShdw>
          </a:effectLst>
        </p:spPr>
      </p:sp>
      <p:pic>
        <p:nvPicPr>
          <p:cNvPr id="6" name="Image 1" descr="../deck/resourcing-crop.png">    </p:cNvPr>
          <p:cNvPicPr>
            <a:picLocks noChangeAspect="1"/>
          </p:cNvPicPr>
          <p:nvPr/>
        </p:nvPicPr>
        <p:blipFill>
          <a:blip r:embed="rId2"/>
          <a:srcRect l="0" r="0" t="0" b="0"/>
          <a:stretch/>
        </p:blipFill>
        <p:spPr>
          <a:xfrm>
            <a:off x="4224528" y="1554480"/>
            <a:ext cx="7370064" cy="4023360"/>
          </a:xfrm>
          <a:prstGeom prst="rect">
            <a:avLst/>
          </a:prstGeom>
        </p:spPr>
      </p:pic>
      <p:sp>
        <p:nvSpPr>
          <p:cNvPr id="7" name="Shape 3"/>
          <p:cNvSpPr/>
          <p:nvPr/>
        </p:nvSpPr>
        <p:spPr>
          <a:xfrm>
            <a:off x="566928" y="1700784"/>
            <a:ext cx="384048" cy="384048"/>
          </a:xfrm>
          <a:prstGeom prst="ellipse">
            <a:avLst/>
          </a:prstGeom>
          <a:solidFill>
            <a:srgbClr val="12AEBE"/>
          </a:solidFill>
          <a:ln/>
        </p:spPr>
      </p:sp>
      <p:sp>
        <p:nvSpPr>
          <p:cNvPr id="8" name="Text 4"/>
          <p:cNvSpPr/>
          <p:nvPr/>
        </p:nvSpPr>
        <p:spPr>
          <a:xfrm>
            <a:off x="566928" y="170078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9" name="Text 5"/>
          <p:cNvSpPr/>
          <p:nvPr/>
        </p:nvSpPr>
        <p:spPr>
          <a:xfrm>
            <a:off x="1152144" y="1664208"/>
            <a:ext cx="2779776" cy="310896"/>
          </a:xfrm>
          <a:prstGeom prst="rect">
            <a:avLst/>
          </a:prstGeom>
          <a:noFill/>
          <a:ln/>
        </p:spPr>
        <p:txBody>
          <a:bodyPr wrap="square" lIns="0" tIns="0" rIns="0" bIns="0" rtlCol="0" anchor="ctr"/>
          <a:lstStyle/>
          <a:p>
            <a:pPr indent="0" marL="0">
              <a:buNone/>
            </a:pPr>
            <a:r>
              <a:rPr lang="en-US" sz="1600" b="1" dirty="0">
                <a:solidFill>
                  <a:srgbClr val="0A4B75"/>
                </a:solidFill>
                <a:latin typeface="Calibri" pitchFamily="34" charset="0"/>
                <a:ea typeface="Calibri" pitchFamily="34" charset="-122"/>
                <a:cs typeface="Calibri" pitchFamily="34" charset="-120"/>
              </a:rPr>
              <a:t>One bar per person</a:t>
            </a:r>
            <a:endParaRPr lang="en-US" sz="1600" dirty="0"/>
          </a:p>
        </p:txBody>
      </p:sp>
      <p:sp>
        <p:nvSpPr>
          <p:cNvPr id="10" name="Text 6"/>
          <p:cNvSpPr/>
          <p:nvPr/>
        </p:nvSpPr>
        <p:spPr>
          <a:xfrm>
            <a:off x="1152144" y="1975104"/>
            <a:ext cx="2779776" cy="822960"/>
          </a:xfrm>
          <a:prstGeom prst="rect">
            <a:avLst/>
          </a:prstGeom>
          <a:noFill/>
          <a:ln/>
        </p:spPr>
        <p:txBody>
          <a:bodyPr wrap="square" lIns="0" tIns="0" rIns="0" bIns="0" rtlCol="0" anchor="ctr"/>
          <a:lstStyle/>
          <a:p>
            <a:pPr indent="0" marL="0">
              <a:lnSpc>
                <a:spcPts val="1800"/>
              </a:lnSpc>
              <a:buNone/>
            </a:pPr>
            <a:r>
              <a:rPr lang="en-US" sz="1350" dirty="0">
                <a:solidFill>
                  <a:srgbClr val="53606A"/>
                </a:solidFill>
                <a:latin typeface="Calibri" pitchFamily="34" charset="0"/>
                <a:ea typeface="Calibri" pitchFamily="34" charset="-122"/>
                <a:cs typeface="Calibri" pitchFamily="34" charset="-120"/>
              </a:rPr>
              <a:t>Everything they have promised each month, across every project.</a:t>
            </a:r>
            <a:endParaRPr lang="en-US" sz="1350" dirty="0"/>
          </a:p>
        </p:txBody>
      </p:sp>
      <p:sp>
        <p:nvSpPr>
          <p:cNvPr id="11" name="Shape 7"/>
          <p:cNvSpPr/>
          <p:nvPr/>
        </p:nvSpPr>
        <p:spPr>
          <a:xfrm>
            <a:off x="566928" y="2944368"/>
            <a:ext cx="384048" cy="384048"/>
          </a:xfrm>
          <a:prstGeom prst="ellipse">
            <a:avLst/>
          </a:prstGeom>
          <a:solidFill>
            <a:srgbClr val="12AEBE"/>
          </a:solidFill>
          <a:ln/>
        </p:spPr>
      </p:sp>
      <p:sp>
        <p:nvSpPr>
          <p:cNvPr id="12" name="Text 8"/>
          <p:cNvSpPr/>
          <p:nvPr/>
        </p:nvSpPr>
        <p:spPr>
          <a:xfrm>
            <a:off x="566928" y="294436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3" name="Text 9"/>
          <p:cNvSpPr/>
          <p:nvPr/>
        </p:nvSpPr>
        <p:spPr>
          <a:xfrm>
            <a:off x="1152144" y="2907792"/>
            <a:ext cx="2779776" cy="310896"/>
          </a:xfrm>
          <a:prstGeom prst="rect">
            <a:avLst/>
          </a:prstGeom>
          <a:noFill/>
          <a:ln/>
        </p:spPr>
        <p:txBody>
          <a:bodyPr wrap="square" lIns="0" tIns="0" rIns="0" bIns="0" rtlCol="0" anchor="ctr"/>
          <a:lstStyle/>
          <a:p>
            <a:pPr indent="0" marL="0">
              <a:buNone/>
            </a:pPr>
            <a:r>
              <a:rPr lang="en-US" sz="1600" b="1" dirty="0">
                <a:solidFill>
                  <a:srgbClr val="0A4B75"/>
                </a:solidFill>
                <a:latin typeface="Calibri" pitchFamily="34" charset="0"/>
                <a:ea typeface="Calibri" pitchFamily="34" charset="-122"/>
                <a:cs typeface="Calibri" pitchFamily="34" charset="-120"/>
              </a:rPr>
              <a:t>Days off at the base</a:t>
            </a:r>
            <a:endParaRPr lang="en-US" sz="1600" dirty="0"/>
          </a:p>
        </p:txBody>
      </p:sp>
      <p:sp>
        <p:nvSpPr>
          <p:cNvPr id="14" name="Text 10"/>
          <p:cNvSpPr/>
          <p:nvPr/>
        </p:nvSpPr>
        <p:spPr>
          <a:xfrm>
            <a:off x="1152144" y="3218688"/>
            <a:ext cx="2779776" cy="822960"/>
          </a:xfrm>
          <a:prstGeom prst="rect">
            <a:avLst/>
          </a:prstGeom>
          <a:noFill/>
          <a:ln/>
        </p:spPr>
        <p:txBody>
          <a:bodyPr wrap="square" lIns="0" tIns="0" rIns="0" bIns="0" rtlCol="0" anchor="ctr"/>
          <a:lstStyle/>
          <a:p>
            <a:pPr indent="0" marL="0">
              <a:lnSpc>
                <a:spcPts val="1800"/>
              </a:lnSpc>
              <a:buNone/>
            </a:pPr>
            <a:r>
              <a:rPr lang="en-US" sz="1350" dirty="0">
                <a:solidFill>
                  <a:srgbClr val="53606A"/>
                </a:solidFill>
                <a:latin typeface="Calibri" pitchFamily="34" charset="0"/>
                <a:ea typeface="Calibri" pitchFamily="34" charset="-122"/>
                <a:cs typeface="Calibri" pitchFamily="34" charset="-120"/>
              </a:rPr>
              <a:t>Leave and public holidays come off capacity, not off the estimate.</a:t>
            </a:r>
            <a:endParaRPr lang="en-US" sz="1350" dirty="0"/>
          </a:p>
        </p:txBody>
      </p:sp>
      <p:sp>
        <p:nvSpPr>
          <p:cNvPr id="15" name="Shape 11"/>
          <p:cNvSpPr/>
          <p:nvPr/>
        </p:nvSpPr>
        <p:spPr>
          <a:xfrm>
            <a:off x="566928" y="4187952"/>
            <a:ext cx="384048" cy="384048"/>
          </a:xfrm>
          <a:prstGeom prst="ellipse">
            <a:avLst/>
          </a:prstGeom>
          <a:solidFill>
            <a:srgbClr val="12AEBE"/>
          </a:solidFill>
          <a:ln/>
        </p:spPr>
      </p:sp>
      <p:sp>
        <p:nvSpPr>
          <p:cNvPr id="16" name="Text 12"/>
          <p:cNvSpPr/>
          <p:nvPr/>
        </p:nvSpPr>
        <p:spPr>
          <a:xfrm>
            <a:off x="566928" y="418795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3"/>
          <p:cNvSpPr/>
          <p:nvPr/>
        </p:nvSpPr>
        <p:spPr>
          <a:xfrm>
            <a:off x="1152144" y="4151376"/>
            <a:ext cx="2779776" cy="310896"/>
          </a:xfrm>
          <a:prstGeom prst="rect">
            <a:avLst/>
          </a:prstGeom>
          <a:noFill/>
          <a:ln/>
        </p:spPr>
        <p:txBody>
          <a:bodyPr wrap="square" lIns="0" tIns="0" rIns="0" bIns="0" rtlCol="0" anchor="ctr"/>
          <a:lstStyle/>
          <a:p>
            <a:pPr indent="0" marL="0">
              <a:buNone/>
            </a:pPr>
            <a:r>
              <a:rPr lang="en-US" sz="1600" b="1" dirty="0">
                <a:solidFill>
                  <a:srgbClr val="0A4B75"/>
                </a:solidFill>
                <a:latin typeface="Calibri" pitchFamily="34" charset="0"/>
                <a:ea typeface="Calibri" pitchFamily="34" charset="-122"/>
                <a:cs typeface="Calibri" pitchFamily="34" charset="-120"/>
              </a:rPr>
              <a:t>A line you can move</a:t>
            </a:r>
            <a:endParaRPr lang="en-US" sz="1600" dirty="0"/>
          </a:p>
        </p:txBody>
      </p:sp>
      <p:sp>
        <p:nvSpPr>
          <p:cNvPr id="18" name="Text 14"/>
          <p:cNvSpPr/>
          <p:nvPr/>
        </p:nvSpPr>
        <p:spPr>
          <a:xfrm>
            <a:off x="1152144" y="4462272"/>
            <a:ext cx="2779776" cy="822960"/>
          </a:xfrm>
          <a:prstGeom prst="rect">
            <a:avLst/>
          </a:prstGeom>
          <a:noFill/>
          <a:ln/>
        </p:spPr>
        <p:txBody>
          <a:bodyPr wrap="square" lIns="0" tIns="0" rIns="0" bIns="0" rtlCol="0" anchor="ctr"/>
          <a:lstStyle/>
          <a:p>
            <a:pPr indent="0" marL="0">
              <a:lnSpc>
                <a:spcPts val="1800"/>
              </a:lnSpc>
              <a:buNone/>
            </a:pPr>
            <a:r>
              <a:rPr lang="en-US" sz="1350" dirty="0">
                <a:solidFill>
                  <a:srgbClr val="53606A"/>
                </a:solidFill>
                <a:latin typeface="Calibri" pitchFamily="34" charset="0"/>
                <a:ea typeface="Calibri" pitchFamily="34" charset="-122"/>
                <a:cs typeface="Calibri" pitchFamily="34" charset="-120"/>
              </a:rPr>
              <a:t>Set the threshold; anything above it is flagged everywhere.</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47472"/>
            <a:ext cx="8229600" cy="274320"/>
          </a:xfrm>
          <a:prstGeom prst="rect">
            <a:avLst/>
          </a:prstGeom>
          <a:noFill/>
          <a:ln/>
        </p:spPr>
        <p:txBody>
          <a:bodyPr wrap="square" lIns="0" tIns="0" rIns="0" bIns="0" rtlCol="0" anchor="ctr"/>
          <a:lstStyle/>
          <a:p>
            <a:pPr indent="0" marL="0">
              <a:buNone/>
            </a:pPr>
            <a:r>
              <a:rPr lang="en-US" sz="1200" b="1" spc="200" kern="0" dirty="0">
                <a:solidFill>
                  <a:srgbClr val="12AEBE"/>
                </a:solidFill>
                <a:latin typeface="Calibri" pitchFamily="34" charset="0"/>
                <a:ea typeface="Calibri" pitchFamily="34" charset="-122"/>
                <a:cs typeface="Calibri" pitchFamily="34" charset="-120"/>
              </a:rPr>
              <a:t>RESOURCING</a:t>
            </a:r>
            <a:endParaRPr lang="en-US" sz="1200" dirty="0"/>
          </a:p>
        </p:txBody>
      </p:sp>
      <p:sp>
        <p:nvSpPr>
          <p:cNvPr id="3" name="Text 1"/>
          <p:cNvSpPr/>
          <p:nvPr/>
        </p:nvSpPr>
        <p:spPr>
          <a:xfrm>
            <a:off x="566928" y="713232"/>
            <a:ext cx="10424160" cy="603504"/>
          </a:xfrm>
          <a:prstGeom prst="rect">
            <a:avLst/>
          </a:prstGeom>
          <a:noFill/>
          <a:ln/>
        </p:spPr>
        <p:txBody>
          <a:bodyPr wrap="square" lIns="0" tIns="0" rIns="0" bIns="0" rtlCol="0" anchor="t"/>
          <a:lstStyle/>
          <a:p>
            <a:pPr indent="0" marL="0">
              <a:buNone/>
            </a:pPr>
            <a:r>
              <a:rPr lang="en-US" sz="3200" b="1" dirty="0">
                <a:solidFill>
                  <a:srgbClr val="0A4B75"/>
                </a:solidFill>
                <a:latin typeface="Calibri" pitchFamily="34" charset="0"/>
                <a:ea typeface="Calibri" pitchFamily="34" charset="-122"/>
                <a:cs typeface="Calibri" pitchFamily="34" charset="-120"/>
              </a:rPr>
              <a:t>The shortage a spreadsheet hides</a:t>
            </a:r>
            <a:endParaRPr lang="en-US" sz="3200" dirty="0"/>
          </a:p>
        </p:txBody>
      </p:sp>
      <p:pic>
        <p:nvPicPr>
          <p:cNvPr id="4" name="Image 0" descr="../deck/mark-light.png">    </p:cNvPr>
          <p:cNvPicPr>
            <a:picLocks noChangeAspect="1"/>
          </p:cNvPicPr>
          <p:nvPr/>
        </p:nvPicPr>
        <p:blipFill>
          <a:blip r:embed="rId1"/>
          <a:stretch>
            <a:fillRect/>
          </a:stretch>
        </p:blipFill>
        <p:spPr>
          <a:xfrm>
            <a:off x="11192256" y="402336"/>
            <a:ext cx="402336" cy="402336"/>
          </a:xfrm>
          <a:prstGeom prst="rect">
            <a:avLst/>
          </a:prstGeom>
        </p:spPr>
      </p:pic>
      <p:sp>
        <p:nvSpPr>
          <p:cNvPr id="5" name="Text 2"/>
          <p:cNvSpPr/>
          <p:nvPr/>
        </p:nvSpPr>
        <p:spPr>
          <a:xfrm>
            <a:off x="566928" y="1517904"/>
            <a:ext cx="6035040" cy="1188720"/>
          </a:xfrm>
          <a:prstGeom prst="rect">
            <a:avLst/>
          </a:prstGeom>
          <a:noFill/>
          <a:ln/>
        </p:spPr>
        <p:txBody>
          <a:bodyPr wrap="square" lIns="0" tIns="0" rIns="0" bIns="0" rtlCol="0" anchor="ctr"/>
          <a:lstStyle/>
          <a:p>
            <a:pPr indent="0" marL="0">
              <a:lnSpc>
                <a:spcPts val="2200"/>
              </a:lnSpc>
              <a:buNone/>
            </a:pPr>
            <a:r>
              <a:rPr lang="en-US" sz="1500" dirty="0">
                <a:solidFill>
                  <a:srgbClr val="53606A"/>
                </a:solidFill>
                <a:latin typeface="Calibri" pitchFamily="34" charset="0"/>
                <a:ea typeface="Calibri" pitchFamily="34" charset="-122"/>
                <a:cs typeface="Calibri" pitchFamily="34" charset="-120"/>
              </a:rPr>
              <a:t>A single busy month is normal. The same job title short three months running is a hiring decision — and it is the one thing a monthly capacity report will never show you, because each month on its own looks survivable.</a:t>
            </a:r>
            <a:endParaRPr lang="en-US" sz="1500" dirty="0"/>
          </a:p>
        </p:txBody>
      </p:sp>
      <p:sp>
        <p:nvSpPr>
          <p:cNvPr id="6" name="Text 3"/>
          <p:cNvSpPr/>
          <p:nvPr/>
        </p:nvSpPr>
        <p:spPr>
          <a:xfrm>
            <a:off x="566928" y="3017520"/>
            <a:ext cx="2834640" cy="841248"/>
          </a:xfrm>
          <a:prstGeom prst="rect">
            <a:avLst/>
          </a:prstGeom>
          <a:noFill/>
          <a:ln/>
        </p:spPr>
        <p:txBody>
          <a:bodyPr wrap="square" lIns="0" tIns="0" rIns="0" bIns="0" rtlCol="0" anchor="ctr"/>
          <a:lstStyle/>
          <a:p>
            <a:pPr indent="0" marL="0">
              <a:buNone/>
            </a:pPr>
            <a:r>
              <a:rPr lang="en-US" sz="5800" b="1" dirty="0">
                <a:solidFill>
                  <a:srgbClr val="BB3D48"/>
                </a:solidFill>
                <a:latin typeface="Calibri" pitchFamily="34" charset="0"/>
                <a:ea typeface="Calibri" pitchFamily="34" charset="-122"/>
                <a:cs typeface="Calibri" pitchFamily="34" charset="-120"/>
              </a:rPr>
              <a:t>4</a:t>
            </a:r>
            <a:endParaRPr lang="en-US" sz="5800" dirty="0"/>
          </a:p>
        </p:txBody>
      </p:sp>
      <p:sp>
        <p:nvSpPr>
          <p:cNvPr id="7" name="Text 4"/>
          <p:cNvSpPr/>
          <p:nvPr/>
        </p:nvSpPr>
        <p:spPr>
          <a:xfrm>
            <a:off x="566928" y="3803904"/>
            <a:ext cx="2834640" cy="256032"/>
          </a:xfrm>
          <a:prstGeom prst="rect">
            <a:avLst/>
          </a:prstGeom>
          <a:noFill/>
          <a:ln/>
        </p:spPr>
        <p:txBody>
          <a:bodyPr wrap="square" lIns="0" tIns="0" rIns="0" bIns="0" rtlCol="0" anchor="ctr"/>
          <a:lstStyle/>
          <a:p>
            <a:pPr indent="0" marL="0">
              <a:buNone/>
            </a:pPr>
            <a:r>
              <a:rPr lang="en-US" sz="1100" b="1" spc="140" kern="0" dirty="0">
                <a:solidFill>
                  <a:srgbClr val="12AEBE"/>
                </a:solidFill>
                <a:latin typeface="Calibri" pitchFamily="34" charset="0"/>
                <a:ea typeface="Calibri" pitchFamily="34" charset="-122"/>
                <a:cs typeface="Calibri" pitchFamily="34" charset="-120"/>
              </a:rPr>
              <a:t>ROLES SHORT 3 MONTHS</a:t>
            </a:r>
            <a:endParaRPr lang="en-US" sz="1100" dirty="0"/>
          </a:p>
        </p:txBody>
      </p:sp>
      <p:sp>
        <p:nvSpPr>
          <p:cNvPr id="8" name="Text 5"/>
          <p:cNvSpPr/>
          <p:nvPr/>
        </p:nvSpPr>
        <p:spPr>
          <a:xfrm>
            <a:off x="566928" y="4059936"/>
            <a:ext cx="2834640" cy="731520"/>
          </a:xfrm>
          <a:prstGeom prst="rect">
            <a:avLst/>
          </a:prstGeom>
          <a:noFill/>
          <a:ln/>
        </p:spPr>
        <p:txBody>
          <a:bodyPr wrap="square" lIns="0" tIns="0" rIns="0" bIns="0" rtlCol="0" anchor="ctr"/>
          <a:lstStyle/>
          <a:p>
            <a:pPr indent="0" marL="0">
              <a:lnSpc>
                <a:spcPts val="1600"/>
              </a:lnSpc>
              <a:buNone/>
            </a:pPr>
            <a:r>
              <a:rPr lang="en-US" sz="1250" dirty="0">
                <a:solidFill>
                  <a:srgbClr val="53606A"/>
                </a:solidFill>
                <a:latin typeface="Calibri" pitchFamily="34" charset="0"/>
                <a:ea typeface="Calibri" pitchFamily="34" charset="-122"/>
                <a:cs typeface="Calibri" pitchFamily="34" charset="-120"/>
              </a:rPr>
              <a:t>Counted only where nobody else of that job title has room to absorb it</a:t>
            </a:r>
            <a:endParaRPr lang="en-US" sz="1250" dirty="0"/>
          </a:p>
        </p:txBody>
      </p:sp>
      <p:sp>
        <p:nvSpPr>
          <p:cNvPr id="9" name="Text 6"/>
          <p:cNvSpPr/>
          <p:nvPr/>
        </p:nvSpPr>
        <p:spPr>
          <a:xfrm>
            <a:off x="3767328" y="3017520"/>
            <a:ext cx="2834640" cy="841248"/>
          </a:xfrm>
          <a:prstGeom prst="rect">
            <a:avLst/>
          </a:prstGeom>
          <a:noFill/>
          <a:ln/>
        </p:spPr>
        <p:txBody>
          <a:bodyPr wrap="square" lIns="0" tIns="0" rIns="0" bIns="0" rtlCol="0" anchor="ctr"/>
          <a:lstStyle/>
          <a:p>
            <a:pPr indent="0" marL="0">
              <a:buNone/>
            </a:pPr>
            <a:r>
              <a:rPr lang="en-US" sz="5800" b="1" dirty="0">
                <a:solidFill>
                  <a:srgbClr val="0A4B75"/>
                </a:solidFill>
                <a:latin typeface="Calibri" pitchFamily="34" charset="0"/>
                <a:ea typeface="Calibri" pitchFamily="34" charset="-122"/>
                <a:cs typeface="Calibri" pitchFamily="34" charset="-120"/>
              </a:rPr>
              <a:t>8.2</a:t>
            </a:r>
            <a:endParaRPr lang="en-US" sz="5800" dirty="0"/>
          </a:p>
        </p:txBody>
      </p:sp>
      <p:sp>
        <p:nvSpPr>
          <p:cNvPr id="10" name="Text 7"/>
          <p:cNvSpPr/>
          <p:nvPr/>
        </p:nvSpPr>
        <p:spPr>
          <a:xfrm>
            <a:off x="3767328" y="3803904"/>
            <a:ext cx="2834640" cy="256032"/>
          </a:xfrm>
          <a:prstGeom prst="rect">
            <a:avLst/>
          </a:prstGeom>
          <a:noFill/>
          <a:ln/>
        </p:spPr>
        <p:txBody>
          <a:bodyPr wrap="square" lIns="0" tIns="0" rIns="0" bIns="0" rtlCol="0" anchor="ctr"/>
          <a:lstStyle/>
          <a:p>
            <a:pPr indent="0" marL="0">
              <a:buNone/>
            </a:pPr>
            <a:r>
              <a:rPr lang="en-US" sz="1100" b="1" spc="140" kern="0" dirty="0">
                <a:solidFill>
                  <a:srgbClr val="12AEBE"/>
                </a:solidFill>
                <a:latin typeface="Calibri" pitchFamily="34" charset="0"/>
                <a:ea typeface="Calibri" pitchFamily="34" charset="-122"/>
                <a:cs typeface="Calibri" pitchFamily="34" charset="-120"/>
              </a:rPr>
              <a:t>PEOPLE THE WORK NEEDS</a:t>
            </a:r>
            <a:endParaRPr lang="en-US" sz="1100" dirty="0"/>
          </a:p>
        </p:txBody>
      </p:sp>
      <p:sp>
        <p:nvSpPr>
          <p:cNvPr id="11" name="Text 8"/>
          <p:cNvSpPr/>
          <p:nvPr/>
        </p:nvSpPr>
        <p:spPr>
          <a:xfrm>
            <a:off x="3767328" y="4059936"/>
            <a:ext cx="2834640" cy="731520"/>
          </a:xfrm>
          <a:prstGeom prst="rect">
            <a:avLst/>
          </a:prstGeom>
          <a:noFill/>
          <a:ln/>
        </p:spPr>
        <p:txBody>
          <a:bodyPr wrap="square" lIns="0" tIns="0" rIns="0" bIns="0" rtlCol="0" anchor="ctr"/>
          <a:lstStyle/>
          <a:p>
            <a:pPr indent="0" marL="0">
              <a:lnSpc>
                <a:spcPts val="1600"/>
              </a:lnSpc>
              <a:buNone/>
            </a:pPr>
            <a:r>
              <a:rPr lang="en-US" sz="1250" dirty="0">
                <a:solidFill>
                  <a:srgbClr val="53606A"/>
                </a:solidFill>
                <a:latin typeface="Calibri" pitchFamily="34" charset="0"/>
                <a:ea typeface="Calibri" pitchFamily="34" charset="-122"/>
                <a:cs typeface="Calibri" pitchFamily="34" charset="-120"/>
              </a:rPr>
              <a:t>At its peak, against a team of seven — the gap, stated in people</a:t>
            </a:r>
            <a:endParaRPr lang="en-US" sz="1250" dirty="0"/>
          </a:p>
        </p:txBody>
      </p:sp>
      <p:sp>
        <p:nvSpPr>
          <p:cNvPr id="12" name="Shape 9"/>
          <p:cNvSpPr/>
          <p:nvPr/>
        </p:nvSpPr>
        <p:spPr>
          <a:xfrm>
            <a:off x="6766560" y="1481328"/>
            <a:ext cx="4919472" cy="3666744"/>
          </a:xfrm>
          <a:prstGeom prst="roundRect">
            <a:avLst>
              <a:gd name="adj" fmla="val 1496"/>
            </a:avLst>
          </a:prstGeom>
          <a:solidFill>
            <a:srgbClr val="F2F6F9"/>
          </a:solidFill>
          <a:ln w="12700">
            <a:solidFill>
              <a:srgbClr val="D9E4EC"/>
            </a:solidFill>
            <a:prstDash val="solid"/>
          </a:ln>
          <a:effectLst>
            <a:outerShdw sx="100000" sy="100000" kx="0" ky="0" algn="bl" rotWithShape="0" blurRad="177800" dist="38100" dir="5400000">
              <a:srgbClr val="0A2740">
                <a:alpha val="22000"/>
              </a:srgbClr>
            </a:outerShdw>
          </a:effectLst>
        </p:spPr>
      </p:sp>
      <p:pic>
        <p:nvPicPr>
          <p:cNvPr id="13" name="Image 1" descr="../deck/roles.png">    </p:cNvPr>
          <p:cNvPicPr>
            <a:picLocks noChangeAspect="1"/>
          </p:cNvPicPr>
          <p:nvPr/>
        </p:nvPicPr>
        <p:blipFill>
          <a:blip r:embed="rId2"/>
          <a:srcRect l="0" r="0" t="0" b="0"/>
          <a:stretch/>
        </p:blipFill>
        <p:spPr>
          <a:xfrm>
            <a:off x="6858000" y="1572768"/>
            <a:ext cx="4736592" cy="3483864"/>
          </a:xfrm>
          <a:prstGeom prst="rect">
            <a:avLst/>
          </a:prstGeom>
        </p:spPr>
      </p:pic>
      <p:sp>
        <p:nvSpPr>
          <p:cNvPr id="14" name="Text 10"/>
          <p:cNvSpPr/>
          <p:nvPr/>
        </p:nvSpPr>
        <p:spPr>
          <a:xfrm>
            <a:off x="566928" y="5029200"/>
            <a:ext cx="5943600" cy="822960"/>
          </a:xfrm>
          <a:prstGeom prst="rect">
            <a:avLst/>
          </a:prstGeom>
          <a:noFill/>
          <a:ln/>
        </p:spPr>
        <p:txBody>
          <a:bodyPr wrap="square" lIns="0" tIns="0" rIns="0" bIns="0" rtlCol="0" anchor="ctr"/>
          <a:lstStyle/>
          <a:p>
            <a:pPr indent="0" marL="0">
              <a:lnSpc>
                <a:spcPts val="2200"/>
              </a:lnSpc>
              <a:buNone/>
            </a:pPr>
            <a:r>
              <a:rPr lang="en-US" sz="1500" b="1" dirty="0">
                <a:solidFill>
                  <a:srgbClr val="0A4B75"/>
                </a:solidFill>
                <a:latin typeface="Calibri" pitchFamily="34" charset="0"/>
                <a:ea typeface="Calibri" pitchFamily="34" charset="-122"/>
                <a:cs typeface="Calibri" pitchFamily="34" charset="-120"/>
              </a:rPr>
              <a:t>Four roles, six months, nobody of the same job title free to cover them. That is a hiring decision — and it arrived as a number rather than as a feeling.</a:t>
            </a:r>
            <a:endParaRPr lang="en-US" sz="1500" dirty="0"/>
          </a:p>
        </p:txBody>
      </p:sp>
      <p:sp>
        <p:nvSpPr>
          <p:cNvPr id="15" name="Text 11"/>
          <p:cNvSpPr/>
          <p:nvPr/>
        </p:nvSpPr>
        <p:spPr>
          <a:xfrm>
            <a:off x="6858000" y="5285232"/>
            <a:ext cx="4736592" cy="640080"/>
          </a:xfrm>
          <a:prstGeom prst="rect">
            <a:avLst/>
          </a:prstGeom>
          <a:noFill/>
          <a:ln/>
        </p:spPr>
        <p:txBody>
          <a:bodyPr wrap="square" lIns="0" tIns="0" rIns="0" bIns="0" rtlCol="0" anchor="ctr"/>
          <a:lstStyle/>
          <a:p>
            <a:pPr indent="0" marL="0">
              <a:lnSpc>
                <a:spcPts val="1700"/>
              </a:lnSpc>
              <a:buNone/>
            </a:pPr>
            <a:r>
              <a:rPr lang="en-US" sz="1250" i="1" dirty="0">
                <a:solidFill>
                  <a:srgbClr val="0A4B75"/>
                </a:solidFill>
                <a:latin typeface="Calibri" pitchFamily="34" charset="0"/>
                <a:ea typeface="Calibri" pitchFamily="34" charset="-122"/>
                <a:cs typeface="Calibri" pitchFamily="34" charset="-120"/>
              </a:rPr>
              <a:t>Project manager · Process engineer · Design engineer · Regulatory support — each short from August to January.</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47472"/>
            <a:ext cx="8229600" cy="274320"/>
          </a:xfrm>
          <a:prstGeom prst="rect">
            <a:avLst/>
          </a:prstGeom>
          <a:noFill/>
          <a:ln/>
        </p:spPr>
        <p:txBody>
          <a:bodyPr wrap="square" lIns="0" tIns="0" rIns="0" bIns="0" rtlCol="0" anchor="ctr"/>
          <a:lstStyle/>
          <a:p>
            <a:pPr indent="0" marL="0">
              <a:buNone/>
            </a:pPr>
            <a:r>
              <a:rPr lang="en-US" sz="1200" b="1" spc="200" kern="0" dirty="0">
                <a:solidFill>
                  <a:srgbClr val="12AEBE"/>
                </a:solidFill>
                <a:latin typeface="Calibri" pitchFamily="34" charset="0"/>
                <a:ea typeface="Calibri" pitchFamily="34" charset="-122"/>
                <a:cs typeface="Calibri" pitchFamily="34" charset="-120"/>
              </a:rPr>
              <a:t>FINANCIALS</a:t>
            </a:r>
            <a:endParaRPr lang="en-US" sz="1200" dirty="0"/>
          </a:p>
        </p:txBody>
      </p:sp>
      <p:sp>
        <p:nvSpPr>
          <p:cNvPr id="3" name="Text 1"/>
          <p:cNvSpPr/>
          <p:nvPr/>
        </p:nvSpPr>
        <p:spPr>
          <a:xfrm>
            <a:off x="566928" y="713232"/>
            <a:ext cx="10424160" cy="603504"/>
          </a:xfrm>
          <a:prstGeom prst="rect">
            <a:avLst/>
          </a:prstGeom>
          <a:noFill/>
          <a:ln/>
        </p:spPr>
        <p:txBody>
          <a:bodyPr wrap="square" lIns="0" tIns="0" rIns="0" bIns="0" rtlCol="0" anchor="t"/>
          <a:lstStyle/>
          <a:p>
            <a:pPr indent="0" marL="0">
              <a:buNone/>
            </a:pPr>
            <a:r>
              <a:rPr lang="en-US" sz="3200" b="1" dirty="0">
                <a:solidFill>
                  <a:srgbClr val="0A4B75"/>
                </a:solidFill>
                <a:latin typeface="Calibri" pitchFamily="34" charset="0"/>
                <a:ea typeface="Calibri" pitchFamily="34" charset="-122"/>
                <a:cs typeface="Calibri" pitchFamily="34" charset="-120"/>
              </a:rPr>
              <a:t>Budget, spend and invoicing, per project</a:t>
            </a:r>
            <a:endParaRPr lang="en-US" sz="3200" dirty="0"/>
          </a:p>
        </p:txBody>
      </p:sp>
      <p:pic>
        <p:nvPicPr>
          <p:cNvPr id="4" name="Image 0" descr="../deck/mark-light.png">    </p:cNvPr>
          <p:cNvPicPr>
            <a:picLocks noChangeAspect="1"/>
          </p:cNvPicPr>
          <p:nvPr/>
        </p:nvPicPr>
        <p:blipFill>
          <a:blip r:embed="rId1"/>
          <a:stretch>
            <a:fillRect/>
          </a:stretch>
        </p:blipFill>
        <p:spPr>
          <a:xfrm>
            <a:off x="11192256" y="402336"/>
            <a:ext cx="402336" cy="402336"/>
          </a:xfrm>
          <a:prstGeom prst="rect">
            <a:avLst/>
          </a:prstGeom>
        </p:spPr>
      </p:pic>
      <p:sp>
        <p:nvSpPr>
          <p:cNvPr id="5" name="Shape 2"/>
          <p:cNvSpPr/>
          <p:nvPr/>
        </p:nvSpPr>
        <p:spPr>
          <a:xfrm>
            <a:off x="4133088" y="1463040"/>
            <a:ext cx="7552944" cy="4206240"/>
          </a:xfrm>
          <a:prstGeom prst="roundRect">
            <a:avLst>
              <a:gd name="adj" fmla="val 1304"/>
            </a:avLst>
          </a:prstGeom>
          <a:solidFill>
            <a:srgbClr val="F2F6F9"/>
          </a:solidFill>
          <a:ln w="12700">
            <a:solidFill>
              <a:srgbClr val="D9E4EC"/>
            </a:solidFill>
            <a:prstDash val="solid"/>
          </a:ln>
          <a:effectLst>
            <a:outerShdw sx="100000" sy="100000" kx="0" ky="0" algn="bl" rotWithShape="0" blurRad="177800" dist="38100" dir="5400000">
              <a:srgbClr val="0A2740">
                <a:alpha val="22000"/>
              </a:srgbClr>
            </a:outerShdw>
          </a:effectLst>
        </p:spPr>
      </p:sp>
      <p:pic>
        <p:nvPicPr>
          <p:cNvPr id="6" name="Image 1" descr="../deck/financials-crop.png">    </p:cNvPr>
          <p:cNvPicPr>
            <a:picLocks noChangeAspect="1"/>
          </p:cNvPicPr>
          <p:nvPr/>
        </p:nvPicPr>
        <p:blipFill>
          <a:blip r:embed="rId2"/>
          <a:srcRect l="0" r="0" t="0" b="0"/>
          <a:stretch/>
        </p:blipFill>
        <p:spPr>
          <a:xfrm>
            <a:off x="4224528" y="1554480"/>
            <a:ext cx="7370064" cy="4023360"/>
          </a:xfrm>
          <a:prstGeom prst="rect">
            <a:avLst/>
          </a:prstGeom>
        </p:spPr>
      </p:pic>
      <p:sp>
        <p:nvSpPr>
          <p:cNvPr id="7" name="Shape 3"/>
          <p:cNvSpPr/>
          <p:nvPr/>
        </p:nvSpPr>
        <p:spPr>
          <a:xfrm>
            <a:off x="566928" y="1700784"/>
            <a:ext cx="384048" cy="384048"/>
          </a:xfrm>
          <a:prstGeom prst="ellipse">
            <a:avLst/>
          </a:prstGeom>
          <a:solidFill>
            <a:srgbClr val="12AEBE"/>
          </a:solidFill>
          <a:ln/>
        </p:spPr>
      </p:sp>
      <p:sp>
        <p:nvSpPr>
          <p:cNvPr id="8" name="Text 4"/>
          <p:cNvSpPr/>
          <p:nvPr/>
        </p:nvSpPr>
        <p:spPr>
          <a:xfrm>
            <a:off x="566928" y="170078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9" name="Text 5"/>
          <p:cNvSpPr/>
          <p:nvPr/>
        </p:nvSpPr>
        <p:spPr>
          <a:xfrm>
            <a:off x="1152144" y="1664208"/>
            <a:ext cx="2779776" cy="310896"/>
          </a:xfrm>
          <a:prstGeom prst="rect">
            <a:avLst/>
          </a:prstGeom>
          <a:noFill/>
          <a:ln/>
        </p:spPr>
        <p:txBody>
          <a:bodyPr wrap="square" lIns="0" tIns="0" rIns="0" bIns="0" rtlCol="0" anchor="ctr"/>
          <a:lstStyle/>
          <a:p>
            <a:pPr indent="0" marL="0">
              <a:buNone/>
            </a:pPr>
            <a:r>
              <a:rPr lang="en-US" sz="1600" b="1" dirty="0">
                <a:solidFill>
                  <a:srgbClr val="0A4B75"/>
                </a:solidFill>
                <a:latin typeface="Calibri" pitchFamily="34" charset="0"/>
                <a:ea typeface="Calibri" pitchFamily="34" charset="-122"/>
                <a:cs typeface="Calibri" pitchFamily="34" charset="-120"/>
              </a:rPr>
              <a:t>Agreed versus billed</a:t>
            </a:r>
            <a:endParaRPr lang="en-US" sz="1600" dirty="0"/>
          </a:p>
        </p:txBody>
      </p:sp>
      <p:sp>
        <p:nvSpPr>
          <p:cNvPr id="10" name="Text 6"/>
          <p:cNvSpPr/>
          <p:nvPr/>
        </p:nvSpPr>
        <p:spPr>
          <a:xfrm>
            <a:off x="1152144" y="1975104"/>
            <a:ext cx="2779776" cy="822960"/>
          </a:xfrm>
          <a:prstGeom prst="rect">
            <a:avLst/>
          </a:prstGeom>
          <a:noFill/>
          <a:ln/>
        </p:spPr>
        <p:txBody>
          <a:bodyPr wrap="square" lIns="0" tIns="0" rIns="0" bIns="0" rtlCol="0" anchor="ctr"/>
          <a:lstStyle/>
          <a:p>
            <a:pPr indent="0" marL="0">
              <a:lnSpc>
                <a:spcPts val="1800"/>
              </a:lnSpc>
              <a:buNone/>
            </a:pPr>
            <a:r>
              <a:rPr lang="en-US" sz="1350" dirty="0">
                <a:solidFill>
                  <a:srgbClr val="53606A"/>
                </a:solidFill>
                <a:latin typeface="Calibri" pitchFamily="34" charset="0"/>
                <a:ea typeface="Calibri" pitchFamily="34" charset="-122"/>
                <a:cs typeface="Calibri" pitchFamily="34" charset="-120"/>
              </a:rPr>
              <a:t>And the gap between them, which is the number finance asks for.</a:t>
            </a:r>
            <a:endParaRPr lang="en-US" sz="1350" dirty="0"/>
          </a:p>
        </p:txBody>
      </p:sp>
      <p:sp>
        <p:nvSpPr>
          <p:cNvPr id="11" name="Shape 7"/>
          <p:cNvSpPr/>
          <p:nvPr/>
        </p:nvSpPr>
        <p:spPr>
          <a:xfrm>
            <a:off x="566928" y="2944368"/>
            <a:ext cx="384048" cy="384048"/>
          </a:xfrm>
          <a:prstGeom prst="ellipse">
            <a:avLst/>
          </a:prstGeom>
          <a:solidFill>
            <a:srgbClr val="12AEBE"/>
          </a:solidFill>
          <a:ln/>
        </p:spPr>
      </p:sp>
      <p:sp>
        <p:nvSpPr>
          <p:cNvPr id="12" name="Text 8"/>
          <p:cNvSpPr/>
          <p:nvPr/>
        </p:nvSpPr>
        <p:spPr>
          <a:xfrm>
            <a:off x="566928" y="294436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3" name="Text 9"/>
          <p:cNvSpPr/>
          <p:nvPr/>
        </p:nvSpPr>
        <p:spPr>
          <a:xfrm>
            <a:off x="1152144" y="2907792"/>
            <a:ext cx="2779776" cy="310896"/>
          </a:xfrm>
          <a:prstGeom prst="rect">
            <a:avLst/>
          </a:prstGeom>
          <a:noFill/>
          <a:ln/>
        </p:spPr>
        <p:txBody>
          <a:bodyPr wrap="square" lIns="0" tIns="0" rIns="0" bIns="0" rtlCol="0" anchor="ctr"/>
          <a:lstStyle/>
          <a:p>
            <a:pPr indent="0" marL="0">
              <a:buNone/>
            </a:pPr>
            <a:r>
              <a:rPr lang="en-US" sz="1600" b="1" dirty="0">
                <a:solidFill>
                  <a:srgbClr val="0A4B75"/>
                </a:solidFill>
                <a:latin typeface="Calibri" pitchFamily="34" charset="0"/>
                <a:ea typeface="Calibri" pitchFamily="34" charset="-122"/>
                <a:cs typeface="Calibri" pitchFamily="34" charset="-120"/>
              </a:rPr>
              <a:t>Three currencies</a:t>
            </a:r>
            <a:endParaRPr lang="en-US" sz="1600" dirty="0"/>
          </a:p>
        </p:txBody>
      </p:sp>
      <p:sp>
        <p:nvSpPr>
          <p:cNvPr id="14" name="Text 10"/>
          <p:cNvSpPr/>
          <p:nvPr/>
        </p:nvSpPr>
        <p:spPr>
          <a:xfrm>
            <a:off x="1152144" y="3218688"/>
            <a:ext cx="2779776" cy="822960"/>
          </a:xfrm>
          <a:prstGeom prst="rect">
            <a:avLst/>
          </a:prstGeom>
          <a:noFill/>
          <a:ln/>
        </p:spPr>
        <p:txBody>
          <a:bodyPr wrap="square" lIns="0" tIns="0" rIns="0" bIns="0" rtlCol="0" anchor="ctr"/>
          <a:lstStyle/>
          <a:p>
            <a:pPr indent="0" marL="0">
              <a:lnSpc>
                <a:spcPts val="1800"/>
              </a:lnSpc>
              <a:buNone/>
            </a:pPr>
            <a:r>
              <a:rPr lang="en-US" sz="1350" dirty="0">
                <a:solidFill>
                  <a:srgbClr val="53606A"/>
                </a:solidFill>
                <a:latin typeface="Calibri" pitchFamily="34" charset="0"/>
                <a:ea typeface="Calibri" pitchFamily="34" charset="-122"/>
                <a:cs typeface="Calibri" pitchFamily="34" charset="-120"/>
              </a:rPr>
              <a:t>Billed in pounds, dollars or euros; ranked in one, so the list is honest.</a:t>
            </a:r>
            <a:endParaRPr lang="en-US" sz="1350" dirty="0"/>
          </a:p>
        </p:txBody>
      </p:sp>
      <p:sp>
        <p:nvSpPr>
          <p:cNvPr id="15" name="Shape 11"/>
          <p:cNvSpPr/>
          <p:nvPr/>
        </p:nvSpPr>
        <p:spPr>
          <a:xfrm>
            <a:off x="566928" y="4187952"/>
            <a:ext cx="384048" cy="384048"/>
          </a:xfrm>
          <a:prstGeom prst="ellipse">
            <a:avLst/>
          </a:prstGeom>
          <a:solidFill>
            <a:srgbClr val="12AEBE"/>
          </a:solidFill>
          <a:ln/>
        </p:spPr>
      </p:sp>
      <p:sp>
        <p:nvSpPr>
          <p:cNvPr id="16" name="Text 12"/>
          <p:cNvSpPr/>
          <p:nvPr/>
        </p:nvSpPr>
        <p:spPr>
          <a:xfrm>
            <a:off x="566928" y="418795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3"/>
          <p:cNvSpPr/>
          <p:nvPr/>
        </p:nvSpPr>
        <p:spPr>
          <a:xfrm>
            <a:off x="1152144" y="4151376"/>
            <a:ext cx="2779776" cy="310896"/>
          </a:xfrm>
          <a:prstGeom prst="rect">
            <a:avLst/>
          </a:prstGeom>
          <a:noFill/>
          <a:ln/>
        </p:spPr>
        <p:txBody>
          <a:bodyPr wrap="square" lIns="0" tIns="0" rIns="0" bIns="0" rtlCol="0" anchor="ctr"/>
          <a:lstStyle/>
          <a:p>
            <a:pPr indent="0" marL="0">
              <a:buNone/>
            </a:pPr>
            <a:r>
              <a:rPr lang="en-US" sz="1600" b="1" dirty="0">
                <a:solidFill>
                  <a:srgbClr val="0A4B75"/>
                </a:solidFill>
                <a:latin typeface="Calibri" pitchFamily="34" charset="0"/>
                <a:ea typeface="Calibri" pitchFamily="34" charset="-122"/>
                <a:cs typeface="Calibri" pitchFamily="34" charset="-120"/>
              </a:rPr>
              <a:t>Internal work too</a:t>
            </a:r>
            <a:endParaRPr lang="en-US" sz="1600" dirty="0"/>
          </a:p>
        </p:txBody>
      </p:sp>
      <p:sp>
        <p:nvSpPr>
          <p:cNvPr id="18" name="Text 14"/>
          <p:cNvSpPr/>
          <p:nvPr/>
        </p:nvSpPr>
        <p:spPr>
          <a:xfrm>
            <a:off x="1152144" y="4462272"/>
            <a:ext cx="2779776" cy="822960"/>
          </a:xfrm>
          <a:prstGeom prst="rect">
            <a:avLst/>
          </a:prstGeom>
          <a:noFill/>
          <a:ln/>
        </p:spPr>
        <p:txBody>
          <a:bodyPr wrap="square" lIns="0" tIns="0" rIns="0" bIns="0" rtlCol="0" anchor="ctr"/>
          <a:lstStyle/>
          <a:p>
            <a:pPr indent="0" marL="0">
              <a:lnSpc>
                <a:spcPts val="1800"/>
              </a:lnSpc>
              <a:buNone/>
            </a:pPr>
            <a:r>
              <a:rPr lang="en-US" sz="1350" dirty="0">
                <a:solidFill>
                  <a:srgbClr val="53606A"/>
                </a:solidFill>
                <a:latin typeface="Calibri" pitchFamily="34" charset="0"/>
                <a:ea typeface="Calibri" pitchFamily="34" charset="-122"/>
                <a:cs typeface="Calibri" pitchFamily="34" charset="-120"/>
              </a:rPr>
              <a:t>Programmes with no invoice side still draw against an approved pool.</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47472"/>
            <a:ext cx="8229600" cy="274320"/>
          </a:xfrm>
          <a:prstGeom prst="rect">
            <a:avLst/>
          </a:prstGeom>
          <a:noFill/>
          <a:ln/>
        </p:spPr>
        <p:txBody>
          <a:bodyPr wrap="square" lIns="0" tIns="0" rIns="0" bIns="0" rtlCol="0" anchor="ctr"/>
          <a:lstStyle/>
          <a:p>
            <a:pPr indent="0" marL="0">
              <a:buNone/>
            </a:pPr>
            <a:r>
              <a:rPr lang="en-US" sz="1200" b="1" spc="200" kern="0" dirty="0">
                <a:solidFill>
                  <a:srgbClr val="12AEBE"/>
                </a:solidFill>
                <a:latin typeface="Calibri" pitchFamily="34" charset="0"/>
                <a:ea typeface="Calibri" pitchFamily="34" charset="-122"/>
                <a:cs typeface="Calibri" pitchFamily="34" charset="-120"/>
              </a:rPr>
              <a:t>TIMELINE</a:t>
            </a:r>
            <a:endParaRPr lang="en-US" sz="1200" dirty="0"/>
          </a:p>
        </p:txBody>
      </p:sp>
      <p:sp>
        <p:nvSpPr>
          <p:cNvPr id="3" name="Text 1"/>
          <p:cNvSpPr/>
          <p:nvPr/>
        </p:nvSpPr>
        <p:spPr>
          <a:xfrm>
            <a:off x="566928" y="713232"/>
            <a:ext cx="10424160" cy="603504"/>
          </a:xfrm>
          <a:prstGeom prst="rect">
            <a:avLst/>
          </a:prstGeom>
          <a:noFill/>
          <a:ln/>
        </p:spPr>
        <p:txBody>
          <a:bodyPr wrap="square" lIns="0" tIns="0" rIns="0" bIns="0" rtlCol="0" anchor="t"/>
          <a:lstStyle/>
          <a:p>
            <a:pPr indent="0" marL="0">
              <a:buNone/>
            </a:pPr>
            <a:r>
              <a:rPr lang="en-US" sz="3200" b="1" dirty="0">
                <a:solidFill>
                  <a:srgbClr val="0A4B75"/>
                </a:solidFill>
                <a:latin typeface="Calibri" pitchFamily="34" charset="0"/>
                <a:ea typeface="Calibri" pitchFamily="34" charset="-122"/>
                <a:cs typeface="Calibri" pitchFamily="34" charset="-120"/>
              </a:rPr>
              <a:t>Two years, at a glance</a:t>
            </a:r>
            <a:endParaRPr lang="en-US" sz="3200" dirty="0"/>
          </a:p>
        </p:txBody>
      </p:sp>
      <p:pic>
        <p:nvPicPr>
          <p:cNvPr id="4" name="Image 0" descr="../deck/mark-light.png">    </p:cNvPr>
          <p:cNvPicPr>
            <a:picLocks noChangeAspect="1"/>
          </p:cNvPicPr>
          <p:nvPr/>
        </p:nvPicPr>
        <p:blipFill>
          <a:blip r:embed="rId1"/>
          <a:stretch>
            <a:fillRect/>
          </a:stretch>
        </p:blipFill>
        <p:spPr>
          <a:xfrm>
            <a:off x="11192256" y="402336"/>
            <a:ext cx="402336" cy="402336"/>
          </a:xfrm>
          <a:prstGeom prst="rect">
            <a:avLst/>
          </a:prstGeom>
        </p:spPr>
      </p:pic>
      <p:sp>
        <p:nvSpPr>
          <p:cNvPr id="5" name="Shape 2"/>
          <p:cNvSpPr/>
          <p:nvPr/>
        </p:nvSpPr>
        <p:spPr>
          <a:xfrm>
            <a:off x="475488" y="1426464"/>
            <a:ext cx="8001000" cy="4389120"/>
          </a:xfrm>
          <a:prstGeom prst="roundRect">
            <a:avLst>
              <a:gd name="adj" fmla="val 1250"/>
            </a:avLst>
          </a:prstGeom>
          <a:solidFill>
            <a:srgbClr val="F2F6F9"/>
          </a:solidFill>
          <a:ln w="12700">
            <a:solidFill>
              <a:srgbClr val="D9E4EC"/>
            </a:solidFill>
            <a:prstDash val="solid"/>
          </a:ln>
          <a:effectLst>
            <a:outerShdw sx="100000" sy="100000" kx="0" ky="0" algn="bl" rotWithShape="0" blurRad="177800" dist="38100" dir="5400000">
              <a:srgbClr val="0A2740">
                <a:alpha val="22000"/>
              </a:srgbClr>
            </a:outerShdw>
          </a:effectLst>
        </p:spPr>
      </p:sp>
      <p:pic>
        <p:nvPicPr>
          <p:cNvPr id="6" name="Image 1" descr="../deck/timeline-crop.png">    </p:cNvPr>
          <p:cNvPicPr>
            <a:picLocks noChangeAspect="1"/>
          </p:cNvPicPr>
          <p:nvPr/>
        </p:nvPicPr>
        <p:blipFill>
          <a:blip r:embed="rId2"/>
          <a:srcRect l="0" r="0" t="0" b="0"/>
          <a:stretch/>
        </p:blipFill>
        <p:spPr>
          <a:xfrm>
            <a:off x="566928" y="1517904"/>
            <a:ext cx="7818120" cy="4206240"/>
          </a:xfrm>
          <a:prstGeom prst="rect">
            <a:avLst/>
          </a:prstGeom>
        </p:spPr>
      </p:pic>
      <p:sp>
        <p:nvSpPr>
          <p:cNvPr id="7" name="Text 3"/>
          <p:cNvSpPr/>
          <p:nvPr/>
        </p:nvSpPr>
        <p:spPr>
          <a:xfrm>
            <a:off x="8732520" y="1627632"/>
            <a:ext cx="2862072" cy="1371600"/>
          </a:xfrm>
          <a:prstGeom prst="rect">
            <a:avLst/>
          </a:prstGeom>
          <a:noFill/>
          <a:ln/>
        </p:spPr>
        <p:txBody>
          <a:bodyPr wrap="square" lIns="0" tIns="0" rIns="0" bIns="0" rtlCol="0" anchor="ctr"/>
          <a:lstStyle/>
          <a:p>
            <a:pPr indent="0" marL="0">
              <a:lnSpc>
                <a:spcPts val="2000"/>
              </a:lnSpc>
              <a:buNone/>
            </a:pPr>
            <a:r>
              <a:rPr lang="en-US" sz="1400" dirty="0">
                <a:solidFill>
                  <a:srgbClr val="53606A"/>
                </a:solidFill>
                <a:latin typeface="Calibri" pitchFamily="34" charset="0"/>
                <a:ea typeface="Calibri" pitchFamily="34" charset="-122"/>
                <a:cs typeface="Calibri" pitchFamily="34" charset="-120"/>
              </a:rPr>
              <a:t>Every project as a bar, the upright line as today, and the diamond as the next thing due. Hover any row for who is on it.</a:t>
            </a:r>
            <a:endParaRPr lang="en-US" sz="1400" dirty="0"/>
          </a:p>
        </p:txBody>
      </p:sp>
      <p:sp>
        <p:nvSpPr>
          <p:cNvPr id="8" name="Shape 4"/>
          <p:cNvSpPr/>
          <p:nvPr/>
        </p:nvSpPr>
        <p:spPr>
          <a:xfrm>
            <a:off x="8732520" y="3200400"/>
            <a:ext cx="2862072" cy="1920240"/>
          </a:xfrm>
          <a:prstGeom prst="roundRect">
            <a:avLst>
              <a:gd name="adj" fmla="val 3810"/>
            </a:avLst>
          </a:prstGeom>
          <a:solidFill>
            <a:srgbClr val="F2F6F9"/>
          </a:solidFill>
          <a:ln w="12700">
            <a:solidFill>
              <a:srgbClr val="DCE7EF"/>
            </a:solidFill>
            <a:prstDash val="solid"/>
          </a:ln>
        </p:spPr>
      </p:sp>
      <p:sp>
        <p:nvSpPr>
          <p:cNvPr id="9" name="Text 5"/>
          <p:cNvSpPr/>
          <p:nvPr/>
        </p:nvSpPr>
        <p:spPr>
          <a:xfrm>
            <a:off x="8951976" y="3401568"/>
            <a:ext cx="2423160" cy="274320"/>
          </a:xfrm>
          <a:prstGeom prst="rect">
            <a:avLst/>
          </a:prstGeom>
          <a:noFill/>
          <a:ln/>
        </p:spPr>
        <p:txBody>
          <a:bodyPr wrap="square" lIns="0" tIns="0" rIns="0" bIns="0" rtlCol="0" anchor="ctr"/>
          <a:lstStyle/>
          <a:p>
            <a:pPr indent="0" marL="0">
              <a:buNone/>
            </a:pPr>
            <a:r>
              <a:rPr lang="en-US" sz="1400" b="1" dirty="0">
                <a:solidFill>
                  <a:srgbClr val="0A4B75"/>
                </a:solidFill>
                <a:latin typeface="Calibri" pitchFamily="34" charset="0"/>
                <a:ea typeface="Calibri" pitchFamily="34" charset="-122"/>
                <a:cs typeface="Calibri" pitchFamily="34" charset="-120"/>
              </a:rPr>
              <a:t>Where the bar comes from</a:t>
            </a:r>
            <a:endParaRPr lang="en-US" sz="1400" dirty="0"/>
          </a:p>
        </p:txBody>
      </p:sp>
      <p:sp>
        <p:nvSpPr>
          <p:cNvPr id="10" name="Text 6"/>
          <p:cNvSpPr/>
          <p:nvPr/>
        </p:nvSpPr>
        <p:spPr>
          <a:xfrm>
            <a:off x="8951976" y="3730752"/>
            <a:ext cx="2423160" cy="1280160"/>
          </a:xfrm>
          <a:prstGeom prst="rect">
            <a:avLst/>
          </a:prstGeom>
          <a:noFill/>
          <a:ln/>
        </p:spPr>
        <p:txBody>
          <a:bodyPr wrap="square" lIns="0" tIns="0" rIns="0" bIns="0" rtlCol="0" anchor="ctr"/>
          <a:lstStyle/>
          <a:p>
            <a:pPr indent="0" marL="0">
              <a:lnSpc>
                <a:spcPts val="1700"/>
              </a:lnSpc>
              <a:buNone/>
            </a:pPr>
            <a:r>
              <a:rPr lang="en-US" sz="1250" dirty="0">
                <a:solidFill>
                  <a:srgbClr val="53606A"/>
                </a:solidFill>
                <a:latin typeface="Calibri" pitchFamily="34" charset="0"/>
                <a:ea typeface="Calibri" pitchFamily="34" charset="-122"/>
                <a:cs typeface="Calibri" pitchFamily="34" charset="-120"/>
              </a:rPr>
              <a:t>The dates typed on the project — unless the project is planned in detail and set to follow its plan. Then the bar is the plan.</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47472"/>
            <a:ext cx="8229600" cy="274320"/>
          </a:xfrm>
          <a:prstGeom prst="rect">
            <a:avLst/>
          </a:prstGeom>
          <a:noFill/>
          <a:ln/>
        </p:spPr>
        <p:txBody>
          <a:bodyPr wrap="square" lIns="0" tIns="0" rIns="0" bIns="0" rtlCol="0" anchor="ctr"/>
          <a:lstStyle/>
          <a:p>
            <a:pPr indent="0" marL="0">
              <a:buNone/>
            </a:pPr>
            <a:r>
              <a:rPr lang="en-US" sz="1200" b="1" spc="200" kern="0" dirty="0">
                <a:solidFill>
                  <a:srgbClr val="12AEBE"/>
                </a:solidFill>
                <a:latin typeface="Calibri" pitchFamily="34" charset="0"/>
                <a:ea typeface="Calibri" pitchFamily="34" charset="-122"/>
                <a:cs typeface="Calibri" pitchFamily="34" charset="-120"/>
              </a:rPr>
              <a:t>PROJECT DETAIL</a:t>
            </a:r>
            <a:endParaRPr lang="en-US" sz="1200" dirty="0"/>
          </a:p>
        </p:txBody>
      </p:sp>
      <p:sp>
        <p:nvSpPr>
          <p:cNvPr id="3" name="Text 1"/>
          <p:cNvSpPr/>
          <p:nvPr/>
        </p:nvSpPr>
        <p:spPr>
          <a:xfrm>
            <a:off x="566928" y="713232"/>
            <a:ext cx="10424160" cy="603504"/>
          </a:xfrm>
          <a:prstGeom prst="rect">
            <a:avLst/>
          </a:prstGeom>
          <a:noFill/>
          <a:ln/>
        </p:spPr>
        <p:txBody>
          <a:bodyPr wrap="square" lIns="0" tIns="0" rIns="0" bIns="0" rtlCol="0" anchor="t"/>
          <a:lstStyle/>
          <a:p>
            <a:pPr indent="0" marL="0">
              <a:buNone/>
            </a:pPr>
            <a:r>
              <a:rPr lang="en-US" sz="3200" b="1" dirty="0">
                <a:solidFill>
                  <a:srgbClr val="0A4B75"/>
                </a:solidFill>
                <a:latin typeface="Calibri" pitchFamily="34" charset="0"/>
                <a:ea typeface="Calibri" pitchFamily="34" charset="-122"/>
                <a:cs typeface="Calibri" pitchFamily="34" charset="-120"/>
              </a:rPr>
              <a:t>One project, end to end</a:t>
            </a:r>
            <a:endParaRPr lang="en-US" sz="3200" dirty="0"/>
          </a:p>
        </p:txBody>
      </p:sp>
      <p:pic>
        <p:nvPicPr>
          <p:cNvPr id="4" name="Image 0" descr="../deck/mark-light.png">    </p:cNvPr>
          <p:cNvPicPr>
            <a:picLocks noChangeAspect="1"/>
          </p:cNvPicPr>
          <p:nvPr/>
        </p:nvPicPr>
        <p:blipFill>
          <a:blip r:embed="rId1"/>
          <a:stretch>
            <a:fillRect/>
          </a:stretch>
        </p:blipFill>
        <p:spPr>
          <a:xfrm>
            <a:off x="11192256" y="402336"/>
            <a:ext cx="402336" cy="402336"/>
          </a:xfrm>
          <a:prstGeom prst="rect">
            <a:avLst/>
          </a:prstGeom>
        </p:spPr>
      </p:pic>
      <p:sp>
        <p:nvSpPr>
          <p:cNvPr id="5" name="Shape 2"/>
          <p:cNvSpPr/>
          <p:nvPr/>
        </p:nvSpPr>
        <p:spPr>
          <a:xfrm>
            <a:off x="4133088" y="1463040"/>
            <a:ext cx="7552944" cy="4206240"/>
          </a:xfrm>
          <a:prstGeom prst="roundRect">
            <a:avLst>
              <a:gd name="adj" fmla="val 1304"/>
            </a:avLst>
          </a:prstGeom>
          <a:solidFill>
            <a:srgbClr val="F2F6F9"/>
          </a:solidFill>
          <a:ln w="12700">
            <a:solidFill>
              <a:srgbClr val="D9E4EC"/>
            </a:solidFill>
            <a:prstDash val="solid"/>
          </a:ln>
          <a:effectLst>
            <a:outerShdw sx="100000" sy="100000" kx="0" ky="0" algn="bl" rotWithShape="0" blurRad="177800" dist="38100" dir="5400000">
              <a:srgbClr val="0A2740">
                <a:alpha val="22000"/>
              </a:srgbClr>
            </a:outerShdw>
          </a:effectLst>
        </p:spPr>
      </p:sp>
      <p:pic>
        <p:nvPicPr>
          <p:cNvPr id="6" name="Image 1" descr="../deck/detail.png">    </p:cNvPr>
          <p:cNvPicPr>
            <a:picLocks noChangeAspect="1"/>
          </p:cNvPicPr>
          <p:nvPr/>
        </p:nvPicPr>
        <p:blipFill>
          <a:blip r:embed="rId2"/>
          <a:srcRect l="0" r="0" t="0" b="0"/>
          <a:stretch/>
        </p:blipFill>
        <p:spPr>
          <a:xfrm>
            <a:off x="4224528" y="1554480"/>
            <a:ext cx="7370064" cy="4023360"/>
          </a:xfrm>
          <a:prstGeom prst="rect">
            <a:avLst/>
          </a:prstGeom>
        </p:spPr>
      </p:pic>
      <p:sp>
        <p:nvSpPr>
          <p:cNvPr id="7" name="Shape 3"/>
          <p:cNvSpPr/>
          <p:nvPr/>
        </p:nvSpPr>
        <p:spPr>
          <a:xfrm>
            <a:off x="566928" y="1700784"/>
            <a:ext cx="384048" cy="384048"/>
          </a:xfrm>
          <a:prstGeom prst="ellipse">
            <a:avLst/>
          </a:prstGeom>
          <a:solidFill>
            <a:srgbClr val="12AEBE"/>
          </a:solidFill>
          <a:ln/>
        </p:spPr>
      </p:sp>
      <p:sp>
        <p:nvSpPr>
          <p:cNvPr id="8" name="Text 4"/>
          <p:cNvSpPr/>
          <p:nvPr/>
        </p:nvSpPr>
        <p:spPr>
          <a:xfrm>
            <a:off x="566928" y="170078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9" name="Text 5"/>
          <p:cNvSpPr/>
          <p:nvPr/>
        </p:nvSpPr>
        <p:spPr>
          <a:xfrm>
            <a:off x="1152144" y="1664208"/>
            <a:ext cx="2779776" cy="310896"/>
          </a:xfrm>
          <a:prstGeom prst="rect">
            <a:avLst/>
          </a:prstGeom>
          <a:noFill/>
          <a:ln/>
        </p:spPr>
        <p:txBody>
          <a:bodyPr wrap="square" lIns="0" tIns="0" rIns="0" bIns="0" rtlCol="0" anchor="ctr"/>
          <a:lstStyle/>
          <a:p>
            <a:pPr indent="0" marL="0">
              <a:buNone/>
            </a:pPr>
            <a:r>
              <a:rPr lang="en-US" sz="1600" b="1" dirty="0">
                <a:solidFill>
                  <a:srgbClr val="0A4B75"/>
                </a:solidFill>
                <a:latin typeface="Calibri" pitchFamily="34" charset="0"/>
                <a:ea typeface="Calibri" pitchFamily="34" charset="-122"/>
                <a:cs typeface="Calibri" pitchFamily="34" charset="-120"/>
              </a:rPr>
              <a:t>Its phases and gates</a:t>
            </a:r>
            <a:endParaRPr lang="en-US" sz="1600" dirty="0"/>
          </a:p>
        </p:txBody>
      </p:sp>
      <p:sp>
        <p:nvSpPr>
          <p:cNvPr id="10" name="Text 6"/>
          <p:cNvSpPr/>
          <p:nvPr/>
        </p:nvSpPr>
        <p:spPr>
          <a:xfrm>
            <a:off x="1152144" y="1975104"/>
            <a:ext cx="2779776" cy="822960"/>
          </a:xfrm>
          <a:prstGeom prst="rect">
            <a:avLst/>
          </a:prstGeom>
          <a:noFill/>
          <a:ln/>
        </p:spPr>
        <p:txBody>
          <a:bodyPr wrap="square" lIns="0" tIns="0" rIns="0" bIns="0" rtlCol="0" anchor="ctr"/>
          <a:lstStyle/>
          <a:p>
            <a:pPr indent="0" marL="0">
              <a:lnSpc>
                <a:spcPts val="1800"/>
              </a:lnSpc>
              <a:buNone/>
            </a:pPr>
            <a:r>
              <a:rPr lang="en-US" sz="1350" dirty="0">
                <a:solidFill>
                  <a:srgbClr val="53606A"/>
                </a:solidFill>
                <a:latin typeface="Calibri" pitchFamily="34" charset="0"/>
                <a:ea typeface="Calibri" pitchFamily="34" charset="-122"/>
                <a:cs typeface="Calibri" pitchFamily="34" charset="-120"/>
              </a:rPr>
              <a:t>The dates for each, and how far through the current one it is.</a:t>
            </a:r>
            <a:endParaRPr lang="en-US" sz="1350" dirty="0"/>
          </a:p>
        </p:txBody>
      </p:sp>
      <p:sp>
        <p:nvSpPr>
          <p:cNvPr id="11" name="Shape 7"/>
          <p:cNvSpPr/>
          <p:nvPr/>
        </p:nvSpPr>
        <p:spPr>
          <a:xfrm>
            <a:off x="566928" y="2944368"/>
            <a:ext cx="384048" cy="384048"/>
          </a:xfrm>
          <a:prstGeom prst="ellipse">
            <a:avLst/>
          </a:prstGeom>
          <a:solidFill>
            <a:srgbClr val="12AEBE"/>
          </a:solidFill>
          <a:ln/>
        </p:spPr>
      </p:sp>
      <p:sp>
        <p:nvSpPr>
          <p:cNvPr id="12" name="Text 8"/>
          <p:cNvSpPr/>
          <p:nvPr/>
        </p:nvSpPr>
        <p:spPr>
          <a:xfrm>
            <a:off x="566928" y="294436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3" name="Text 9"/>
          <p:cNvSpPr/>
          <p:nvPr/>
        </p:nvSpPr>
        <p:spPr>
          <a:xfrm>
            <a:off x="1152144" y="2907792"/>
            <a:ext cx="2779776" cy="310896"/>
          </a:xfrm>
          <a:prstGeom prst="rect">
            <a:avLst/>
          </a:prstGeom>
          <a:noFill/>
          <a:ln/>
        </p:spPr>
        <p:txBody>
          <a:bodyPr wrap="square" lIns="0" tIns="0" rIns="0" bIns="0" rtlCol="0" anchor="ctr"/>
          <a:lstStyle/>
          <a:p>
            <a:pPr indent="0" marL="0">
              <a:buNone/>
            </a:pPr>
            <a:r>
              <a:rPr lang="en-US" sz="1600" b="1" dirty="0">
                <a:solidFill>
                  <a:srgbClr val="0A4B75"/>
                </a:solidFill>
                <a:latin typeface="Calibri" pitchFamily="34" charset="0"/>
                <a:ea typeface="Calibri" pitchFamily="34" charset="-122"/>
                <a:cs typeface="Calibri" pitchFamily="34" charset="-120"/>
              </a:rPr>
              <a:t>The money</a:t>
            </a:r>
            <a:endParaRPr lang="en-US" sz="1600" dirty="0"/>
          </a:p>
        </p:txBody>
      </p:sp>
      <p:sp>
        <p:nvSpPr>
          <p:cNvPr id="14" name="Text 10"/>
          <p:cNvSpPr/>
          <p:nvPr/>
        </p:nvSpPr>
        <p:spPr>
          <a:xfrm>
            <a:off x="1152144" y="3218688"/>
            <a:ext cx="2779776" cy="822960"/>
          </a:xfrm>
          <a:prstGeom prst="rect">
            <a:avLst/>
          </a:prstGeom>
          <a:noFill/>
          <a:ln/>
        </p:spPr>
        <p:txBody>
          <a:bodyPr wrap="square" lIns="0" tIns="0" rIns="0" bIns="0" rtlCol="0" anchor="ctr"/>
          <a:lstStyle/>
          <a:p>
            <a:pPr indent="0" marL="0">
              <a:lnSpc>
                <a:spcPts val="1800"/>
              </a:lnSpc>
              <a:buNone/>
            </a:pPr>
            <a:r>
              <a:rPr lang="en-US" sz="1350" dirty="0">
                <a:solidFill>
                  <a:srgbClr val="53606A"/>
                </a:solidFill>
                <a:latin typeface="Calibri" pitchFamily="34" charset="0"/>
                <a:ea typeface="Calibri" pitchFamily="34" charset="-122"/>
                <a:cs typeface="Calibri" pitchFamily="34" charset="-120"/>
              </a:rPr>
              <a:t>Budget, spend, what is agreed and when each invoice is due.</a:t>
            </a:r>
            <a:endParaRPr lang="en-US" sz="1350" dirty="0"/>
          </a:p>
        </p:txBody>
      </p:sp>
      <p:sp>
        <p:nvSpPr>
          <p:cNvPr id="15" name="Shape 11"/>
          <p:cNvSpPr/>
          <p:nvPr/>
        </p:nvSpPr>
        <p:spPr>
          <a:xfrm>
            <a:off x="566928" y="4187952"/>
            <a:ext cx="384048" cy="384048"/>
          </a:xfrm>
          <a:prstGeom prst="ellipse">
            <a:avLst/>
          </a:prstGeom>
          <a:solidFill>
            <a:srgbClr val="12AEBE"/>
          </a:solidFill>
          <a:ln/>
        </p:spPr>
      </p:sp>
      <p:sp>
        <p:nvSpPr>
          <p:cNvPr id="16" name="Text 12"/>
          <p:cNvSpPr/>
          <p:nvPr/>
        </p:nvSpPr>
        <p:spPr>
          <a:xfrm>
            <a:off x="566928" y="418795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3"/>
          <p:cNvSpPr/>
          <p:nvPr/>
        </p:nvSpPr>
        <p:spPr>
          <a:xfrm>
            <a:off x="1152144" y="4151376"/>
            <a:ext cx="2779776" cy="310896"/>
          </a:xfrm>
          <a:prstGeom prst="rect">
            <a:avLst/>
          </a:prstGeom>
          <a:noFill/>
          <a:ln/>
        </p:spPr>
        <p:txBody>
          <a:bodyPr wrap="square" lIns="0" tIns="0" rIns="0" bIns="0" rtlCol="0" anchor="ctr"/>
          <a:lstStyle/>
          <a:p>
            <a:pPr indent="0" marL="0">
              <a:buNone/>
            </a:pPr>
            <a:r>
              <a:rPr lang="en-US" sz="1600" b="1" dirty="0">
                <a:solidFill>
                  <a:srgbClr val="0A4B75"/>
                </a:solidFill>
                <a:latin typeface="Calibri" pitchFamily="34" charset="0"/>
                <a:ea typeface="Calibri" pitchFamily="34" charset="-122"/>
                <a:cs typeface="Calibri" pitchFamily="34" charset="-120"/>
              </a:rPr>
              <a:t>Who is working on it</a:t>
            </a:r>
            <a:endParaRPr lang="en-US" sz="1600" dirty="0"/>
          </a:p>
        </p:txBody>
      </p:sp>
      <p:sp>
        <p:nvSpPr>
          <p:cNvPr id="18" name="Text 14"/>
          <p:cNvSpPr/>
          <p:nvPr/>
        </p:nvSpPr>
        <p:spPr>
          <a:xfrm>
            <a:off x="1152144" y="4462272"/>
            <a:ext cx="2779776" cy="822960"/>
          </a:xfrm>
          <a:prstGeom prst="rect">
            <a:avLst/>
          </a:prstGeom>
          <a:noFill/>
          <a:ln/>
        </p:spPr>
        <p:txBody>
          <a:bodyPr wrap="square" lIns="0" tIns="0" rIns="0" bIns="0" rtlCol="0" anchor="ctr"/>
          <a:lstStyle/>
          <a:p>
            <a:pPr indent="0" marL="0">
              <a:lnSpc>
                <a:spcPts val="1800"/>
              </a:lnSpc>
              <a:buNone/>
            </a:pPr>
            <a:r>
              <a:rPr lang="en-US" sz="1350" dirty="0">
                <a:solidFill>
                  <a:srgbClr val="53606A"/>
                </a:solidFill>
                <a:latin typeface="Calibri" pitchFamily="34" charset="0"/>
                <a:ea typeface="Calibri" pitchFamily="34" charset="-122"/>
                <a:cs typeface="Calibri" pitchFamily="34" charset="-120"/>
              </a:rPr>
              <a:t>Every person, every month, with their share of the project.</a:t>
            </a:r>
            <a:endParaRPr lang="en-US" sz="1350" dirty="0"/>
          </a:p>
        </p:txBody>
      </p:sp>
      <p:sp>
        <p:nvSpPr>
          <p:cNvPr id="19" name="Text 15"/>
          <p:cNvSpPr/>
          <p:nvPr/>
        </p:nvSpPr>
        <p:spPr>
          <a:xfrm>
            <a:off x="566928" y="5449824"/>
            <a:ext cx="3566160" cy="365760"/>
          </a:xfrm>
          <a:prstGeom prst="rect">
            <a:avLst/>
          </a:prstGeom>
          <a:noFill/>
          <a:ln/>
        </p:spPr>
        <p:txBody>
          <a:bodyPr wrap="square" lIns="0" tIns="0" rIns="0" bIns="0" rtlCol="0" anchor="ctr"/>
          <a:lstStyle/>
          <a:p>
            <a:pPr indent="0" marL="0">
              <a:buNone/>
            </a:pPr>
            <a:r>
              <a:rPr lang="en-US" sz="1250" i="1" dirty="0">
                <a:solidFill>
                  <a:srgbClr val="0A4B75"/>
                </a:solidFill>
                <a:latin typeface="Calibri" pitchFamily="34" charset="0"/>
                <a:ea typeface="Calibri" pitchFamily="34" charset="-122"/>
                <a:cs typeface="Calibri" pitchFamily="34" charset="-120"/>
              </a:rPr>
              <a:t>The whole screen exports to PDF, every tab included.</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47472"/>
            <a:ext cx="8229600" cy="274320"/>
          </a:xfrm>
          <a:prstGeom prst="rect">
            <a:avLst/>
          </a:prstGeom>
          <a:noFill/>
          <a:ln/>
        </p:spPr>
        <p:txBody>
          <a:bodyPr wrap="square" lIns="0" tIns="0" rIns="0" bIns="0" rtlCol="0" anchor="ctr"/>
          <a:lstStyle/>
          <a:p>
            <a:pPr indent="0" marL="0">
              <a:buNone/>
            </a:pPr>
            <a:r>
              <a:rPr lang="en-US" sz="1200" b="1" spc="200" kern="0" dirty="0">
                <a:solidFill>
                  <a:srgbClr val="12AEBE"/>
                </a:solidFill>
                <a:latin typeface="Calibri" pitchFamily="34" charset="0"/>
                <a:ea typeface="Calibri" pitchFamily="34" charset="-122"/>
                <a:cs typeface="Calibri" pitchFamily="34" charset="-120"/>
              </a:rPr>
              <a:t>PLANNING</a:t>
            </a:r>
            <a:endParaRPr lang="en-US" sz="1200" dirty="0"/>
          </a:p>
        </p:txBody>
      </p:sp>
      <p:sp>
        <p:nvSpPr>
          <p:cNvPr id="3" name="Text 1"/>
          <p:cNvSpPr/>
          <p:nvPr/>
        </p:nvSpPr>
        <p:spPr>
          <a:xfrm>
            <a:off x="566928" y="713232"/>
            <a:ext cx="10424160" cy="603504"/>
          </a:xfrm>
          <a:prstGeom prst="rect">
            <a:avLst/>
          </a:prstGeom>
          <a:noFill/>
          <a:ln/>
        </p:spPr>
        <p:txBody>
          <a:bodyPr wrap="square" lIns="0" tIns="0" rIns="0" bIns="0" rtlCol="0" anchor="t"/>
          <a:lstStyle/>
          <a:p>
            <a:pPr indent="0" marL="0">
              <a:buNone/>
            </a:pPr>
            <a:r>
              <a:rPr lang="en-US" sz="3200" b="1" dirty="0">
                <a:solidFill>
                  <a:srgbClr val="0A4B75"/>
                </a:solidFill>
                <a:latin typeface="Calibri" pitchFamily="34" charset="0"/>
                <a:ea typeface="Calibri" pitchFamily="34" charset="-122"/>
                <a:cs typeface="Calibri" pitchFamily="34" charset="-120"/>
              </a:rPr>
              <a:t>A real plan, not a picture of one</a:t>
            </a:r>
            <a:endParaRPr lang="en-US" sz="3200" dirty="0"/>
          </a:p>
        </p:txBody>
      </p:sp>
      <p:pic>
        <p:nvPicPr>
          <p:cNvPr id="4" name="Image 0" descr="../deck/mark-light.png">    </p:cNvPr>
          <p:cNvPicPr>
            <a:picLocks noChangeAspect="1"/>
          </p:cNvPicPr>
          <p:nvPr/>
        </p:nvPicPr>
        <p:blipFill>
          <a:blip r:embed="rId1"/>
          <a:stretch>
            <a:fillRect/>
          </a:stretch>
        </p:blipFill>
        <p:spPr>
          <a:xfrm>
            <a:off x="11192256" y="402336"/>
            <a:ext cx="402336" cy="402336"/>
          </a:xfrm>
          <a:prstGeom prst="rect">
            <a:avLst/>
          </a:prstGeom>
        </p:spPr>
      </p:pic>
      <p:sp>
        <p:nvSpPr>
          <p:cNvPr id="5" name="Shape 2"/>
          <p:cNvSpPr/>
          <p:nvPr/>
        </p:nvSpPr>
        <p:spPr>
          <a:xfrm>
            <a:off x="475488" y="1426464"/>
            <a:ext cx="7772400" cy="4343400"/>
          </a:xfrm>
          <a:prstGeom prst="roundRect">
            <a:avLst>
              <a:gd name="adj" fmla="val 1263"/>
            </a:avLst>
          </a:prstGeom>
          <a:solidFill>
            <a:srgbClr val="F2F6F9"/>
          </a:solidFill>
          <a:ln w="12700">
            <a:solidFill>
              <a:srgbClr val="D9E4EC"/>
            </a:solidFill>
            <a:prstDash val="solid"/>
          </a:ln>
          <a:effectLst>
            <a:outerShdw sx="100000" sy="100000" kx="0" ky="0" algn="bl" rotWithShape="0" blurRad="177800" dist="38100" dir="5400000">
              <a:srgbClr val="0A2740">
                <a:alpha val="22000"/>
              </a:srgbClr>
            </a:outerShdw>
          </a:effectLst>
        </p:spPr>
      </p:sp>
      <p:pic>
        <p:nvPicPr>
          <p:cNvPr id="6" name="Image 1" descr="../deck/planning.png">    </p:cNvPr>
          <p:cNvPicPr>
            <a:picLocks noChangeAspect="1"/>
          </p:cNvPicPr>
          <p:nvPr/>
        </p:nvPicPr>
        <p:blipFill>
          <a:blip r:embed="rId2"/>
          <a:srcRect l="0" r="0" t="0" b="0"/>
          <a:stretch/>
        </p:blipFill>
        <p:spPr>
          <a:xfrm>
            <a:off x="566928" y="1517904"/>
            <a:ext cx="7589520" cy="4160520"/>
          </a:xfrm>
          <a:prstGeom prst="rect">
            <a:avLst/>
          </a:prstGeom>
        </p:spPr>
      </p:pic>
      <p:sp>
        <p:nvSpPr>
          <p:cNvPr id="7" name="Shape 3"/>
          <p:cNvSpPr/>
          <p:nvPr/>
        </p:nvSpPr>
        <p:spPr>
          <a:xfrm>
            <a:off x="8485632" y="1664208"/>
            <a:ext cx="384048" cy="384048"/>
          </a:xfrm>
          <a:prstGeom prst="ellipse">
            <a:avLst/>
          </a:prstGeom>
          <a:solidFill>
            <a:srgbClr val="12AEBE"/>
          </a:solidFill>
          <a:ln/>
        </p:spPr>
      </p:sp>
      <p:sp>
        <p:nvSpPr>
          <p:cNvPr id="8" name="Text 4"/>
          <p:cNvSpPr/>
          <p:nvPr/>
        </p:nvSpPr>
        <p:spPr>
          <a:xfrm>
            <a:off x="8485632" y="16642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9" name="Text 5"/>
          <p:cNvSpPr/>
          <p:nvPr/>
        </p:nvSpPr>
        <p:spPr>
          <a:xfrm>
            <a:off x="9070848" y="1627632"/>
            <a:ext cx="2523744" cy="310896"/>
          </a:xfrm>
          <a:prstGeom prst="rect">
            <a:avLst/>
          </a:prstGeom>
          <a:noFill/>
          <a:ln/>
        </p:spPr>
        <p:txBody>
          <a:bodyPr wrap="square" lIns="0" tIns="0" rIns="0" bIns="0" rtlCol="0" anchor="ctr"/>
          <a:lstStyle/>
          <a:p>
            <a:pPr indent="0" marL="0">
              <a:buNone/>
            </a:pPr>
            <a:r>
              <a:rPr lang="en-US" sz="1600" b="1" dirty="0">
                <a:solidFill>
                  <a:srgbClr val="0A4B75"/>
                </a:solidFill>
                <a:latin typeface="Calibri" pitchFamily="34" charset="0"/>
                <a:ea typeface="Calibri" pitchFamily="34" charset="-122"/>
                <a:cs typeface="Calibri" pitchFamily="34" charset="-120"/>
              </a:rPr>
              <a:t>Microsoft Project dependencies</a:t>
            </a:r>
            <a:endParaRPr lang="en-US" sz="1600" dirty="0"/>
          </a:p>
        </p:txBody>
      </p:sp>
      <p:sp>
        <p:nvSpPr>
          <p:cNvPr id="10" name="Text 6"/>
          <p:cNvSpPr/>
          <p:nvPr/>
        </p:nvSpPr>
        <p:spPr>
          <a:xfrm>
            <a:off x="9070848" y="1938528"/>
            <a:ext cx="2523744" cy="960120"/>
          </a:xfrm>
          <a:prstGeom prst="rect">
            <a:avLst/>
          </a:prstGeom>
          <a:noFill/>
          <a:ln/>
        </p:spPr>
        <p:txBody>
          <a:bodyPr wrap="square" lIns="0" tIns="0" rIns="0" bIns="0" rtlCol="0" anchor="ctr"/>
          <a:lstStyle/>
          <a:p>
            <a:pPr indent="0" marL="0">
              <a:lnSpc>
                <a:spcPts val="1800"/>
              </a:lnSpc>
              <a:buNone/>
            </a:pPr>
            <a:r>
              <a:rPr lang="en-US" sz="1350" dirty="0">
                <a:solidFill>
                  <a:srgbClr val="53606A"/>
                </a:solidFill>
                <a:latin typeface="Calibri" pitchFamily="34" charset="0"/>
                <a:ea typeface="Calibri" pitchFamily="34" charset="-122"/>
                <a:cs typeface="Calibri" pitchFamily="34" charset="-120"/>
              </a:rPr>
              <a:t>Finish-to-start and the other three, with lag, and eight constraint types.</a:t>
            </a:r>
            <a:endParaRPr lang="en-US" sz="1350" dirty="0"/>
          </a:p>
        </p:txBody>
      </p:sp>
      <p:sp>
        <p:nvSpPr>
          <p:cNvPr id="11" name="Shape 7"/>
          <p:cNvSpPr/>
          <p:nvPr/>
        </p:nvSpPr>
        <p:spPr>
          <a:xfrm>
            <a:off x="8485632" y="3035808"/>
            <a:ext cx="384048" cy="384048"/>
          </a:xfrm>
          <a:prstGeom prst="ellipse">
            <a:avLst/>
          </a:prstGeom>
          <a:solidFill>
            <a:srgbClr val="12AEBE"/>
          </a:solidFill>
          <a:ln/>
        </p:spPr>
      </p:sp>
      <p:sp>
        <p:nvSpPr>
          <p:cNvPr id="12" name="Text 8"/>
          <p:cNvSpPr/>
          <p:nvPr/>
        </p:nvSpPr>
        <p:spPr>
          <a:xfrm>
            <a:off x="8485632" y="30358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3" name="Text 9"/>
          <p:cNvSpPr/>
          <p:nvPr/>
        </p:nvSpPr>
        <p:spPr>
          <a:xfrm>
            <a:off x="9070848" y="2999232"/>
            <a:ext cx="2523744" cy="310896"/>
          </a:xfrm>
          <a:prstGeom prst="rect">
            <a:avLst/>
          </a:prstGeom>
          <a:noFill/>
          <a:ln/>
        </p:spPr>
        <p:txBody>
          <a:bodyPr wrap="square" lIns="0" tIns="0" rIns="0" bIns="0" rtlCol="0" anchor="ctr"/>
          <a:lstStyle/>
          <a:p>
            <a:pPr indent="0" marL="0">
              <a:buNone/>
            </a:pPr>
            <a:r>
              <a:rPr lang="en-US" sz="1600" b="1" dirty="0">
                <a:solidFill>
                  <a:srgbClr val="0A4B75"/>
                </a:solidFill>
                <a:latin typeface="Calibri" pitchFamily="34" charset="0"/>
                <a:ea typeface="Calibri" pitchFamily="34" charset="-122"/>
                <a:cs typeface="Calibri" pitchFamily="34" charset="-120"/>
              </a:rPr>
              <a:t>The critical path</a:t>
            </a:r>
            <a:endParaRPr lang="en-US" sz="1600" dirty="0"/>
          </a:p>
        </p:txBody>
      </p:sp>
      <p:sp>
        <p:nvSpPr>
          <p:cNvPr id="14" name="Text 10"/>
          <p:cNvSpPr/>
          <p:nvPr/>
        </p:nvSpPr>
        <p:spPr>
          <a:xfrm>
            <a:off x="9070848" y="3310128"/>
            <a:ext cx="2523744" cy="960120"/>
          </a:xfrm>
          <a:prstGeom prst="rect">
            <a:avLst/>
          </a:prstGeom>
          <a:noFill/>
          <a:ln/>
        </p:spPr>
        <p:txBody>
          <a:bodyPr wrap="square" lIns="0" tIns="0" rIns="0" bIns="0" rtlCol="0" anchor="ctr"/>
          <a:lstStyle/>
          <a:p>
            <a:pPr indent="0" marL="0">
              <a:lnSpc>
                <a:spcPts val="1800"/>
              </a:lnSpc>
              <a:buNone/>
            </a:pPr>
            <a:r>
              <a:rPr lang="en-US" sz="1350" dirty="0">
                <a:solidFill>
                  <a:srgbClr val="53606A"/>
                </a:solidFill>
                <a:latin typeface="Calibri" pitchFamily="34" charset="0"/>
                <a:ea typeface="Calibri" pitchFamily="34" charset="-122"/>
                <a:cs typeface="Calibri" pitchFamily="34" charset="-120"/>
              </a:rPr>
              <a:t>Which tasks the finish date actually turns on — and how much float the rest have.</a:t>
            </a:r>
            <a:endParaRPr lang="en-US" sz="1350" dirty="0"/>
          </a:p>
        </p:txBody>
      </p:sp>
      <p:sp>
        <p:nvSpPr>
          <p:cNvPr id="15" name="Shape 11"/>
          <p:cNvSpPr/>
          <p:nvPr/>
        </p:nvSpPr>
        <p:spPr>
          <a:xfrm>
            <a:off x="8485632" y="4407408"/>
            <a:ext cx="384048" cy="384048"/>
          </a:xfrm>
          <a:prstGeom prst="ellipse">
            <a:avLst/>
          </a:prstGeom>
          <a:solidFill>
            <a:srgbClr val="12AEBE"/>
          </a:solidFill>
          <a:ln/>
        </p:spPr>
      </p:sp>
      <p:sp>
        <p:nvSpPr>
          <p:cNvPr id="16" name="Text 12"/>
          <p:cNvSpPr/>
          <p:nvPr/>
        </p:nvSpPr>
        <p:spPr>
          <a:xfrm>
            <a:off x="8485632" y="44074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3"/>
          <p:cNvSpPr/>
          <p:nvPr/>
        </p:nvSpPr>
        <p:spPr>
          <a:xfrm>
            <a:off x="9070848" y="4370832"/>
            <a:ext cx="2523744" cy="310896"/>
          </a:xfrm>
          <a:prstGeom prst="rect">
            <a:avLst/>
          </a:prstGeom>
          <a:noFill/>
          <a:ln/>
        </p:spPr>
        <p:txBody>
          <a:bodyPr wrap="square" lIns="0" tIns="0" rIns="0" bIns="0" rtlCol="0" anchor="ctr"/>
          <a:lstStyle/>
          <a:p>
            <a:pPr indent="0" marL="0">
              <a:buNone/>
            </a:pPr>
            <a:r>
              <a:rPr lang="en-US" sz="1600" b="1" dirty="0">
                <a:solidFill>
                  <a:srgbClr val="0A4B75"/>
                </a:solidFill>
                <a:latin typeface="Calibri" pitchFamily="34" charset="0"/>
                <a:ea typeface="Calibri" pitchFamily="34" charset="-122"/>
                <a:cs typeface="Calibri" pitchFamily="34" charset="-120"/>
              </a:rPr>
              <a:t>Weekdays only</a:t>
            </a:r>
            <a:endParaRPr lang="en-US" sz="1600" dirty="0"/>
          </a:p>
        </p:txBody>
      </p:sp>
      <p:sp>
        <p:nvSpPr>
          <p:cNvPr id="18" name="Text 14"/>
          <p:cNvSpPr/>
          <p:nvPr/>
        </p:nvSpPr>
        <p:spPr>
          <a:xfrm>
            <a:off x="9070848" y="4681728"/>
            <a:ext cx="2523744" cy="960120"/>
          </a:xfrm>
          <a:prstGeom prst="rect">
            <a:avLst/>
          </a:prstGeom>
          <a:noFill/>
          <a:ln/>
        </p:spPr>
        <p:txBody>
          <a:bodyPr wrap="square" lIns="0" tIns="0" rIns="0" bIns="0" rtlCol="0" anchor="ctr"/>
          <a:lstStyle/>
          <a:p>
            <a:pPr indent="0" marL="0">
              <a:lnSpc>
                <a:spcPts val="1800"/>
              </a:lnSpc>
              <a:buNone/>
            </a:pPr>
            <a:r>
              <a:rPr lang="en-US" sz="1350" dirty="0">
                <a:solidFill>
                  <a:srgbClr val="53606A"/>
                </a:solidFill>
                <a:latin typeface="Calibri" pitchFamily="34" charset="0"/>
                <a:ea typeface="Calibri" pitchFamily="34" charset="-122"/>
                <a:cs typeface="Calibri" pitchFamily="34" charset="-120"/>
              </a:rPr>
              <a:t>Work never lands on a weekend, so the dates are dates you could work to.</a:t>
            </a:r>
            <a:endParaRPr lang="en-US"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A4B75"/>
        </a:solidFill>
      </p:bgPr>
    </p:bg>
    <p:spTree>
      <p:nvGrpSpPr>
        <p:cNvPr id="1" name=""/>
        <p:cNvGrpSpPr/>
        <p:nvPr/>
      </p:nvGrpSpPr>
      <p:grpSpPr>
        <a:xfrm>
          <a:off x="0" y="0"/>
          <a:ext cx="0" cy="0"/>
          <a:chOff x="0" y="0"/>
          <a:chExt cx="0" cy="0"/>
        </a:xfrm>
      </p:grpSpPr>
      <p:sp>
        <p:nvSpPr>
          <p:cNvPr id="2" name="Text 0"/>
          <p:cNvSpPr/>
          <p:nvPr/>
        </p:nvSpPr>
        <p:spPr>
          <a:xfrm>
            <a:off x="566928" y="457200"/>
            <a:ext cx="8229600" cy="274320"/>
          </a:xfrm>
          <a:prstGeom prst="rect">
            <a:avLst/>
          </a:prstGeom>
          <a:noFill/>
          <a:ln/>
        </p:spPr>
        <p:txBody>
          <a:bodyPr wrap="square" lIns="0" tIns="0" rIns="0" bIns="0" rtlCol="0" anchor="ctr"/>
          <a:lstStyle/>
          <a:p>
            <a:pPr indent="0" marL="0">
              <a:buNone/>
            </a:pPr>
            <a:r>
              <a:rPr lang="en-US" sz="1200" b="1" spc="200" kern="0" dirty="0">
                <a:solidFill>
                  <a:srgbClr val="12AEBE"/>
                </a:solidFill>
                <a:latin typeface="Calibri" pitchFamily="34" charset="0"/>
                <a:ea typeface="Calibri" pitchFamily="34" charset="-122"/>
                <a:cs typeface="Calibri" pitchFamily="34" charset="-120"/>
              </a:rPr>
              <a:t>THE PART THAT SAVES THE ARGUMENT</a:t>
            </a:r>
            <a:endParaRPr lang="en-US" sz="1200" dirty="0"/>
          </a:p>
        </p:txBody>
      </p:sp>
      <p:sp>
        <p:nvSpPr>
          <p:cNvPr id="3" name="Text 1"/>
          <p:cNvSpPr/>
          <p:nvPr/>
        </p:nvSpPr>
        <p:spPr>
          <a:xfrm>
            <a:off x="566928" y="749808"/>
            <a:ext cx="10058400" cy="64008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The plan books the people</a:t>
            </a:r>
            <a:endParaRPr lang="en-US" sz="3400" dirty="0"/>
          </a:p>
        </p:txBody>
      </p:sp>
      <p:sp>
        <p:nvSpPr>
          <p:cNvPr id="4" name="Text 2"/>
          <p:cNvSpPr/>
          <p:nvPr/>
        </p:nvSpPr>
        <p:spPr>
          <a:xfrm>
            <a:off x="566928" y="1517904"/>
            <a:ext cx="6766560" cy="822960"/>
          </a:xfrm>
          <a:prstGeom prst="rect">
            <a:avLst/>
          </a:prstGeom>
          <a:noFill/>
          <a:ln/>
        </p:spPr>
        <p:txBody>
          <a:bodyPr wrap="square" lIns="0" tIns="0" rIns="0" bIns="0" rtlCol="0" anchor="ctr"/>
          <a:lstStyle/>
          <a:p>
            <a:pPr indent="0" marL="0">
              <a:lnSpc>
                <a:spcPts val="2200"/>
              </a:lnSpc>
              <a:buNone/>
            </a:pPr>
            <a:r>
              <a:rPr lang="en-US" sz="1500" dirty="0">
                <a:solidFill>
                  <a:srgbClr val="ACD7FA"/>
                </a:solidFill>
                <a:latin typeface="Calibri" pitchFamily="34" charset="0"/>
                <a:ea typeface="Calibri" pitchFamily="34" charset="-122"/>
                <a:cs typeface="Calibri" pitchFamily="34" charset="-120"/>
              </a:rPr>
              <a:t>Give a task an owner and how much of their day it takes, and the hours land in resourcing by themselves — in the months the work actually falls in.</a:t>
            </a:r>
            <a:endParaRPr lang="en-US" sz="1500" dirty="0"/>
          </a:p>
        </p:txBody>
      </p:sp>
      <p:sp>
        <p:nvSpPr>
          <p:cNvPr id="5" name="Shape 3"/>
          <p:cNvSpPr/>
          <p:nvPr/>
        </p:nvSpPr>
        <p:spPr>
          <a:xfrm>
            <a:off x="566928" y="2615184"/>
            <a:ext cx="2176272" cy="1572768"/>
          </a:xfrm>
          <a:prstGeom prst="roundRect">
            <a:avLst>
              <a:gd name="adj" fmla="val 4651"/>
            </a:avLst>
          </a:prstGeom>
          <a:solidFill>
            <a:srgbClr val="10557F"/>
          </a:solidFill>
          <a:ln w="12700">
            <a:solidFill>
              <a:srgbClr val="2A6D97"/>
            </a:solidFill>
            <a:prstDash val="solid"/>
          </a:ln>
        </p:spPr>
      </p:sp>
      <p:sp>
        <p:nvSpPr>
          <p:cNvPr id="6" name="Text 4"/>
          <p:cNvSpPr/>
          <p:nvPr/>
        </p:nvSpPr>
        <p:spPr>
          <a:xfrm>
            <a:off x="768096" y="2798064"/>
            <a:ext cx="1773936" cy="548640"/>
          </a:xfrm>
          <a:prstGeom prst="rect">
            <a:avLst/>
          </a:prstGeom>
          <a:noFill/>
          <a:ln/>
        </p:spPr>
        <p:txBody>
          <a:bodyPr wrap="square" lIns="0" tIns="0" rIns="0" bIns="0" rtlCol="0" anchor="ctr"/>
          <a:lstStyle/>
          <a:p>
            <a:pPr indent="0" marL="0">
              <a:lnSpc>
                <a:spcPts val="2100"/>
              </a:lnSpc>
              <a:buNone/>
            </a:pPr>
            <a:r>
              <a:rPr lang="en-US" sz="1700" b="1" dirty="0">
                <a:solidFill>
                  <a:srgbClr val="FFFFFF"/>
                </a:solidFill>
                <a:latin typeface="Calibri" pitchFamily="34" charset="0"/>
                <a:ea typeface="Calibri" pitchFamily="34" charset="-122"/>
                <a:cs typeface="Calibri" pitchFamily="34" charset="-120"/>
              </a:rPr>
              <a:t>A 2-day task</a:t>
            </a:r>
            <a:endParaRPr lang="en-US" sz="1700" dirty="0"/>
          </a:p>
        </p:txBody>
      </p:sp>
      <p:sp>
        <p:nvSpPr>
          <p:cNvPr id="7" name="Text 5"/>
          <p:cNvSpPr/>
          <p:nvPr/>
        </p:nvSpPr>
        <p:spPr>
          <a:xfrm>
            <a:off x="768096" y="3401568"/>
            <a:ext cx="1773936" cy="640080"/>
          </a:xfrm>
          <a:prstGeom prst="rect">
            <a:avLst/>
          </a:prstGeom>
          <a:noFill/>
          <a:ln/>
        </p:spPr>
        <p:txBody>
          <a:bodyPr wrap="square" lIns="0" tIns="0" rIns="0" bIns="0" rtlCol="0" anchor="ctr"/>
          <a:lstStyle/>
          <a:p>
            <a:pPr indent="0" marL="0">
              <a:lnSpc>
                <a:spcPts val="1500"/>
              </a:lnSpc>
              <a:buNone/>
            </a:pPr>
            <a:r>
              <a:rPr lang="en-US" sz="1150" dirty="0">
                <a:solidFill>
                  <a:srgbClr val="ACD7FA"/>
                </a:solidFill>
                <a:latin typeface="Calibri" pitchFamily="34" charset="0"/>
                <a:ea typeface="Calibri" pitchFamily="34" charset="-122"/>
                <a:cs typeface="Calibri" pitchFamily="34" charset="-120"/>
              </a:rPr>
              <a:t>Two working days of work in the plan</a:t>
            </a:r>
            <a:endParaRPr lang="en-US" sz="1150" dirty="0"/>
          </a:p>
        </p:txBody>
      </p:sp>
      <p:sp>
        <p:nvSpPr>
          <p:cNvPr id="8" name="Text 6"/>
          <p:cNvSpPr/>
          <p:nvPr/>
        </p:nvSpPr>
        <p:spPr>
          <a:xfrm>
            <a:off x="2761488" y="3127248"/>
            <a:ext cx="219456" cy="365760"/>
          </a:xfrm>
          <a:prstGeom prst="rect">
            <a:avLst/>
          </a:prstGeom>
          <a:noFill/>
          <a:ln/>
        </p:spPr>
        <p:txBody>
          <a:bodyPr wrap="square" lIns="0" tIns="0" rIns="0" bIns="0" rtlCol="0" anchor="ctr"/>
          <a:lstStyle/>
          <a:p>
            <a:pPr algn="ctr" indent="0" marL="0">
              <a:buNone/>
            </a:pPr>
            <a:r>
              <a:rPr lang="en-US" sz="2000" dirty="0">
                <a:solidFill>
                  <a:srgbClr val="12AEBE"/>
                </a:solidFill>
                <a:latin typeface="Calibri" pitchFamily="34" charset="0"/>
                <a:ea typeface="Calibri" pitchFamily="34" charset="-122"/>
                <a:cs typeface="Calibri" pitchFamily="34" charset="-120"/>
              </a:rPr>
              <a:t>→</a:t>
            </a:r>
            <a:endParaRPr lang="en-US" sz="2000" dirty="0"/>
          </a:p>
        </p:txBody>
      </p:sp>
      <p:sp>
        <p:nvSpPr>
          <p:cNvPr id="9" name="Shape 7"/>
          <p:cNvSpPr/>
          <p:nvPr/>
        </p:nvSpPr>
        <p:spPr>
          <a:xfrm>
            <a:off x="2962656" y="2615184"/>
            <a:ext cx="2176272" cy="1572768"/>
          </a:xfrm>
          <a:prstGeom prst="roundRect">
            <a:avLst>
              <a:gd name="adj" fmla="val 4651"/>
            </a:avLst>
          </a:prstGeom>
          <a:solidFill>
            <a:srgbClr val="10557F"/>
          </a:solidFill>
          <a:ln w="12700">
            <a:solidFill>
              <a:srgbClr val="2A6D97"/>
            </a:solidFill>
            <a:prstDash val="solid"/>
          </a:ln>
        </p:spPr>
      </p:sp>
      <p:sp>
        <p:nvSpPr>
          <p:cNvPr id="10" name="Text 8"/>
          <p:cNvSpPr/>
          <p:nvPr/>
        </p:nvSpPr>
        <p:spPr>
          <a:xfrm>
            <a:off x="3163824" y="2798064"/>
            <a:ext cx="1773936" cy="548640"/>
          </a:xfrm>
          <a:prstGeom prst="rect">
            <a:avLst/>
          </a:prstGeom>
          <a:noFill/>
          <a:ln/>
        </p:spPr>
        <p:txBody>
          <a:bodyPr wrap="square" lIns="0" tIns="0" rIns="0" bIns="0" rtlCol="0" anchor="ctr"/>
          <a:lstStyle/>
          <a:p>
            <a:pPr indent="0" marL="0">
              <a:lnSpc>
                <a:spcPts val="2100"/>
              </a:lnSpc>
              <a:buNone/>
            </a:pPr>
            <a:r>
              <a:rPr lang="en-US" sz="1700" b="1" dirty="0">
                <a:solidFill>
                  <a:srgbClr val="FFFFFF"/>
                </a:solidFill>
                <a:latin typeface="Calibri" pitchFamily="34" charset="0"/>
                <a:ea typeface="Calibri" pitchFamily="34" charset="-122"/>
                <a:cs typeface="Calibri" pitchFamily="34" charset="-120"/>
              </a:rPr>
              <a:t>At 50% of a day</a:t>
            </a:r>
            <a:endParaRPr lang="en-US" sz="1700" dirty="0"/>
          </a:p>
        </p:txBody>
      </p:sp>
      <p:sp>
        <p:nvSpPr>
          <p:cNvPr id="11" name="Text 9"/>
          <p:cNvSpPr/>
          <p:nvPr/>
        </p:nvSpPr>
        <p:spPr>
          <a:xfrm>
            <a:off x="3163824" y="3401568"/>
            <a:ext cx="1773936" cy="640080"/>
          </a:xfrm>
          <a:prstGeom prst="rect">
            <a:avLst/>
          </a:prstGeom>
          <a:noFill/>
          <a:ln/>
        </p:spPr>
        <p:txBody>
          <a:bodyPr wrap="square" lIns="0" tIns="0" rIns="0" bIns="0" rtlCol="0" anchor="ctr"/>
          <a:lstStyle/>
          <a:p>
            <a:pPr indent="0" marL="0">
              <a:lnSpc>
                <a:spcPts val="1500"/>
              </a:lnSpc>
              <a:buNone/>
            </a:pPr>
            <a:r>
              <a:rPr lang="en-US" sz="1150" dirty="0">
                <a:solidFill>
                  <a:srgbClr val="ACD7FA"/>
                </a:solidFill>
                <a:latin typeface="Calibri" pitchFamily="34" charset="0"/>
                <a:ea typeface="Calibri" pitchFamily="34" charset="-122"/>
                <a:cs typeface="Calibri" pitchFamily="34" charset="-120"/>
              </a:rPr>
              <a:t>It takes half of that person’s day while it runs</a:t>
            </a:r>
            <a:endParaRPr lang="en-US" sz="1150" dirty="0"/>
          </a:p>
        </p:txBody>
      </p:sp>
      <p:sp>
        <p:nvSpPr>
          <p:cNvPr id="12" name="Text 10"/>
          <p:cNvSpPr/>
          <p:nvPr/>
        </p:nvSpPr>
        <p:spPr>
          <a:xfrm>
            <a:off x="5157216" y="3127248"/>
            <a:ext cx="219456" cy="365760"/>
          </a:xfrm>
          <a:prstGeom prst="rect">
            <a:avLst/>
          </a:prstGeom>
          <a:noFill/>
          <a:ln/>
        </p:spPr>
        <p:txBody>
          <a:bodyPr wrap="square" lIns="0" tIns="0" rIns="0" bIns="0" rtlCol="0" anchor="ctr"/>
          <a:lstStyle/>
          <a:p>
            <a:pPr algn="ctr" indent="0" marL="0">
              <a:buNone/>
            </a:pPr>
            <a:r>
              <a:rPr lang="en-US" sz="2000" dirty="0">
                <a:solidFill>
                  <a:srgbClr val="12AEBE"/>
                </a:solidFill>
                <a:latin typeface="Calibri" pitchFamily="34" charset="0"/>
                <a:ea typeface="Calibri" pitchFamily="34" charset="-122"/>
                <a:cs typeface="Calibri" pitchFamily="34" charset="-120"/>
              </a:rPr>
              <a:t>→</a:t>
            </a:r>
            <a:endParaRPr lang="en-US" sz="2000" dirty="0"/>
          </a:p>
        </p:txBody>
      </p:sp>
      <p:sp>
        <p:nvSpPr>
          <p:cNvPr id="13" name="Shape 11"/>
          <p:cNvSpPr/>
          <p:nvPr/>
        </p:nvSpPr>
        <p:spPr>
          <a:xfrm>
            <a:off x="5358384" y="2615184"/>
            <a:ext cx="2176272" cy="1572768"/>
          </a:xfrm>
          <a:prstGeom prst="roundRect">
            <a:avLst>
              <a:gd name="adj" fmla="val 4651"/>
            </a:avLst>
          </a:prstGeom>
          <a:solidFill>
            <a:srgbClr val="12AEBE"/>
          </a:solidFill>
          <a:ln w="12700">
            <a:solidFill>
              <a:srgbClr val="12AEBE"/>
            </a:solidFill>
            <a:prstDash val="solid"/>
          </a:ln>
        </p:spPr>
      </p:sp>
      <p:sp>
        <p:nvSpPr>
          <p:cNvPr id="14" name="Text 12"/>
          <p:cNvSpPr/>
          <p:nvPr/>
        </p:nvSpPr>
        <p:spPr>
          <a:xfrm>
            <a:off x="5559552" y="2798064"/>
            <a:ext cx="1773936" cy="548640"/>
          </a:xfrm>
          <a:prstGeom prst="rect">
            <a:avLst/>
          </a:prstGeom>
          <a:noFill/>
          <a:ln/>
        </p:spPr>
        <p:txBody>
          <a:bodyPr wrap="square" lIns="0" tIns="0" rIns="0" bIns="0" rtlCol="0" anchor="ctr"/>
          <a:lstStyle/>
          <a:p>
            <a:pPr indent="0" marL="0">
              <a:lnSpc>
                <a:spcPts val="2100"/>
              </a:lnSpc>
              <a:buNone/>
            </a:pPr>
            <a:r>
              <a:rPr lang="en-US" sz="1700" b="1" dirty="0">
                <a:solidFill>
                  <a:srgbClr val="FFFFFF"/>
                </a:solidFill>
                <a:latin typeface="Calibri" pitchFamily="34" charset="0"/>
                <a:ea typeface="Calibri" pitchFamily="34" charset="-122"/>
                <a:cs typeface="Calibri" pitchFamily="34" charset="-120"/>
              </a:rPr>
              <a:t>= 8 hours booked</a:t>
            </a:r>
            <a:endParaRPr lang="en-US" sz="1700" dirty="0"/>
          </a:p>
        </p:txBody>
      </p:sp>
      <p:sp>
        <p:nvSpPr>
          <p:cNvPr id="15" name="Text 13"/>
          <p:cNvSpPr/>
          <p:nvPr/>
        </p:nvSpPr>
        <p:spPr>
          <a:xfrm>
            <a:off x="5559552" y="3401568"/>
            <a:ext cx="1773936" cy="640080"/>
          </a:xfrm>
          <a:prstGeom prst="rect">
            <a:avLst/>
          </a:prstGeom>
          <a:noFill/>
          <a:ln/>
        </p:spPr>
        <p:txBody>
          <a:bodyPr wrap="square" lIns="0" tIns="0" rIns="0" bIns="0" rtlCol="0" anchor="ctr"/>
          <a:lstStyle/>
          <a:p>
            <a:pPr indent="0" marL="0">
              <a:lnSpc>
                <a:spcPts val="1500"/>
              </a:lnSpc>
              <a:buNone/>
            </a:pPr>
            <a:r>
              <a:rPr lang="en-US" sz="1150" dirty="0">
                <a:solidFill>
                  <a:srgbClr val="05323A"/>
                </a:solidFill>
                <a:latin typeface="Calibri" pitchFamily="34" charset="0"/>
                <a:ea typeface="Calibri" pitchFamily="34" charset="-122"/>
                <a:cs typeface="Calibri" pitchFamily="34" charset="-120"/>
              </a:rPr>
              <a:t>One day of their time, in the month it falls in</a:t>
            </a:r>
            <a:endParaRPr lang="en-US" sz="1150" dirty="0"/>
          </a:p>
        </p:txBody>
      </p:sp>
      <p:sp>
        <p:nvSpPr>
          <p:cNvPr id="16" name="Text 14"/>
          <p:cNvSpPr/>
          <p:nvPr/>
        </p:nvSpPr>
        <p:spPr>
          <a:xfrm>
            <a:off x="566928" y="4443984"/>
            <a:ext cx="6766560" cy="310896"/>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While it is on, the booking grid reports rather than accepts</a:t>
            </a:r>
            <a:endParaRPr lang="en-US" sz="1500" dirty="0"/>
          </a:p>
        </p:txBody>
      </p:sp>
      <p:sp>
        <p:nvSpPr>
          <p:cNvPr id="17" name="Text 15"/>
          <p:cNvSpPr/>
          <p:nvPr/>
        </p:nvSpPr>
        <p:spPr>
          <a:xfrm>
            <a:off x="566928" y="4791456"/>
            <a:ext cx="6766560" cy="914400"/>
          </a:xfrm>
          <a:prstGeom prst="rect">
            <a:avLst/>
          </a:prstGeom>
          <a:noFill/>
          <a:ln/>
        </p:spPr>
        <p:txBody>
          <a:bodyPr wrap="square" lIns="0" tIns="0" rIns="0" bIns="0" rtlCol="0" anchor="ctr"/>
          <a:lstStyle/>
          <a:p>
            <a:pPr indent="0" marL="0">
              <a:lnSpc>
                <a:spcPts val="1900"/>
              </a:lnSpc>
              <a:buNone/>
            </a:pPr>
            <a:r>
              <a:rPr lang="en-US" sz="1350" dirty="0">
                <a:solidFill>
                  <a:srgbClr val="ACD7FA"/>
                </a:solidFill>
                <a:latin typeface="Calibri" pitchFamily="34" charset="0"/>
                <a:ea typeface="Calibri" pitchFamily="34" charset="-122"/>
                <a:cs typeface="Calibri" pitchFamily="34" charset="-120"/>
              </a:rPr>
              <a:t>Every figure still shows, per person and per month — greyed, locked, and labelled with where it came from. Nothing typed by hand is overwritten: untick the box and those bookings come straight back.</a:t>
            </a:r>
            <a:endParaRPr lang="en-US" sz="1350" dirty="0"/>
          </a:p>
        </p:txBody>
      </p:sp>
      <p:sp>
        <p:nvSpPr>
          <p:cNvPr id="18" name="Shape 16"/>
          <p:cNvSpPr/>
          <p:nvPr/>
        </p:nvSpPr>
        <p:spPr>
          <a:xfrm>
            <a:off x="7680960" y="1920240"/>
            <a:ext cx="4005072" cy="3931920"/>
          </a:xfrm>
          <a:prstGeom prst="roundRect">
            <a:avLst>
              <a:gd name="adj" fmla="val 1395"/>
            </a:avLst>
          </a:prstGeom>
          <a:solidFill>
            <a:srgbClr val="F2F6F9"/>
          </a:solidFill>
          <a:ln w="12700">
            <a:solidFill>
              <a:srgbClr val="2A6D97"/>
            </a:solidFill>
            <a:prstDash val="solid"/>
          </a:ln>
        </p:spPr>
      </p:sp>
      <p:pic>
        <p:nvPicPr>
          <p:cNvPr id="19" name="Image 0" descr="../deck/locked-grid-crop.png">    </p:cNvPr>
          <p:cNvPicPr>
            <a:picLocks noChangeAspect="1"/>
          </p:cNvPicPr>
          <p:nvPr/>
        </p:nvPicPr>
        <p:blipFill>
          <a:blip r:embed="rId1"/>
          <a:srcRect l="0" r="0" t="0" b="0"/>
          <a:stretch/>
        </p:blipFill>
        <p:spPr>
          <a:xfrm>
            <a:off x="7772400" y="2011680"/>
            <a:ext cx="3822192" cy="374904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47472"/>
            <a:ext cx="8229600" cy="274320"/>
          </a:xfrm>
          <a:prstGeom prst="rect">
            <a:avLst/>
          </a:prstGeom>
          <a:noFill/>
          <a:ln/>
        </p:spPr>
        <p:txBody>
          <a:bodyPr wrap="square" lIns="0" tIns="0" rIns="0" bIns="0" rtlCol="0" anchor="ctr"/>
          <a:lstStyle/>
          <a:p>
            <a:pPr indent="0" marL="0">
              <a:buNone/>
            </a:pPr>
            <a:r>
              <a:rPr lang="en-US" sz="1200" b="1" spc="200" kern="0" dirty="0">
                <a:solidFill>
                  <a:srgbClr val="12AEBE"/>
                </a:solidFill>
                <a:latin typeface="Calibri" pitchFamily="34" charset="0"/>
                <a:ea typeface="Calibri" pitchFamily="34" charset="-122"/>
                <a:cs typeface="Calibri" pitchFamily="34" charset="-120"/>
              </a:rPr>
              <a:t>ALERTS</a:t>
            </a:r>
            <a:endParaRPr lang="en-US" sz="1200" dirty="0"/>
          </a:p>
        </p:txBody>
      </p:sp>
      <p:sp>
        <p:nvSpPr>
          <p:cNvPr id="3" name="Text 1"/>
          <p:cNvSpPr/>
          <p:nvPr/>
        </p:nvSpPr>
        <p:spPr>
          <a:xfrm>
            <a:off x="566928" y="713232"/>
            <a:ext cx="10424160" cy="603504"/>
          </a:xfrm>
          <a:prstGeom prst="rect">
            <a:avLst/>
          </a:prstGeom>
          <a:noFill/>
          <a:ln/>
        </p:spPr>
        <p:txBody>
          <a:bodyPr wrap="square" lIns="0" tIns="0" rIns="0" bIns="0" rtlCol="0" anchor="t"/>
          <a:lstStyle/>
          <a:p>
            <a:pPr indent="0" marL="0">
              <a:buNone/>
            </a:pPr>
            <a:r>
              <a:rPr lang="en-US" sz="3200" b="1" dirty="0">
                <a:solidFill>
                  <a:srgbClr val="0A4B75"/>
                </a:solidFill>
                <a:latin typeface="Calibri" pitchFamily="34" charset="0"/>
                <a:ea typeface="Calibri" pitchFamily="34" charset="-122"/>
                <a:cs typeface="Calibri" pitchFamily="34" charset="-120"/>
              </a:rPr>
              <a:t>Four kinds of problem, worst first</a:t>
            </a:r>
            <a:endParaRPr lang="en-US" sz="3200" dirty="0"/>
          </a:p>
        </p:txBody>
      </p:sp>
      <p:pic>
        <p:nvPicPr>
          <p:cNvPr id="4" name="Image 0" descr="../deck/mark-light.png">    </p:cNvPr>
          <p:cNvPicPr>
            <a:picLocks noChangeAspect="1"/>
          </p:cNvPicPr>
          <p:nvPr/>
        </p:nvPicPr>
        <p:blipFill>
          <a:blip r:embed="rId1"/>
          <a:stretch>
            <a:fillRect/>
          </a:stretch>
        </p:blipFill>
        <p:spPr>
          <a:xfrm>
            <a:off x="11192256" y="402336"/>
            <a:ext cx="402336" cy="402336"/>
          </a:xfrm>
          <a:prstGeom prst="rect">
            <a:avLst/>
          </a:prstGeom>
        </p:spPr>
      </p:pic>
      <p:sp>
        <p:nvSpPr>
          <p:cNvPr id="5" name="Shape 2"/>
          <p:cNvSpPr/>
          <p:nvPr/>
        </p:nvSpPr>
        <p:spPr>
          <a:xfrm>
            <a:off x="4133088" y="1463040"/>
            <a:ext cx="7552944" cy="4206240"/>
          </a:xfrm>
          <a:prstGeom prst="roundRect">
            <a:avLst>
              <a:gd name="adj" fmla="val 1304"/>
            </a:avLst>
          </a:prstGeom>
          <a:solidFill>
            <a:srgbClr val="F2F6F9"/>
          </a:solidFill>
          <a:ln w="12700">
            <a:solidFill>
              <a:srgbClr val="D9E4EC"/>
            </a:solidFill>
            <a:prstDash val="solid"/>
          </a:ln>
          <a:effectLst>
            <a:outerShdw sx="100000" sy="100000" kx="0" ky="0" algn="bl" rotWithShape="0" blurRad="177800" dist="38100" dir="5400000">
              <a:srgbClr val="0A2740">
                <a:alpha val="22000"/>
              </a:srgbClr>
            </a:outerShdw>
          </a:effectLst>
        </p:spPr>
      </p:sp>
      <p:pic>
        <p:nvPicPr>
          <p:cNvPr id="6" name="Image 1" descr="../deck/alerts.png">    </p:cNvPr>
          <p:cNvPicPr>
            <a:picLocks noChangeAspect="1"/>
          </p:cNvPicPr>
          <p:nvPr/>
        </p:nvPicPr>
        <p:blipFill>
          <a:blip r:embed="rId2"/>
          <a:srcRect l="0" r="0" t="0" b="0"/>
          <a:stretch/>
        </p:blipFill>
        <p:spPr>
          <a:xfrm>
            <a:off x="4224528" y="1554480"/>
            <a:ext cx="7370064" cy="4023360"/>
          </a:xfrm>
          <a:prstGeom prst="rect">
            <a:avLst/>
          </a:prstGeom>
        </p:spPr>
      </p:pic>
      <p:sp>
        <p:nvSpPr>
          <p:cNvPr id="7" name="Shape 3"/>
          <p:cNvSpPr/>
          <p:nvPr/>
        </p:nvSpPr>
        <p:spPr>
          <a:xfrm>
            <a:off x="566928" y="1664208"/>
            <a:ext cx="384048" cy="384048"/>
          </a:xfrm>
          <a:prstGeom prst="ellipse">
            <a:avLst/>
          </a:prstGeom>
          <a:solidFill>
            <a:srgbClr val="12AEBE"/>
          </a:solidFill>
          <a:ln/>
        </p:spPr>
      </p:sp>
      <p:sp>
        <p:nvSpPr>
          <p:cNvPr id="8" name="Text 4"/>
          <p:cNvSpPr/>
          <p:nvPr/>
        </p:nvSpPr>
        <p:spPr>
          <a:xfrm>
            <a:off x="566928" y="16642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9" name="Text 5"/>
          <p:cNvSpPr/>
          <p:nvPr/>
        </p:nvSpPr>
        <p:spPr>
          <a:xfrm>
            <a:off x="1152144" y="1627632"/>
            <a:ext cx="2779776" cy="310896"/>
          </a:xfrm>
          <a:prstGeom prst="rect">
            <a:avLst/>
          </a:prstGeom>
          <a:noFill/>
          <a:ln/>
        </p:spPr>
        <p:txBody>
          <a:bodyPr wrap="square" lIns="0" tIns="0" rIns="0" bIns="0" rtlCol="0" anchor="ctr"/>
          <a:lstStyle/>
          <a:p>
            <a:pPr indent="0" marL="0">
              <a:buNone/>
            </a:pPr>
            <a:r>
              <a:rPr lang="en-US" sz="1600" b="1" dirty="0">
                <a:solidFill>
                  <a:srgbClr val="0A4B75"/>
                </a:solidFill>
                <a:latin typeface="Calibri" pitchFamily="34" charset="0"/>
                <a:ea typeface="Calibri" pitchFamily="34" charset="-122"/>
                <a:cs typeface="Calibri" pitchFamily="34" charset="-120"/>
              </a:rPr>
              <a:t>Projects at risk</a:t>
            </a:r>
            <a:endParaRPr lang="en-US" sz="1600" dirty="0"/>
          </a:p>
        </p:txBody>
      </p:sp>
      <p:sp>
        <p:nvSpPr>
          <p:cNvPr id="10" name="Text 6"/>
          <p:cNvSpPr/>
          <p:nvPr/>
        </p:nvSpPr>
        <p:spPr>
          <a:xfrm>
            <a:off x="1152144" y="1938528"/>
            <a:ext cx="2779776" cy="603504"/>
          </a:xfrm>
          <a:prstGeom prst="rect">
            <a:avLst/>
          </a:prstGeom>
          <a:noFill/>
          <a:ln/>
        </p:spPr>
        <p:txBody>
          <a:bodyPr wrap="square" lIns="0" tIns="0" rIns="0" bIns="0" rtlCol="0" anchor="ctr"/>
          <a:lstStyle/>
          <a:p>
            <a:pPr indent="0" marL="0">
              <a:lnSpc>
                <a:spcPts val="1800"/>
              </a:lnSpc>
              <a:buNone/>
            </a:pPr>
            <a:r>
              <a:rPr lang="en-US" sz="1350" dirty="0">
                <a:solidFill>
                  <a:srgbClr val="53606A"/>
                </a:solidFill>
                <a:latin typeface="Calibri" pitchFamily="34" charset="0"/>
                <a:ea typeface="Calibri" pitchFamily="34" charset="-122"/>
                <a:cs typeface="Calibri" pitchFamily="34" charset="-120"/>
              </a:rPr>
              <a:t>Flagged by the project manager, with what is driving it.</a:t>
            </a:r>
            <a:endParaRPr lang="en-US" sz="1350" dirty="0"/>
          </a:p>
        </p:txBody>
      </p:sp>
      <p:sp>
        <p:nvSpPr>
          <p:cNvPr id="11" name="Shape 7"/>
          <p:cNvSpPr/>
          <p:nvPr/>
        </p:nvSpPr>
        <p:spPr>
          <a:xfrm>
            <a:off x="566928" y="2633472"/>
            <a:ext cx="384048" cy="384048"/>
          </a:xfrm>
          <a:prstGeom prst="ellipse">
            <a:avLst/>
          </a:prstGeom>
          <a:solidFill>
            <a:srgbClr val="12AEBE"/>
          </a:solidFill>
          <a:ln/>
        </p:spPr>
      </p:sp>
      <p:sp>
        <p:nvSpPr>
          <p:cNvPr id="12" name="Text 8"/>
          <p:cNvSpPr/>
          <p:nvPr/>
        </p:nvSpPr>
        <p:spPr>
          <a:xfrm>
            <a:off x="566928" y="263347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3" name="Text 9"/>
          <p:cNvSpPr/>
          <p:nvPr/>
        </p:nvSpPr>
        <p:spPr>
          <a:xfrm>
            <a:off x="1152144" y="2596896"/>
            <a:ext cx="2779776" cy="310896"/>
          </a:xfrm>
          <a:prstGeom prst="rect">
            <a:avLst/>
          </a:prstGeom>
          <a:noFill/>
          <a:ln/>
        </p:spPr>
        <p:txBody>
          <a:bodyPr wrap="square" lIns="0" tIns="0" rIns="0" bIns="0" rtlCol="0" anchor="ctr"/>
          <a:lstStyle/>
          <a:p>
            <a:pPr indent="0" marL="0">
              <a:buNone/>
            </a:pPr>
            <a:r>
              <a:rPr lang="en-US" sz="1600" b="1" dirty="0">
                <a:solidFill>
                  <a:srgbClr val="0A4B75"/>
                </a:solidFill>
                <a:latin typeface="Calibri" pitchFamily="34" charset="0"/>
                <a:ea typeface="Calibri" pitchFamily="34" charset="-122"/>
                <a:cs typeface="Calibri" pitchFamily="34" charset="-120"/>
              </a:rPr>
              <a:t>People overbooked</a:t>
            </a:r>
            <a:endParaRPr lang="en-US" sz="1600" dirty="0"/>
          </a:p>
        </p:txBody>
      </p:sp>
      <p:sp>
        <p:nvSpPr>
          <p:cNvPr id="14" name="Text 10"/>
          <p:cNvSpPr/>
          <p:nvPr/>
        </p:nvSpPr>
        <p:spPr>
          <a:xfrm>
            <a:off x="1152144" y="2907792"/>
            <a:ext cx="2779776" cy="603504"/>
          </a:xfrm>
          <a:prstGeom prst="rect">
            <a:avLst/>
          </a:prstGeom>
          <a:noFill/>
          <a:ln/>
        </p:spPr>
        <p:txBody>
          <a:bodyPr wrap="square" lIns="0" tIns="0" rIns="0" bIns="0" rtlCol="0" anchor="ctr"/>
          <a:lstStyle/>
          <a:p>
            <a:pPr indent="0" marL="0">
              <a:lnSpc>
                <a:spcPts val="1800"/>
              </a:lnSpc>
              <a:buNone/>
            </a:pPr>
            <a:r>
              <a:rPr lang="en-US" sz="1350" dirty="0">
                <a:solidFill>
                  <a:srgbClr val="53606A"/>
                </a:solidFill>
                <a:latin typeface="Calibri" pitchFamily="34" charset="0"/>
                <a:ea typeface="Calibri" pitchFamily="34" charset="-122"/>
                <a:cs typeface="Calibri" pitchFamily="34" charset="-120"/>
              </a:rPr>
              <a:t>The same detail the resourcing graphs show, per month.</a:t>
            </a:r>
            <a:endParaRPr lang="en-US" sz="1350" dirty="0"/>
          </a:p>
        </p:txBody>
      </p:sp>
      <p:sp>
        <p:nvSpPr>
          <p:cNvPr id="15" name="Shape 11"/>
          <p:cNvSpPr/>
          <p:nvPr/>
        </p:nvSpPr>
        <p:spPr>
          <a:xfrm>
            <a:off x="566928" y="3602736"/>
            <a:ext cx="384048" cy="384048"/>
          </a:xfrm>
          <a:prstGeom prst="ellipse">
            <a:avLst/>
          </a:prstGeom>
          <a:solidFill>
            <a:srgbClr val="12AEBE"/>
          </a:solidFill>
          <a:ln/>
        </p:spPr>
      </p:sp>
      <p:sp>
        <p:nvSpPr>
          <p:cNvPr id="16" name="Text 12"/>
          <p:cNvSpPr/>
          <p:nvPr/>
        </p:nvSpPr>
        <p:spPr>
          <a:xfrm>
            <a:off x="566928" y="360273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3"/>
          <p:cNvSpPr/>
          <p:nvPr/>
        </p:nvSpPr>
        <p:spPr>
          <a:xfrm>
            <a:off x="1152144" y="3566160"/>
            <a:ext cx="2779776" cy="310896"/>
          </a:xfrm>
          <a:prstGeom prst="rect">
            <a:avLst/>
          </a:prstGeom>
          <a:noFill/>
          <a:ln/>
        </p:spPr>
        <p:txBody>
          <a:bodyPr wrap="square" lIns="0" tIns="0" rIns="0" bIns="0" rtlCol="0" anchor="ctr"/>
          <a:lstStyle/>
          <a:p>
            <a:pPr indent="0" marL="0">
              <a:buNone/>
            </a:pPr>
            <a:r>
              <a:rPr lang="en-US" sz="1600" b="1" dirty="0">
                <a:solidFill>
                  <a:srgbClr val="0A4B75"/>
                </a:solidFill>
                <a:latin typeface="Calibri" pitchFamily="34" charset="0"/>
                <a:ea typeface="Calibri" pitchFamily="34" charset="-122"/>
                <a:cs typeface="Calibri" pitchFamily="34" charset="-120"/>
              </a:rPr>
              <a:t>Budgets nearly gone</a:t>
            </a:r>
            <a:endParaRPr lang="en-US" sz="1600" dirty="0"/>
          </a:p>
        </p:txBody>
      </p:sp>
      <p:sp>
        <p:nvSpPr>
          <p:cNvPr id="18" name="Text 14"/>
          <p:cNvSpPr/>
          <p:nvPr/>
        </p:nvSpPr>
        <p:spPr>
          <a:xfrm>
            <a:off x="1152144" y="3877056"/>
            <a:ext cx="2779776" cy="603504"/>
          </a:xfrm>
          <a:prstGeom prst="rect">
            <a:avLst/>
          </a:prstGeom>
          <a:noFill/>
          <a:ln/>
        </p:spPr>
        <p:txBody>
          <a:bodyPr wrap="square" lIns="0" tIns="0" rIns="0" bIns="0" rtlCol="0" anchor="ctr"/>
          <a:lstStyle/>
          <a:p>
            <a:pPr indent="0" marL="0">
              <a:lnSpc>
                <a:spcPts val="1800"/>
              </a:lnSpc>
              <a:buNone/>
            </a:pPr>
            <a:r>
              <a:rPr lang="en-US" sz="1350" dirty="0">
                <a:solidFill>
                  <a:srgbClr val="53606A"/>
                </a:solidFill>
                <a:latin typeface="Calibri" pitchFamily="34" charset="0"/>
                <a:ea typeface="Calibri" pitchFamily="34" charset="-122"/>
                <a:cs typeface="Calibri" pitchFamily="34" charset="-120"/>
              </a:rPr>
              <a:t>Before the approval conversation, not after.</a:t>
            </a:r>
            <a:endParaRPr lang="en-US" sz="1350" dirty="0"/>
          </a:p>
        </p:txBody>
      </p:sp>
      <p:sp>
        <p:nvSpPr>
          <p:cNvPr id="19" name="Shape 15"/>
          <p:cNvSpPr/>
          <p:nvPr/>
        </p:nvSpPr>
        <p:spPr>
          <a:xfrm>
            <a:off x="566928" y="4572000"/>
            <a:ext cx="384048" cy="384048"/>
          </a:xfrm>
          <a:prstGeom prst="ellipse">
            <a:avLst/>
          </a:prstGeom>
          <a:solidFill>
            <a:srgbClr val="12AEBE"/>
          </a:solidFill>
          <a:ln/>
        </p:spPr>
      </p:sp>
      <p:sp>
        <p:nvSpPr>
          <p:cNvPr id="20" name="Text 16"/>
          <p:cNvSpPr/>
          <p:nvPr/>
        </p:nvSpPr>
        <p:spPr>
          <a:xfrm>
            <a:off x="566928" y="45720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1" name="Text 17"/>
          <p:cNvSpPr/>
          <p:nvPr/>
        </p:nvSpPr>
        <p:spPr>
          <a:xfrm>
            <a:off x="1152144" y="4535424"/>
            <a:ext cx="2779776" cy="310896"/>
          </a:xfrm>
          <a:prstGeom prst="rect">
            <a:avLst/>
          </a:prstGeom>
          <a:noFill/>
          <a:ln/>
        </p:spPr>
        <p:txBody>
          <a:bodyPr wrap="square" lIns="0" tIns="0" rIns="0" bIns="0" rtlCol="0" anchor="ctr"/>
          <a:lstStyle/>
          <a:p>
            <a:pPr indent="0" marL="0">
              <a:buNone/>
            </a:pPr>
            <a:r>
              <a:rPr lang="en-US" sz="1600" b="1" dirty="0">
                <a:solidFill>
                  <a:srgbClr val="0A4B75"/>
                </a:solidFill>
                <a:latin typeface="Calibri" pitchFamily="34" charset="0"/>
                <a:ea typeface="Calibri" pitchFamily="34" charset="-122"/>
                <a:cs typeface="Calibri" pitchFamily="34" charset="-120"/>
              </a:rPr>
              <a:t>Dates that have passed</a:t>
            </a:r>
            <a:endParaRPr lang="en-US" sz="1600" dirty="0"/>
          </a:p>
        </p:txBody>
      </p:sp>
      <p:sp>
        <p:nvSpPr>
          <p:cNvPr id="22" name="Text 18"/>
          <p:cNvSpPr/>
          <p:nvPr/>
        </p:nvSpPr>
        <p:spPr>
          <a:xfrm>
            <a:off x="1152144" y="4846320"/>
            <a:ext cx="2779776" cy="603504"/>
          </a:xfrm>
          <a:prstGeom prst="rect">
            <a:avLst/>
          </a:prstGeom>
          <a:noFill/>
          <a:ln/>
        </p:spPr>
        <p:txBody>
          <a:bodyPr wrap="square" lIns="0" tIns="0" rIns="0" bIns="0" rtlCol="0" anchor="ctr"/>
          <a:lstStyle/>
          <a:p>
            <a:pPr indent="0" marL="0">
              <a:lnSpc>
                <a:spcPts val="1800"/>
              </a:lnSpc>
              <a:buNone/>
            </a:pPr>
            <a:r>
              <a:rPr lang="en-US" sz="1350" dirty="0">
                <a:solidFill>
                  <a:srgbClr val="53606A"/>
                </a:solidFill>
                <a:latin typeface="Calibri" pitchFamily="34" charset="0"/>
                <a:ea typeface="Calibri" pitchFamily="34" charset="-122"/>
                <a:cs typeface="Calibri" pitchFamily="34" charset="-120"/>
              </a:rPr>
              <a:t>Milestones and invoices that quietly went by.</a:t>
            </a:r>
            <a:endParaRPr lang="en-US" sz="13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47472"/>
            <a:ext cx="8229600" cy="274320"/>
          </a:xfrm>
          <a:prstGeom prst="rect">
            <a:avLst/>
          </a:prstGeom>
          <a:noFill/>
          <a:ln/>
        </p:spPr>
        <p:txBody>
          <a:bodyPr wrap="square" lIns="0" tIns="0" rIns="0" bIns="0" rtlCol="0" anchor="ctr"/>
          <a:lstStyle/>
          <a:p>
            <a:pPr indent="0" marL="0">
              <a:buNone/>
            </a:pPr>
            <a:r>
              <a:rPr lang="en-US" sz="1200" b="1" spc="200" kern="0" dirty="0">
                <a:solidFill>
                  <a:srgbClr val="12AEBE"/>
                </a:solidFill>
                <a:latin typeface="Calibri" pitchFamily="34" charset="0"/>
                <a:ea typeface="Calibri" pitchFamily="34" charset="-122"/>
                <a:cs typeface="Calibri" pitchFamily="34" charset="-120"/>
              </a:rPr>
              <a:t>PRACTICALITIES</a:t>
            </a:r>
            <a:endParaRPr lang="en-US" sz="1200" dirty="0"/>
          </a:p>
        </p:txBody>
      </p:sp>
      <p:sp>
        <p:nvSpPr>
          <p:cNvPr id="3" name="Text 1"/>
          <p:cNvSpPr/>
          <p:nvPr/>
        </p:nvSpPr>
        <p:spPr>
          <a:xfrm>
            <a:off x="566928" y="713232"/>
            <a:ext cx="10424160" cy="603504"/>
          </a:xfrm>
          <a:prstGeom prst="rect">
            <a:avLst/>
          </a:prstGeom>
          <a:noFill/>
          <a:ln/>
        </p:spPr>
        <p:txBody>
          <a:bodyPr wrap="square" lIns="0" tIns="0" rIns="0" bIns="0" rtlCol="0" anchor="t"/>
          <a:lstStyle/>
          <a:p>
            <a:pPr indent="0" marL="0">
              <a:buNone/>
            </a:pPr>
            <a:r>
              <a:rPr lang="en-US" sz="3200" b="1" dirty="0">
                <a:solidFill>
                  <a:srgbClr val="0A4B75"/>
                </a:solidFill>
                <a:latin typeface="Calibri" pitchFamily="34" charset="0"/>
                <a:ea typeface="Calibri" pitchFamily="34" charset="-122"/>
                <a:cs typeface="Calibri" pitchFamily="34" charset="-120"/>
              </a:rPr>
              <a:t>Your data, your machine</a:t>
            </a:r>
            <a:endParaRPr lang="en-US" sz="3200" dirty="0"/>
          </a:p>
        </p:txBody>
      </p:sp>
      <p:pic>
        <p:nvPicPr>
          <p:cNvPr id="4" name="Image 0" descr="../deck/mark-light.png">    </p:cNvPr>
          <p:cNvPicPr>
            <a:picLocks noChangeAspect="1"/>
          </p:cNvPicPr>
          <p:nvPr/>
        </p:nvPicPr>
        <p:blipFill>
          <a:blip r:embed="rId1"/>
          <a:stretch>
            <a:fillRect/>
          </a:stretch>
        </p:blipFill>
        <p:spPr>
          <a:xfrm>
            <a:off x="11192256" y="402336"/>
            <a:ext cx="402336" cy="402336"/>
          </a:xfrm>
          <a:prstGeom prst="rect">
            <a:avLst/>
          </a:prstGeom>
        </p:spPr>
      </p:pic>
      <p:sp>
        <p:nvSpPr>
          <p:cNvPr id="5" name="Shape 2"/>
          <p:cNvSpPr/>
          <p:nvPr/>
        </p:nvSpPr>
        <p:spPr>
          <a:xfrm>
            <a:off x="475488" y="1426464"/>
            <a:ext cx="6858000" cy="4251960"/>
          </a:xfrm>
          <a:prstGeom prst="roundRect">
            <a:avLst>
              <a:gd name="adj" fmla="val 1290"/>
            </a:avLst>
          </a:prstGeom>
          <a:solidFill>
            <a:srgbClr val="F2F6F9"/>
          </a:solidFill>
          <a:ln w="12700">
            <a:solidFill>
              <a:srgbClr val="D9E4EC"/>
            </a:solidFill>
            <a:prstDash val="solid"/>
          </a:ln>
          <a:effectLst>
            <a:outerShdw sx="100000" sy="100000" kx="0" ky="0" algn="bl" rotWithShape="0" blurRad="177800" dist="38100" dir="5400000">
              <a:srgbClr val="0A2740">
                <a:alpha val="22000"/>
              </a:srgbClr>
            </a:outerShdw>
          </a:effectLst>
        </p:spPr>
      </p:sp>
      <p:pic>
        <p:nvPicPr>
          <p:cNvPr id="6" name="Image 1" descr="../deck/data-crop.png">    </p:cNvPr>
          <p:cNvPicPr>
            <a:picLocks noChangeAspect="1"/>
          </p:cNvPicPr>
          <p:nvPr/>
        </p:nvPicPr>
        <p:blipFill>
          <a:blip r:embed="rId2"/>
          <a:srcRect l="0" r="0" t="0" b="0"/>
          <a:stretch/>
        </p:blipFill>
        <p:spPr>
          <a:xfrm>
            <a:off x="566928" y="1517904"/>
            <a:ext cx="6675120" cy="4069080"/>
          </a:xfrm>
          <a:prstGeom prst="rect">
            <a:avLst/>
          </a:prstGeom>
        </p:spPr>
      </p:pic>
      <p:sp>
        <p:nvSpPr>
          <p:cNvPr id="7" name="Shape 3"/>
          <p:cNvSpPr/>
          <p:nvPr/>
        </p:nvSpPr>
        <p:spPr>
          <a:xfrm>
            <a:off x="7589520" y="1645920"/>
            <a:ext cx="384048" cy="384048"/>
          </a:xfrm>
          <a:prstGeom prst="ellipse">
            <a:avLst/>
          </a:prstGeom>
          <a:solidFill>
            <a:srgbClr val="12AEBE"/>
          </a:solidFill>
          <a:ln/>
        </p:spPr>
      </p:sp>
      <p:sp>
        <p:nvSpPr>
          <p:cNvPr id="8" name="Text 4"/>
          <p:cNvSpPr/>
          <p:nvPr/>
        </p:nvSpPr>
        <p:spPr>
          <a:xfrm>
            <a:off x="7589520" y="16459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9" name="Text 5"/>
          <p:cNvSpPr/>
          <p:nvPr/>
        </p:nvSpPr>
        <p:spPr>
          <a:xfrm>
            <a:off x="8174736" y="1609344"/>
            <a:ext cx="3419856" cy="310896"/>
          </a:xfrm>
          <a:prstGeom prst="rect">
            <a:avLst/>
          </a:prstGeom>
          <a:noFill/>
          <a:ln/>
        </p:spPr>
        <p:txBody>
          <a:bodyPr wrap="square" lIns="0" tIns="0" rIns="0" bIns="0" rtlCol="0" anchor="ctr"/>
          <a:lstStyle/>
          <a:p>
            <a:pPr indent="0" marL="0">
              <a:buNone/>
            </a:pPr>
            <a:r>
              <a:rPr lang="en-US" sz="1600" b="1" dirty="0">
                <a:solidFill>
                  <a:srgbClr val="0A4B75"/>
                </a:solidFill>
                <a:latin typeface="Calibri" pitchFamily="34" charset="0"/>
                <a:ea typeface="Calibri" pitchFamily="34" charset="-122"/>
                <a:cs typeface="Calibri" pitchFamily="34" charset="-120"/>
              </a:rPr>
              <a:t>Nothing leaves the browser</a:t>
            </a:r>
            <a:endParaRPr lang="en-US" sz="1600" dirty="0"/>
          </a:p>
        </p:txBody>
      </p:sp>
      <p:sp>
        <p:nvSpPr>
          <p:cNvPr id="10" name="Text 6"/>
          <p:cNvSpPr/>
          <p:nvPr/>
        </p:nvSpPr>
        <p:spPr>
          <a:xfrm>
            <a:off x="8174736" y="1920240"/>
            <a:ext cx="3419856" cy="713232"/>
          </a:xfrm>
          <a:prstGeom prst="rect">
            <a:avLst/>
          </a:prstGeom>
          <a:noFill/>
          <a:ln/>
        </p:spPr>
        <p:txBody>
          <a:bodyPr wrap="square" lIns="0" tIns="0" rIns="0" bIns="0" rtlCol="0" anchor="ctr"/>
          <a:lstStyle/>
          <a:p>
            <a:pPr indent="0" marL="0">
              <a:lnSpc>
                <a:spcPts val="1800"/>
              </a:lnSpc>
              <a:buNone/>
            </a:pPr>
            <a:r>
              <a:rPr lang="en-US" sz="1350" dirty="0">
                <a:solidFill>
                  <a:srgbClr val="53606A"/>
                </a:solidFill>
                <a:latin typeface="Calibri" pitchFamily="34" charset="0"/>
                <a:ea typeface="Calibri" pitchFamily="34" charset="-122"/>
                <a:cs typeface="Calibri" pitchFamily="34" charset="-120"/>
              </a:rPr>
              <a:t>No server, no account, no data sitting anywhere you did not put it.</a:t>
            </a:r>
            <a:endParaRPr lang="en-US" sz="1350" dirty="0"/>
          </a:p>
        </p:txBody>
      </p:sp>
      <p:sp>
        <p:nvSpPr>
          <p:cNvPr id="11" name="Shape 7"/>
          <p:cNvSpPr/>
          <p:nvPr/>
        </p:nvSpPr>
        <p:spPr>
          <a:xfrm>
            <a:off x="7589520" y="2706624"/>
            <a:ext cx="384048" cy="384048"/>
          </a:xfrm>
          <a:prstGeom prst="ellipse">
            <a:avLst/>
          </a:prstGeom>
          <a:solidFill>
            <a:srgbClr val="12AEBE"/>
          </a:solidFill>
          <a:ln/>
        </p:spPr>
      </p:sp>
      <p:sp>
        <p:nvSpPr>
          <p:cNvPr id="12" name="Text 8"/>
          <p:cNvSpPr/>
          <p:nvPr/>
        </p:nvSpPr>
        <p:spPr>
          <a:xfrm>
            <a:off x="7589520" y="270662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3" name="Text 9"/>
          <p:cNvSpPr/>
          <p:nvPr/>
        </p:nvSpPr>
        <p:spPr>
          <a:xfrm>
            <a:off x="8174736" y="2670048"/>
            <a:ext cx="3419856" cy="310896"/>
          </a:xfrm>
          <a:prstGeom prst="rect">
            <a:avLst/>
          </a:prstGeom>
          <a:noFill/>
          <a:ln/>
        </p:spPr>
        <p:txBody>
          <a:bodyPr wrap="square" lIns="0" tIns="0" rIns="0" bIns="0" rtlCol="0" anchor="ctr"/>
          <a:lstStyle/>
          <a:p>
            <a:pPr indent="0" marL="0">
              <a:buNone/>
            </a:pPr>
            <a:r>
              <a:rPr lang="en-US" sz="1600" b="1" dirty="0">
                <a:solidFill>
                  <a:srgbClr val="0A4B75"/>
                </a:solidFill>
                <a:latin typeface="Calibri" pitchFamily="34" charset="0"/>
                <a:ea typeface="Calibri" pitchFamily="34" charset="-122"/>
                <a:cs typeface="Calibri" pitchFamily="34" charset="-120"/>
              </a:rPr>
              <a:t>In and out as a file</a:t>
            </a:r>
            <a:endParaRPr lang="en-US" sz="1600" dirty="0"/>
          </a:p>
        </p:txBody>
      </p:sp>
      <p:sp>
        <p:nvSpPr>
          <p:cNvPr id="14" name="Text 10"/>
          <p:cNvSpPr/>
          <p:nvPr/>
        </p:nvSpPr>
        <p:spPr>
          <a:xfrm>
            <a:off x="8174736" y="2980944"/>
            <a:ext cx="3419856" cy="713232"/>
          </a:xfrm>
          <a:prstGeom prst="rect">
            <a:avLst/>
          </a:prstGeom>
          <a:noFill/>
          <a:ln/>
        </p:spPr>
        <p:txBody>
          <a:bodyPr wrap="square" lIns="0" tIns="0" rIns="0" bIns="0" rtlCol="0" anchor="ctr"/>
          <a:lstStyle/>
          <a:p>
            <a:pPr indent="0" marL="0">
              <a:lnSpc>
                <a:spcPts val="1800"/>
              </a:lnSpc>
              <a:buNone/>
            </a:pPr>
            <a:r>
              <a:rPr lang="en-US" sz="1350" dirty="0">
                <a:solidFill>
                  <a:srgbClr val="53606A"/>
                </a:solidFill>
                <a:latin typeface="Calibri" pitchFamily="34" charset="0"/>
                <a:ea typeface="Calibri" pitchFamily="34" charset="-122"/>
                <a:cs typeface="Calibri" pitchFamily="34" charset="-120"/>
              </a:rPr>
              <a:t>Whole portfolio as JSON for a backup; CSV per sheet for everyone else.</a:t>
            </a:r>
            <a:endParaRPr lang="en-US" sz="1350" dirty="0"/>
          </a:p>
        </p:txBody>
      </p:sp>
      <p:sp>
        <p:nvSpPr>
          <p:cNvPr id="15" name="Shape 11"/>
          <p:cNvSpPr/>
          <p:nvPr/>
        </p:nvSpPr>
        <p:spPr>
          <a:xfrm>
            <a:off x="7589520" y="3767328"/>
            <a:ext cx="384048" cy="384048"/>
          </a:xfrm>
          <a:prstGeom prst="ellipse">
            <a:avLst/>
          </a:prstGeom>
          <a:solidFill>
            <a:srgbClr val="12AEBE"/>
          </a:solidFill>
          <a:ln/>
        </p:spPr>
      </p:sp>
      <p:sp>
        <p:nvSpPr>
          <p:cNvPr id="16" name="Text 12"/>
          <p:cNvSpPr/>
          <p:nvPr/>
        </p:nvSpPr>
        <p:spPr>
          <a:xfrm>
            <a:off x="7589520" y="37673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3"/>
          <p:cNvSpPr/>
          <p:nvPr/>
        </p:nvSpPr>
        <p:spPr>
          <a:xfrm>
            <a:off x="8174736" y="3730752"/>
            <a:ext cx="3419856" cy="310896"/>
          </a:xfrm>
          <a:prstGeom prst="rect">
            <a:avLst/>
          </a:prstGeom>
          <a:noFill/>
          <a:ln/>
        </p:spPr>
        <p:txBody>
          <a:bodyPr wrap="square" lIns="0" tIns="0" rIns="0" bIns="0" rtlCol="0" anchor="ctr"/>
          <a:lstStyle/>
          <a:p>
            <a:pPr indent="0" marL="0">
              <a:buNone/>
            </a:pPr>
            <a:r>
              <a:rPr lang="en-US" sz="1600" b="1" dirty="0">
                <a:solidFill>
                  <a:srgbClr val="0A4B75"/>
                </a:solidFill>
                <a:latin typeface="Calibri" pitchFamily="34" charset="0"/>
                <a:ea typeface="Calibri" pitchFamily="34" charset="-122"/>
                <a:cs typeface="Calibri" pitchFamily="34" charset="-120"/>
              </a:rPr>
              <a:t>Light and dark</a:t>
            </a:r>
            <a:endParaRPr lang="en-US" sz="1600" dirty="0"/>
          </a:p>
        </p:txBody>
      </p:sp>
      <p:sp>
        <p:nvSpPr>
          <p:cNvPr id="18" name="Text 14"/>
          <p:cNvSpPr/>
          <p:nvPr/>
        </p:nvSpPr>
        <p:spPr>
          <a:xfrm>
            <a:off x="8174736" y="4041648"/>
            <a:ext cx="3419856" cy="713232"/>
          </a:xfrm>
          <a:prstGeom prst="rect">
            <a:avLst/>
          </a:prstGeom>
          <a:noFill/>
          <a:ln/>
        </p:spPr>
        <p:txBody>
          <a:bodyPr wrap="square" lIns="0" tIns="0" rIns="0" bIns="0" rtlCol="0" anchor="ctr"/>
          <a:lstStyle/>
          <a:p>
            <a:pPr indent="0" marL="0">
              <a:lnSpc>
                <a:spcPts val="1800"/>
              </a:lnSpc>
              <a:buNone/>
            </a:pPr>
            <a:r>
              <a:rPr lang="en-US" sz="1350" dirty="0">
                <a:solidFill>
                  <a:srgbClr val="53606A"/>
                </a:solidFill>
                <a:latin typeface="Calibri" pitchFamily="34" charset="0"/>
                <a:ea typeface="Calibri" pitchFamily="34" charset="-122"/>
                <a:cs typeface="Calibri" pitchFamily="34" charset="-120"/>
              </a:rPr>
              <a:t>Reads on a projector in a bright room and on a laptop at midnight.</a:t>
            </a:r>
            <a:endParaRPr lang="en-US" sz="1350" dirty="0"/>
          </a:p>
        </p:txBody>
      </p:sp>
      <p:sp>
        <p:nvSpPr>
          <p:cNvPr id="19" name="Shape 15"/>
          <p:cNvSpPr/>
          <p:nvPr/>
        </p:nvSpPr>
        <p:spPr>
          <a:xfrm>
            <a:off x="7589520" y="4828032"/>
            <a:ext cx="384048" cy="384048"/>
          </a:xfrm>
          <a:prstGeom prst="ellipse">
            <a:avLst/>
          </a:prstGeom>
          <a:solidFill>
            <a:srgbClr val="12AEBE"/>
          </a:solidFill>
          <a:ln/>
        </p:spPr>
      </p:sp>
      <p:sp>
        <p:nvSpPr>
          <p:cNvPr id="20" name="Text 16"/>
          <p:cNvSpPr/>
          <p:nvPr/>
        </p:nvSpPr>
        <p:spPr>
          <a:xfrm>
            <a:off x="7589520" y="482803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1" name="Text 17"/>
          <p:cNvSpPr/>
          <p:nvPr/>
        </p:nvSpPr>
        <p:spPr>
          <a:xfrm>
            <a:off x="8174736" y="4791456"/>
            <a:ext cx="3419856" cy="310896"/>
          </a:xfrm>
          <a:prstGeom prst="rect">
            <a:avLst/>
          </a:prstGeom>
          <a:noFill/>
          <a:ln/>
        </p:spPr>
        <p:txBody>
          <a:bodyPr wrap="square" lIns="0" tIns="0" rIns="0" bIns="0" rtlCol="0" anchor="ctr"/>
          <a:lstStyle/>
          <a:p>
            <a:pPr indent="0" marL="0">
              <a:buNone/>
            </a:pPr>
            <a:r>
              <a:rPr lang="en-US" sz="1600" b="1" dirty="0">
                <a:solidFill>
                  <a:srgbClr val="0A4B75"/>
                </a:solidFill>
                <a:latin typeface="Calibri" pitchFamily="34" charset="0"/>
                <a:ea typeface="Calibri" pitchFamily="34" charset="-122"/>
                <a:cs typeface="Calibri" pitchFamily="34" charset="-120"/>
              </a:rPr>
              <a:t>Prints properly</a:t>
            </a:r>
            <a:endParaRPr lang="en-US" sz="1600" dirty="0"/>
          </a:p>
        </p:txBody>
      </p:sp>
      <p:sp>
        <p:nvSpPr>
          <p:cNvPr id="22" name="Text 18"/>
          <p:cNvSpPr/>
          <p:nvPr/>
        </p:nvSpPr>
        <p:spPr>
          <a:xfrm>
            <a:off x="8174736" y="5102352"/>
            <a:ext cx="3419856" cy="713232"/>
          </a:xfrm>
          <a:prstGeom prst="rect">
            <a:avLst/>
          </a:prstGeom>
          <a:noFill/>
          <a:ln/>
        </p:spPr>
        <p:txBody>
          <a:bodyPr wrap="square" lIns="0" tIns="0" rIns="0" bIns="0" rtlCol="0" anchor="ctr"/>
          <a:lstStyle/>
          <a:p>
            <a:pPr indent="0" marL="0">
              <a:lnSpc>
                <a:spcPts val="1800"/>
              </a:lnSpc>
              <a:buNone/>
            </a:pPr>
            <a:r>
              <a:rPr lang="en-US" sz="1350" dirty="0">
                <a:solidFill>
                  <a:srgbClr val="53606A"/>
                </a:solidFill>
                <a:latin typeface="Calibri" pitchFamily="34" charset="0"/>
                <a:ea typeface="Calibri" pitchFamily="34" charset="-122"/>
                <a:cs typeface="Calibri" pitchFamily="34" charset="-120"/>
              </a:rPr>
              <a:t>PDF export is laid out for paper, and always in the light theme.</a:t>
            </a:r>
            <a:endParaRPr lang="en-US" sz="13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63049"/>
        </a:solidFill>
      </p:bgPr>
    </p:bg>
    <p:spTree>
      <p:nvGrpSpPr>
        <p:cNvPr id="1" name=""/>
        <p:cNvGrpSpPr/>
        <p:nvPr/>
      </p:nvGrpSpPr>
      <p:grpSpPr>
        <a:xfrm>
          <a:off x="0" y="0"/>
          <a:ext cx="0" cy="0"/>
          <a:chOff x="0" y="0"/>
          <a:chExt cx="0" cy="0"/>
        </a:xfrm>
      </p:grpSpPr>
      <p:pic>
        <p:nvPicPr>
          <p:cNvPr id="2" name="Image 0" descr="../deck/mark-dark.png">    </p:cNvPr>
          <p:cNvPicPr>
            <a:picLocks noChangeAspect="1"/>
          </p:cNvPicPr>
          <p:nvPr/>
        </p:nvPicPr>
        <p:blipFill>
          <a:blip r:embed="rId1">
            <a:alphaModFix amt="45000"/>
          </a:blip>
          <a:stretch>
            <a:fillRect/>
          </a:stretch>
        </p:blipFill>
        <p:spPr>
          <a:xfrm>
            <a:off x="8321040" y="1874520"/>
            <a:ext cx="4206240" cy="4206240"/>
          </a:xfrm>
          <a:prstGeom prst="rect">
            <a:avLst/>
          </a:prstGeom>
        </p:spPr>
      </p:pic>
      <p:sp>
        <p:nvSpPr>
          <p:cNvPr id="3" name="Text 0"/>
          <p:cNvSpPr/>
          <p:nvPr/>
        </p:nvSpPr>
        <p:spPr>
          <a:xfrm>
            <a:off x="566928" y="566928"/>
            <a:ext cx="8229600" cy="274320"/>
          </a:xfrm>
          <a:prstGeom prst="rect">
            <a:avLst/>
          </a:prstGeom>
          <a:noFill/>
          <a:ln/>
        </p:spPr>
        <p:txBody>
          <a:bodyPr wrap="square" lIns="0" tIns="0" rIns="0" bIns="0" rtlCol="0" anchor="ctr"/>
          <a:lstStyle/>
          <a:p>
            <a:pPr indent="0" marL="0">
              <a:buNone/>
            </a:pPr>
            <a:r>
              <a:rPr lang="en-US" sz="1200" b="1" spc="200" kern="0" dirty="0">
                <a:solidFill>
                  <a:srgbClr val="12AEBE"/>
                </a:solidFill>
                <a:latin typeface="Calibri" pitchFamily="34" charset="0"/>
                <a:ea typeface="Calibri" pitchFamily="34" charset="-122"/>
                <a:cs typeface="Calibri" pitchFamily="34" charset="-120"/>
              </a:rPr>
              <a:t>WHAT IT CHANGES</a:t>
            </a:r>
            <a:endParaRPr lang="en-US" sz="1200" dirty="0"/>
          </a:p>
        </p:txBody>
      </p:sp>
      <p:sp>
        <p:nvSpPr>
          <p:cNvPr id="4" name="Text 1"/>
          <p:cNvSpPr/>
          <p:nvPr/>
        </p:nvSpPr>
        <p:spPr>
          <a:xfrm>
            <a:off x="566928" y="877824"/>
            <a:ext cx="10424160" cy="73152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Three conversations it changes</a:t>
            </a:r>
            <a:endParaRPr lang="en-US" sz="3400" dirty="0"/>
          </a:p>
        </p:txBody>
      </p:sp>
      <p:sp>
        <p:nvSpPr>
          <p:cNvPr id="5" name="Shape 2"/>
          <p:cNvSpPr/>
          <p:nvPr/>
        </p:nvSpPr>
        <p:spPr>
          <a:xfrm>
            <a:off x="566928" y="1965960"/>
            <a:ext cx="420624" cy="420624"/>
          </a:xfrm>
          <a:prstGeom prst="ellipse">
            <a:avLst/>
          </a:prstGeom>
          <a:solidFill>
            <a:srgbClr val="12AEBE"/>
          </a:solidFill>
          <a:ln/>
        </p:spPr>
      </p:sp>
      <p:sp>
        <p:nvSpPr>
          <p:cNvPr id="6" name="Text 3"/>
          <p:cNvSpPr/>
          <p:nvPr/>
        </p:nvSpPr>
        <p:spPr>
          <a:xfrm>
            <a:off x="566928" y="196596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4"/>
          <p:cNvSpPr/>
          <p:nvPr/>
        </p:nvSpPr>
        <p:spPr>
          <a:xfrm>
            <a:off x="1188720" y="1929384"/>
            <a:ext cx="6784848" cy="310896"/>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For project managers</a:t>
            </a:r>
            <a:endParaRPr lang="en-US" sz="1600" dirty="0"/>
          </a:p>
        </p:txBody>
      </p:sp>
      <p:sp>
        <p:nvSpPr>
          <p:cNvPr id="8" name="Text 5"/>
          <p:cNvSpPr/>
          <p:nvPr/>
        </p:nvSpPr>
        <p:spPr>
          <a:xfrm>
            <a:off x="1188720" y="2240280"/>
            <a:ext cx="6784848" cy="868680"/>
          </a:xfrm>
          <a:prstGeom prst="rect">
            <a:avLst/>
          </a:prstGeom>
          <a:noFill/>
          <a:ln/>
        </p:spPr>
        <p:txBody>
          <a:bodyPr wrap="square" lIns="0" tIns="0" rIns="0" bIns="0" rtlCol="0" anchor="ctr"/>
          <a:lstStyle/>
          <a:p>
            <a:pPr indent="0" marL="0">
              <a:lnSpc>
                <a:spcPts val="1800"/>
              </a:lnSpc>
              <a:buNone/>
            </a:pPr>
            <a:r>
              <a:rPr lang="en-US" sz="1350" dirty="0">
                <a:solidFill>
                  <a:srgbClr val="ACD7FA"/>
                </a:solidFill>
                <a:latin typeface="Calibri" pitchFamily="34" charset="0"/>
                <a:ea typeface="Calibri" pitchFamily="34" charset="-122"/>
                <a:cs typeface="Calibri" pitchFamily="34" charset="-120"/>
              </a:rPr>
              <a:t>Plan once. The dates, the phases and the people follow from the same plan instead of being kept in step by hand.</a:t>
            </a:r>
            <a:endParaRPr lang="en-US" sz="1350" dirty="0"/>
          </a:p>
        </p:txBody>
      </p:sp>
      <p:sp>
        <p:nvSpPr>
          <p:cNvPr id="9" name="Shape 6"/>
          <p:cNvSpPr/>
          <p:nvPr/>
        </p:nvSpPr>
        <p:spPr>
          <a:xfrm>
            <a:off x="566928" y="3209544"/>
            <a:ext cx="420624" cy="420624"/>
          </a:xfrm>
          <a:prstGeom prst="ellipse">
            <a:avLst/>
          </a:prstGeom>
          <a:solidFill>
            <a:srgbClr val="12AEBE"/>
          </a:solidFill>
          <a:ln/>
        </p:spPr>
      </p:sp>
      <p:sp>
        <p:nvSpPr>
          <p:cNvPr id="10" name="Text 7"/>
          <p:cNvSpPr/>
          <p:nvPr/>
        </p:nvSpPr>
        <p:spPr>
          <a:xfrm>
            <a:off x="566928" y="3209544"/>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1" name="Text 8"/>
          <p:cNvSpPr/>
          <p:nvPr/>
        </p:nvSpPr>
        <p:spPr>
          <a:xfrm>
            <a:off x="1188720" y="3172968"/>
            <a:ext cx="6784848" cy="310896"/>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For delivery leadership</a:t>
            </a:r>
            <a:endParaRPr lang="en-US" sz="1600" dirty="0"/>
          </a:p>
        </p:txBody>
      </p:sp>
      <p:sp>
        <p:nvSpPr>
          <p:cNvPr id="12" name="Text 9"/>
          <p:cNvSpPr/>
          <p:nvPr/>
        </p:nvSpPr>
        <p:spPr>
          <a:xfrm>
            <a:off x="1188720" y="3483864"/>
            <a:ext cx="6784848" cy="868680"/>
          </a:xfrm>
          <a:prstGeom prst="rect">
            <a:avLst/>
          </a:prstGeom>
          <a:noFill/>
          <a:ln/>
        </p:spPr>
        <p:txBody>
          <a:bodyPr wrap="square" lIns="0" tIns="0" rIns="0" bIns="0" rtlCol="0" anchor="ctr"/>
          <a:lstStyle/>
          <a:p>
            <a:pPr indent="0" marL="0">
              <a:lnSpc>
                <a:spcPts val="1800"/>
              </a:lnSpc>
              <a:buNone/>
            </a:pPr>
            <a:r>
              <a:rPr lang="en-US" sz="1350" dirty="0">
                <a:solidFill>
                  <a:srgbClr val="ACD7FA"/>
                </a:solidFill>
                <a:latin typeface="Calibri" pitchFamily="34" charset="0"/>
                <a:ea typeface="Calibri" pitchFamily="34" charset="-122"/>
                <a:cs typeface="Calibri" pitchFamily="34" charset="-120"/>
              </a:rPr>
              <a:t>See the overload before it lands, and the roles that are short for months rather than for a week.</a:t>
            </a:r>
            <a:endParaRPr lang="en-US" sz="1350" dirty="0"/>
          </a:p>
        </p:txBody>
      </p:sp>
      <p:sp>
        <p:nvSpPr>
          <p:cNvPr id="13" name="Shape 10"/>
          <p:cNvSpPr/>
          <p:nvPr/>
        </p:nvSpPr>
        <p:spPr>
          <a:xfrm>
            <a:off x="566928" y="4453128"/>
            <a:ext cx="420624" cy="420624"/>
          </a:xfrm>
          <a:prstGeom prst="ellipse">
            <a:avLst/>
          </a:prstGeom>
          <a:solidFill>
            <a:srgbClr val="12AEBE"/>
          </a:solidFill>
          <a:ln/>
        </p:spPr>
      </p:sp>
      <p:sp>
        <p:nvSpPr>
          <p:cNvPr id="14" name="Text 11"/>
          <p:cNvSpPr/>
          <p:nvPr/>
        </p:nvSpPr>
        <p:spPr>
          <a:xfrm>
            <a:off x="566928" y="445312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5" name="Text 12"/>
          <p:cNvSpPr/>
          <p:nvPr/>
        </p:nvSpPr>
        <p:spPr>
          <a:xfrm>
            <a:off x="1188720" y="4416552"/>
            <a:ext cx="6784848" cy="310896"/>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For the executive team</a:t>
            </a:r>
            <a:endParaRPr lang="en-US" sz="1600" dirty="0"/>
          </a:p>
        </p:txBody>
      </p:sp>
      <p:sp>
        <p:nvSpPr>
          <p:cNvPr id="16" name="Text 13"/>
          <p:cNvSpPr/>
          <p:nvPr/>
        </p:nvSpPr>
        <p:spPr>
          <a:xfrm>
            <a:off x="1188720" y="4727448"/>
            <a:ext cx="6784848" cy="868680"/>
          </a:xfrm>
          <a:prstGeom prst="rect">
            <a:avLst/>
          </a:prstGeom>
          <a:noFill/>
          <a:ln/>
        </p:spPr>
        <p:txBody>
          <a:bodyPr wrap="square" lIns="0" tIns="0" rIns="0" bIns="0" rtlCol="0" anchor="ctr"/>
          <a:lstStyle/>
          <a:p>
            <a:pPr indent="0" marL="0">
              <a:lnSpc>
                <a:spcPts val="1800"/>
              </a:lnSpc>
              <a:buNone/>
            </a:pPr>
            <a:r>
              <a:rPr lang="en-US" sz="1350" dirty="0">
                <a:solidFill>
                  <a:srgbClr val="ACD7FA"/>
                </a:solidFill>
                <a:latin typeface="Calibri" pitchFamily="34" charset="0"/>
                <a:ea typeface="Calibri" pitchFamily="34" charset="-122"/>
                <a:cs typeface="Calibri" pitchFamily="34" charset="-120"/>
              </a:rPr>
              <a:t>One page that says what is at risk, what it is worth, and what it would take to fix — from figures nobody retyped.</a:t>
            </a:r>
            <a:endParaRPr lang="en-US" sz="1350" dirty="0"/>
          </a:p>
        </p:txBody>
      </p:sp>
      <p:sp>
        <p:nvSpPr>
          <p:cNvPr id="17" name="Text 14"/>
          <p:cNvSpPr/>
          <p:nvPr/>
        </p:nvSpPr>
        <p:spPr>
          <a:xfrm>
            <a:off x="566928" y="5815584"/>
            <a:ext cx="9326880" cy="457200"/>
          </a:xfrm>
          <a:prstGeom prst="rect">
            <a:avLst/>
          </a:prstGeom>
          <a:noFill/>
          <a:ln/>
        </p:spPr>
        <p:txBody>
          <a:bodyPr wrap="square" lIns="0" tIns="0" rIns="0" bIns="0" rtlCol="0" anchor="ctr"/>
          <a:lstStyle/>
          <a:p>
            <a:pPr indent="0" marL="0">
              <a:buNone/>
            </a:pPr>
            <a:r>
              <a:rPr lang="en-US" sz="1300" i="1" dirty="0">
                <a:solidFill>
                  <a:srgbClr val="7FA6C2"/>
                </a:solidFill>
                <a:latin typeface="Calibri" pitchFamily="34" charset="0"/>
                <a:ea typeface="Calibri" pitchFamily="34" charset="-122"/>
                <a:cs typeface="Calibri" pitchFamily="34" charset="-120"/>
              </a:rPr>
              <a:t>Next: shared storage so the portfolio follows you between machines — specified, costed at about a day.</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Project Glass — PMO Portfolio Tracker</dc:title>
  <dc:subject>PptxGenJS Presentation</dc:subject>
  <dc:creator>Project Glass</dc:creator>
  <cp:lastModifiedBy>Project Glass</cp:lastModifiedBy>
  <cp:revision>1</cp:revision>
  <dcterms:created xsi:type="dcterms:W3CDTF">2026-08-12T08:18:12Z</dcterms:created>
  <dcterms:modified xsi:type="dcterms:W3CDTF">2026-08-12T08:18:12Z</dcterms:modified>
</cp:coreProperties>
</file>