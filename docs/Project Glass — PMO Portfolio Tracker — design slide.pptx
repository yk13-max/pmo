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is not decoration: every colour has one job, which is why the screens stay readable when twenty-eight projects are on one chart. Teal appears once per screen at most — it is the highlight, not a second brand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8229600" cy="274320"/>
          </a:xfrm>
          <a:prstGeom prst="rect">
            <a:avLst/>
          </a:prstGeom>
          <a:noFill/>
          <a:ln/>
        </p:spPr>
        <p:txBody>
          <a:bodyPr wrap="square" lIns="0" tIns="0" rIns="0" bIns="0" rtlCol="0" anchor="ctr"/>
          <a:lstStyle/>
          <a:p>
            <a:pPr indent="0" marL="0">
              <a:buNone/>
            </a:pPr>
            <a:r>
              <a:rPr lang="en-US" sz="1200" b="1" spc="200" kern="0" dirty="0">
                <a:solidFill>
                  <a:srgbClr val="12AEBE"/>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66928" y="713232"/>
            <a:ext cx="10424160" cy="603504"/>
          </a:xfrm>
          <a:prstGeom prst="rect">
            <a:avLst/>
          </a:prstGeom>
          <a:noFill/>
          <a:ln/>
        </p:spPr>
        <p:txBody>
          <a:bodyPr wrap="square" lIns="0" tIns="0" rIns="0" bIns="0" rtlCol="0" anchor="t"/>
          <a:lstStyle/>
          <a:p>
            <a:pPr indent="0" marL="0">
              <a:buNone/>
            </a:pPr>
            <a:r>
              <a:rPr lang="en-US" sz="3200" b="1" dirty="0">
                <a:solidFill>
                  <a:srgbClr val="0A4B75"/>
                </a:solidFill>
                <a:latin typeface="Calibri" pitchFamily="34" charset="0"/>
                <a:ea typeface="Calibri" pitchFamily="34" charset="-122"/>
                <a:cs typeface="Calibri" pitchFamily="34" charset="-120"/>
              </a:rPr>
              <a:t>One mark, two grounds</a:t>
            </a:r>
            <a:endParaRPr lang="en-US" sz="3200" dirty="0"/>
          </a:p>
        </p:txBody>
      </p:sp>
      <p:pic>
        <p:nvPicPr>
          <p:cNvPr id="4" name="Image 0" descr="../deck/mark-light.png">    </p:cNvPr>
          <p:cNvPicPr>
            <a:picLocks noChangeAspect="1"/>
          </p:cNvPicPr>
          <p:nvPr/>
        </p:nvPicPr>
        <p:blipFill>
          <a:blip r:embed="rId1"/>
          <a:stretch>
            <a:fillRect/>
          </a:stretch>
        </p:blipFill>
        <p:spPr>
          <a:xfrm>
            <a:off x="11192256" y="402336"/>
            <a:ext cx="402336" cy="402336"/>
          </a:xfrm>
          <a:prstGeom prst="rect">
            <a:avLst/>
          </a:prstGeom>
        </p:spPr>
      </p:pic>
      <p:sp>
        <p:nvSpPr>
          <p:cNvPr id="5" name="Text 2"/>
          <p:cNvSpPr/>
          <p:nvPr/>
        </p:nvSpPr>
        <p:spPr>
          <a:xfrm>
            <a:off x="566928" y="1444752"/>
            <a:ext cx="10515600" cy="640080"/>
          </a:xfrm>
          <a:prstGeom prst="rect">
            <a:avLst/>
          </a:prstGeom>
          <a:noFill/>
          <a:ln/>
        </p:spPr>
        <p:txBody>
          <a:bodyPr wrap="square" lIns="0" tIns="0" rIns="0" bIns="0" rtlCol="0" anchor="ctr"/>
          <a:lstStyle/>
          <a:p>
            <a:pPr indent="0" marL="0">
              <a:lnSpc>
                <a:spcPts val="2000"/>
              </a:lnSpc>
              <a:buNone/>
            </a:pPr>
            <a:r>
              <a:rPr lang="en-US" sz="1400" dirty="0">
                <a:solidFill>
                  <a:srgbClr val="53606A"/>
                </a:solidFill>
                <a:latin typeface="Calibri" pitchFamily="34" charset="0"/>
                <a:ea typeface="Calibri" pitchFamily="34" charset="-122"/>
                <a:cs typeface="Calibri" pitchFamily="34" charset="-120"/>
              </a:rPr>
              <a:t>Three translucent panes on a rising diagonal — each stays visible through the last, and where two overlap the colour deepens rather than one hiding the other. The mark is drawn light on paper and dark on navy, and the interface follows the same pair.</a:t>
            </a:r>
            <a:endParaRPr lang="en-US" sz="1400" dirty="0"/>
          </a:p>
        </p:txBody>
      </p:sp>
      <p:sp>
        <p:nvSpPr>
          <p:cNvPr id="6" name="Shape 3"/>
          <p:cNvSpPr/>
          <p:nvPr/>
        </p:nvSpPr>
        <p:spPr>
          <a:xfrm>
            <a:off x="566928" y="2231136"/>
            <a:ext cx="2606040" cy="1783080"/>
          </a:xfrm>
          <a:prstGeom prst="roundRect">
            <a:avLst>
              <a:gd name="adj" fmla="val 4103"/>
            </a:avLst>
          </a:prstGeom>
          <a:solidFill>
            <a:srgbClr val="F2F6F9"/>
          </a:solidFill>
          <a:ln w="12700">
            <a:solidFill>
              <a:srgbClr val="D9E4EC"/>
            </a:solidFill>
            <a:prstDash val="solid"/>
          </a:ln>
        </p:spPr>
      </p:sp>
      <p:pic>
        <p:nvPicPr>
          <p:cNvPr id="7" name="Image 1" descr="../deck/mark-light.png">    </p:cNvPr>
          <p:cNvPicPr>
            <a:picLocks noChangeAspect="1"/>
          </p:cNvPicPr>
          <p:nvPr/>
        </p:nvPicPr>
        <p:blipFill>
          <a:blip r:embed="rId2"/>
          <a:stretch>
            <a:fillRect/>
          </a:stretch>
        </p:blipFill>
        <p:spPr>
          <a:xfrm>
            <a:off x="1161288" y="2414016"/>
            <a:ext cx="1417320" cy="1417320"/>
          </a:xfrm>
          <a:prstGeom prst="rect">
            <a:avLst/>
          </a:prstGeom>
        </p:spPr>
      </p:pic>
      <p:sp>
        <p:nvSpPr>
          <p:cNvPr id="8" name="Text 4"/>
          <p:cNvSpPr/>
          <p:nvPr/>
        </p:nvSpPr>
        <p:spPr>
          <a:xfrm>
            <a:off x="566928"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The mark on paper</a:t>
            </a:r>
            <a:endParaRPr lang="en-US" sz="1200" dirty="0"/>
          </a:p>
        </p:txBody>
      </p:sp>
      <p:sp>
        <p:nvSpPr>
          <p:cNvPr id="9" name="Shape 5"/>
          <p:cNvSpPr/>
          <p:nvPr/>
        </p:nvSpPr>
        <p:spPr>
          <a:xfrm>
            <a:off x="3346704" y="2231136"/>
            <a:ext cx="2606040" cy="1783080"/>
          </a:xfrm>
          <a:prstGeom prst="roundRect">
            <a:avLst>
              <a:gd name="adj" fmla="val 4103"/>
            </a:avLst>
          </a:prstGeom>
          <a:solidFill>
            <a:srgbClr val="073554"/>
          </a:solidFill>
          <a:ln w="12700">
            <a:solidFill>
              <a:srgbClr val="073554"/>
            </a:solidFill>
            <a:prstDash val="solid"/>
          </a:ln>
        </p:spPr>
      </p:sp>
      <p:pic>
        <p:nvPicPr>
          <p:cNvPr id="10" name="Image 2" descr="../deck/mark-dark.png">    </p:cNvPr>
          <p:cNvPicPr>
            <a:picLocks noChangeAspect="1"/>
          </p:cNvPicPr>
          <p:nvPr/>
        </p:nvPicPr>
        <p:blipFill>
          <a:blip r:embed="rId3"/>
          <a:stretch>
            <a:fillRect/>
          </a:stretch>
        </p:blipFill>
        <p:spPr>
          <a:xfrm>
            <a:off x="3941064" y="2414016"/>
            <a:ext cx="1417320" cy="1417320"/>
          </a:xfrm>
          <a:prstGeom prst="rect">
            <a:avLst/>
          </a:prstGeom>
        </p:spPr>
      </p:pic>
      <p:sp>
        <p:nvSpPr>
          <p:cNvPr id="11" name="Text 6"/>
          <p:cNvSpPr/>
          <p:nvPr/>
        </p:nvSpPr>
        <p:spPr>
          <a:xfrm>
            <a:off x="3346704"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The mark on navy</a:t>
            </a:r>
            <a:endParaRPr lang="en-US" sz="1200" dirty="0"/>
          </a:p>
        </p:txBody>
      </p:sp>
      <p:sp>
        <p:nvSpPr>
          <p:cNvPr id="12" name="Shape 7"/>
          <p:cNvSpPr/>
          <p:nvPr/>
        </p:nvSpPr>
        <p:spPr>
          <a:xfrm>
            <a:off x="6126480" y="2231136"/>
            <a:ext cx="2606040" cy="1783080"/>
          </a:xfrm>
          <a:prstGeom prst="roundRect">
            <a:avLst>
              <a:gd name="adj" fmla="val 4103"/>
            </a:avLst>
          </a:prstGeom>
          <a:solidFill>
            <a:srgbClr val="0A4B75"/>
          </a:solidFill>
          <a:ln w="12700">
            <a:solidFill>
              <a:srgbClr val="0A4B75"/>
            </a:solidFill>
            <a:prstDash val="solid"/>
          </a:ln>
        </p:spPr>
      </p:sp>
      <p:pic>
        <p:nvPicPr>
          <p:cNvPr id="13" name="Image 3" descr="../deck/lockup.png">    </p:cNvPr>
          <p:cNvPicPr>
            <a:picLocks noChangeAspect="1"/>
          </p:cNvPicPr>
          <p:nvPr/>
        </p:nvPicPr>
        <p:blipFill>
          <a:blip r:embed="rId4"/>
          <a:stretch>
            <a:fillRect/>
          </a:stretch>
        </p:blipFill>
        <p:spPr>
          <a:xfrm>
            <a:off x="6905092" y="2414016"/>
            <a:ext cx="1048817" cy="1417320"/>
          </a:xfrm>
          <a:prstGeom prst="rect">
            <a:avLst/>
          </a:prstGeom>
        </p:spPr>
      </p:pic>
      <p:sp>
        <p:nvSpPr>
          <p:cNvPr id="14" name="Text 8"/>
          <p:cNvSpPr/>
          <p:nvPr/>
        </p:nvSpPr>
        <p:spPr>
          <a:xfrm>
            <a:off x="6126480"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Lockup, light theme</a:t>
            </a:r>
            <a:endParaRPr lang="en-US" sz="1200" dirty="0"/>
          </a:p>
        </p:txBody>
      </p:sp>
      <p:sp>
        <p:nvSpPr>
          <p:cNvPr id="15" name="Shape 9"/>
          <p:cNvSpPr/>
          <p:nvPr/>
        </p:nvSpPr>
        <p:spPr>
          <a:xfrm>
            <a:off x="8906256" y="2231136"/>
            <a:ext cx="2606040" cy="1783080"/>
          </a:xfrm>
          <a:prstGeom prst="roundRect">
            <a:avLst>
              <a:gd name="adj" fmla="val 4103"/>
            </a:avLst>
          </a:prstGeom>
          <a:solidFill>
            <a:srgbClr val="0A1117"/>
          </a:solidFill>
          <a:ln w="12700">
            <a:solidFill>
              <a:srgbClr val="0A1117"/>
            </a:solidFill>
            <a:prstDash val="solid"/>
          </a:ln>
        </p:spPr>
      </p:sp>
      <p:pic>
        <p:nvPicPr>
          <p:cNvPr id="16" name="Image 4" descr="../deck/lockup-dk.png">    </p:cNvPr>
          <p:cNvPicPr>
            <a:picLocks noChangeAspect="1"/>
          </p:cNvPicPr>
          <p:nvPr/>
        </p:nvPicPr>
        <p:blipFill>
          <a:blip r:embed="rId5"/>
          <a:stretch>
            <a:fillRect/>
          </a:stretch>
        </p:blipFill>
        <p:spPr>
          <a:xfrm>
            <a:off x="9684868" y="2414016"/>
            <a:ext cx="1048817" cy="1417320"/>
          </a:xfrm>
          <a:prstGeom prst="rect">
            <a:avLst/>
          </a:prstGeom>
        </p:spPr>
      </p:pic>
      <p:sp>
        <p:nvSpPr>
          <p:cNvPr id="17" name="Text 10"/>
          <p:cNvSpPr/>
          <p:nvPr/>
        </p:nvSpPr>
        <p:spPr>
          <a:xfrm>
            <a:off x="8906256" y="4096512"/>
            <a:ext cx="2606040" cy="274320"/>
          </a:xfrm>
          <a:prstGeom prst="rect">
            <a:avLst/>
          </a:prstGeom>
          <a:noFill/>
          <a:ln/>
        </p:spPr>
        <p:txBody>
          <a:bodyPr wrap="square" lIns="0" tIns="0" rIns="0" bIns="0" rtlCol="0" anchor="ctr"/>
          <a:lstStyle/>
          <a:p>
            <a:pPr algn="ctr" indent="0" marL="0">
              <a:buNone/>
            </a:pPr>
            <a:r>
              <a:rPr lang="en-US" sz="1200" dirty="0">
                <a:solidFill>
                  <a:srgbClr val="53606A"/>
                </a:solidFill>
                <a:latin typeface="Calibri" pitchFamily="34" charset="0"/>
                <a:ea typeface="Calibri" pitchFamily="34" charset="-122"/>
                <a:cs typeface="Calibri" pitchFamily="34" charset="-120"/>
              </a:rPr>
              <a:t>Lockup, dark theme</a:t>
            </a:r>
            <a:endParaRPr lang="en-US" sz="1200" dirty="0"/>
          </a:p>
        </p:txBody>
      </p:sp>
      <p:sp>
        <p:nvSpPr>
          <p:cNvPr id="18" name="Text 11"/>
          <p:cNvSpPr/>
          <p:nvPr/>
        </p:nvSpPr>
        <p:spPr>
          <a:xfrm>
            <a:off x="566928" y="4590288"/>
            <a:ext cx="3657600" cy="256032"/>
          </a:xfrm>
          <a:prstGeom prst="rect">
            <a:avLst/>
          </a:prstGeom>
          <a:noFill/>
          <a:ln/>
        </p:spPr>
        <p:txBody>
          <a:bodyPr wrap="square" lIns="0" tIns="0" rIns="0" bIns="0" rtlCol="0" anchor="ctr"/>
          <a:lstStyle/>
          <a:p>
            <a:pPr indent="0" marL="0">
              <a:buNone/>
            </a:pPr>
            <a:r>
              <a:rPr lang="en-US" sz="1100" b="1" spc="140" kern="0" dirty="0">
                <a:solidFill>
                  <a:srgbClr val="12AEBE"/>
                </a:solidFill>
                <a:latin typeface="Calibri" pitchFamily="34" charset="0"/>
                <a:ea typeface="Calibri" pitchFamily="34" charset="-122"/>
                <a:cs typeface="Calibri" pitchFamily="34" charset="-120"/>
              </a:rPr>
              <a:t>THE PALETTE</a:t>
            </a:r>
            <a:endParaRPr lang="en-US" sz="1100" dirty="0"/>
          </a:p>
        </p:txBody>
      </p:sp>
      <p:sp>
        <p:nvSpPr>
          <p:cNvPr id="19" name="Shape 12"/>
          <p:cNvSpPr/>
          <p:nvPr/>
        </p:nvSpPr>
        <p:spPr>
          <a:xfrm>
            <a:off x="566928" y="4956048"/>
            <a:ext cx="2011680" cy="457200"/>
          </a:xfrm>
          <a:prstGeom prst="roundRect">
            <a:avLst>
              <a:gd name="adj" fmla="val 10000"/>
            </a:avLst>
          </a:prstGeom>
          <a:solidFill>
            <a:srgbClr val="0A4B75"/>
          </a:solidFill>
          <a:ln w="12700">
            <a:solidFill>
              <a:srgbClr val="0A4B75"/>
            </a:solidFill>
            <a:prstDash val="solid"/>
          </a:ln>
        </p:spPr>
      </p:sp>
      <p:sp>
        <p:nvSpPr>
          <p:cNvPr id="20" name="Text 13"/>
          <p:cNvSpPr/>
          <p:nvPr/>
        </p:nvSpPr>
        <p:spPr>
          <a:xfrm>
            <a:off x="566928"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Navy  ·  #0A4B75</a:t>
            </a:r>
            <a:endParaRPr lang="en-US" sz="1150" dirty="0"/>
          </a:p>
        </p:txBody>
      </p:sp>
      <p:sp>
        <p:nvSpPr>
          <p:cNvPr id="21" name="Text 14"/>
          <p:cNvSpPr/>
          <p:nvPr/>
        </p:nvSpPr>
        <p:spPr>
          <a:xfrm>
            <a:off x="566928"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Chrome, links, controls</a:t>
            </a:r>
            <a:endParaRPr lang="en-US" sz="1100" dirty="0"/>
          </a:p>
        </p:txBody>
      </p:sp>
      <p:sp>
        <p:nvSpPr>
          <p:cNvPr id="22" name="Shape 15"/>
          <p:cNvSpPr/>
          <p:nvPr/>
        </p:nvSpPr>
        <p:spPr>
          <a:xfrm>
            <a:off x="2779776" y="4956048"/>
            <a:ext cx="2011680" cy="457200"/>
          </a:xfrm>
          <a:prstGeom prst="roundRect">
            <a:avLst>
              <a:gd name="adj" fmla="val 10000"/>
            </a:avLst>
          </a:prstGeom>
          <a:solidFill>
            <a:srgbClr val="073554"/>
          </a:solidFill>
          <a:ln w="12700">
            <a:solidFill>
              <a:srgbClr val="073554"/>
            </a:solidFill>
            <a:prstDash val="solid"/>
          </a:ln>
        </p:spPr>
      </p:sp>
      <p:sp>
        <p:nvSpPr>
          <p:cNvPr id="23" name="Text 16"/>
          <p:cNvSpPr/>
          <p:nvPr/>
        </p:nvSpPr>
        <p:spPr>
          <a:xfrm>
            <a:off x="2779776"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Ink  ·  #073554</a:t>
            </a:r>
            <a:endParaRPr lang="en-US" sz="1150" dirty="0"/>
          </a:p>
        </p:txBody>
      </p:sp>
      <p:sp>
        <p:nvSpPr>
          <p:cNvPr id="24" name="Text 17"/>
          <p:cNvSpPr/>
          <p:nvPr/>
        </p:nvSpPr>
        <p:spPr>
          <a:xfrm>
            <a:off x="2779776"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The dark ground</a:t>
            </a:r>
            <a:endParaRPr lang="en-US" sz="1100" dirty="0"/>
          </a:p>
        </p:txBody>
      </p:sp>
      <p:sp>
        <p:nvSpPr>
          <p:cNvPr id="25" name="Shape 18"/>
          <p:cNvSpPr/>
          <p:nvPr/>
        </p:nvSpPr>
        <p:spPr>
          <a:xfrm>
            <a:off x="4992624" y="4956048"/>
            <a:ext cx="2011680" cy="457200"/>
          </a:xfrm>
          <a:prstGeom prst="roundRect">
            <a:avLst>
              <a:gd name="adj" fmla="val 10000"/>
            </a:avLst>
          </a:prstGeom>
          <a:solidFill>
            <a:srgbClr val="12AEBE"/>
          </a:solidFill>
          <a:ln w="12700">
            <a:solidFill>
              <a:srgbClr val="12AEBE"/>
            </a:solidFill>
            <a:prstDash val="solid"/>
          </a:ln>
        </p:spPr>
      </p:sp>
      <p:sp>
        <p:nvSpPr>
          <p:cNvPr id="26" name="Text 19"/>
          <p:cNvSpPr/>
          <p:nvPr/>
        </p:nvSpPr>
        <p:spPr>
          <a:xfrm>
            <a:off x="4992624"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Teal  ·  #12AEBE</a:t>
            </a:r>
            <a:endParaRPr lang="en-US" sz="1150" dirty="0"/>
          </a:p>
        </p:txBody>
      </p:sp>
      <p:sp>
        <p:nvSpPr>
          <p:cNvPr id="27" name="Text 20"/>
          <p:cNvSpPr/>
          <p:nvPr/>
        </p:nvSpPr>
        <p:spPr>
          <a:xfrm>
            <a:off x="4992624"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One highlight only</a:t>
            </a:r>
            <a:endParaRPr lang="en-US" sz="1100" dirty="0"/>
          </a:p>
        </p:txBody>
      </p:sp>
      <p:sp>
        <p:nvSpPr>
          <p:cNvPr id="28" name="Shape 21"/>
          <p:cNvSpPr/>
          <p:nvPr/>
        </p:nvSpPr>
        <p:spPr>
          <a:xfrm>
            <a:off x="7205472" y="4956048"/>
            <a:ext cx="2011680" cy="457200"/>
          </a:xfrm>
          <a:prstGeom prst="roundRect">
            <a:avLst>
              <a:gd name="adj" fmla="val 10000"/>
            </a:avLst>
          </a:prstGeom>
          <a:solidFill>
            <a:srgbClr val="F2F6F9"/>
          </a:solidFill>
          <a:ln w="12700">
            <a:solidFill>
              <a:srgbClr val="D9E4EC"/>
            </a:solidFill>
            <a:prstDash val="solid"/>
          </a:ln>
        </p:spPr>
      </p:sp>
      <p:sp>
        <p:nvSpPr>
          <p:cNvPr id="29" name="Text 22"/>
          <p:cNvSpPr/>
          <p:nvPr/>
        </p:nvSpPr>
        <p:spPr>
          <a:xfrm>
            <a:off x="7205472"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Paper  ·  #F2F6F9</a:t>
            </a:r>
            <a:endParaRPr lang="en-US" sz="1150" dirty="0"/>
          </a:p>
        </p:txBody>
      </p:sp>
      <p:sp>
        <p:nvSpPr>
          <p:cNvPr id="30" name="Text 23"/>
          <p:cNvSpPr/>
          <p:nvPr/>
        </p:nvSpPr>
        <p:spPr>
          <a:xfrm>
            <a:off x="7205472"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Cards and raised surfaces</a:t>
            </a:r>
            <a:endParaRPr lang="en-US" sz="1100" dirty="0"/>
          </a:p>
        </p:txBody>
      </p:sp>
      <p:sp>
        <p:nvSpPr>
          <p:cNvPr id="31" name="Shape 24"/>
          <p:cNvSpPr/>
          <p:nvPr/>
        </p:nvSpPr>
        <p:spPr>
          <a:xfrm>
            <a:off x="9418320" y="4956048"/>
            <a:ext cx="2011680" cy="457200"/>
          </a:xfrm>
          <a:prstGeom prst="roundRect">
            <a:avLst>
              <a:gd name="adj" fmla="val 10000"/>
            </a:avLst>
          </a:prstGeom>
          <a:solidFill>
            <a:srgbClr val="BB3D48"/>
          </a:solidFill>
          <a:ln w="12700">
            <a:solidFill>
              <a:srgbClr val="BB3D48"/>
            </a:solidFill>
            <a:prstDash val="solid"/>
          </a:ln>
        </p:spPr>
      </p:sp>
      <p:sp>
        <p:nvSpPr>
          <p:cNvPr id="32" name="Text 25"/>
          <p:cNvSpPr/>
          <p:nvPr/>
        </p:nvSpPr>
        <p:spPr>
          <a:xfrm>
            <a:off x="9418320" y="5504688"/>
            <a:ext cx="2011680" cy="237744"/>
          </a:xfrm>
          <a:prstGeom prst="rect">
            <a:avLst/>
          </a:prstGeom>
          <a:noFill/>
          <a:ln/>
        </p:spPr>
        <p:txBody>
          <a:bodyPr wrap="square" lIns="0" tIns="0" rIns="0" bIns="0" rtlCol="0" anchor="ctr"/>
          <a:lstStyle/>
          <a:p>
            <a:pPr indent="0" marL="0">
              <a:buNone/>
            </a:pPr>
            <a:r>
              <a:rPr lang="en-US" sz="1150" b="1" dirty="0">
                <a:solidFill>
                  <a:srgbClr val="0A4B75"/>
                </a:solidFill>
                <a:latin typeface="Calibri" pitchFamily="34" charset="0"/>
                <a:ea typeface="Calibri" pitchFamily="34" charset="-122"/>
                <a:cs typeface="Calibri" pitchFamily="34" charset="-120"/>
              </a:rPr>
              <a:t>Alert  ·  #BB3D48</a:t>
            </a:r>
            <a:endParaRPr lang="en-US" sz="1150" dirty="0"/>
          </a:p>
        </p:txBody>
      </p:sp>
      <p:sp>
        <p:nvSpPr>
          <p:cNvPr id="33" name="Text 26"/>
          <p:cNvSpPr/>
          <p:nvPr/>
        </p:nvSpPr>
        <p:spPr>
          <a:xfrm>
            <a:off x="9418320" y="5724144"/>
            <a:ext cx="2011680" cy="457200"/>
          </a:xfrm>
          <a:prstGeom prst="rect">
            <a:avLst/>
          </a:prstGeom>
          <a:noFill/>
          <a:ln/>
        </p:spPr>
        <p:txBody>
          <a:bodyPr wrap="square" lIns="0" tIns="0" rIns="0" bIns="0" rtlCol="0" anchor="ctr"/>
          <a:lstStyle/>
          <a:p>
            <a:pPr indent="0" marL="0">
              <a:lnSpc>
                <a:spcPts val="1400"/>
              </a:lnSpc>
              <a:buNone/>
            </a:pPr>
            <a:r>
              <a:rPr lang="en-US" sz="1100" dirty="0">
                <a:solidFill>
                  <a:srgbClr val="53606A"/>
                </a:solidFill>
                <a:latin typeface="Calibri" pitchFamily="34" charset="0"/>
                <a:ea typeface="Calibri" pitchFamily="34" charset="-122"/>
                <a:cs typeface="Calibri" pitchFamily="34" charset="-120"/>
              </a:rPr>
              <a:t>At risk, and nothing else</a:t>
            </a:r>
            <a:endParaRPr lang="en-US" sz="1100" dirty="0"/>
          </a:p>
        </p:txBody>
      </p:sp>
      <p:sp>
        <p:nvSpPr>
          <p:cNvPr id="34" name="Text 27"/>
          <p:cNvSpPr/>
          <p:nvPr/>
        </p:nvSpPr>
        <p:spPr>
          <a:xfrm>
            <a:off x="566928" y="6327648"/>
            <a:ext cx="10515600" cy="274320"/>
          </a:xfrm>
          <a:prstGeom prst="rect">
            <a:avLst/>
          </a:prstGeom>
          <a:noFill/>
          <a:ln/>
        </p:spPr>
        <p:txBody>
          <a:bodyPr wrap="square" lIns="0" tIns="0" rIns="0" bIns="0" rtlCol="0" anchor="ctr"/>
          <a:lstStyle/>
          <a:p>
            <a:pPr indent="0" marL="0">
              <a:buNone/>
            </a:pPr>
            <a:r>
              <a:rPr lang="en-US" sz="1250" i="1" dirty="0">
                <a:solidFill>
                  <a:srgbClr val="0A4B75"/>
                </a:solidFill>
                <a:latin typeface="Calibri" pitchFamily="34" charset="0"/>
                <a:ea typeface="Calibri" pitchFamily="34" charset="-122"/>
                <a:cs typeface="Calibri" pitchFamily="34" charset="-120"/>
              </a:rPr>
              <a:t>Set throughout in Poppins — geometric, wide, and legible down to the smallest label on a chart.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Glass — PMO Portfolio Tracker</dc:title>
  <dc:subject>PptxGenJS Presentation</dc:subject>
  <dc:creator>Project Glass</dc:creator>
  <cp:lastModifiedBy>Project Glass</cp:lastModifiedBy>
  <cp:revision>1</cp:revision>
  <dcterms:created xsi:type="dcterms:W3CDTF">2026-08-12T09:06:51Z</dcterms:created>
  <dcterms:modified xsi:type="dcterms:W3CDTF">2026-08-12T09:06:51Z</dcterms:modified>
</cp:coreProperties>
</file>